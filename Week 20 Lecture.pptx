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256" r:id="rId2"/>
    <p:sldId id="279" r:id="rId3"/>
    <p:sldId id="282" r:id="rId4"/>
    <p:sldId id="283" r:id="rId5"/>
    <p:sldId id="280" r:id="rId6"/>
    <p:sldId id="257" r:id="rId7"/>
    <p:sldId id="293" r:id="rId8"/>
    <p:sldId id="294" r:id="rId9"/>
    <p:sldId id="281" r:id="rId10"/>
    <p:sldId id="295" r:id="rId11"/>
    <p:sldId id="296" r:id="rId12"/>
    <p:sldId id="284" r:id="rId13"/>
    <p:sldId id="285" r:id="rId14"/>
    <p:sldId id="286" r:id="rId15"/>
    <p:sldId id="287" r:id="rId16"/>
    <p:sldId id="288" r:id="rId17"/>
    <p:sldId id="289" r:id="rId18"/>
    <p:sldId id="290" r:id="rId19"/>
    <p:sldId id="291" r:id="rId20"/>
    <p:sldId id="292" r:id="rId2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17"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17"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17"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17"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17" charset="-128"/>
        <a:cs typeface="+mn-cs"/>
      </a:defRPr>
    </a:lvl5pPr>
    <a:lvl6pPr marL="2286000" algn="l" defTabSz="914400" rtl="0" eaLnBrk="1" latinLnBrk="0" hangingPunct="1">
      <a:defRPr kern="1200">
        <a:solidFill>
          <a:schemeClr val="tx1"/>
        </a:solidFill>
        <a:latin typeface="Arial" charset="0"/>
        <a:ea typeface="ＭＳ Ｐゴシック" pitchFamily="17" charset="-128"/>
        <a:cs typeface="+mn-cs"/>
      </a:defRPr>
    </a:lvl6pPr>
    <a:lvl7pPr marL="2743200" algn="l" defTabSz="914400" rtl="0" eaLnBrk="1" latinLnBrk="0" hangingPunct="1">
      <a:defRPr kern="1200">
        <a:solidFill>
          <a:schemeClr val="tx1"/>
        </a:solidFill>
        <a:latin typeface="Arial" charset="0"/>
        <a:ea typeface="ＭＳ Ｐゴシック" pitchFamily="17" charset="-128"/>
        <a:cs typeface="+mn-cs"/>
      </a:defRPr>
    </a:lvl7pPr>
    <a:lvl8pPr marL="3200400" algn="l" defTabSz="914400" rtl="0" eaLnBrk="1" latinLnBrk="0" hangingPunct="1">
      <a:defRPr kern="1200">
        <a:solidFill>
          <a:schemeClr val="tx1"/>
        </a:solidFill>
        <a:latin typeface="Arial" charset="0"/>
        <a:ea typeface="ＭＳ Ｐゴシック" pitchFamily="17" charset="-128"/>
        <a:cs typeface="+mn-cs"/>
      </a:defRPr>
    </a:lvl8pPr>
    <a:lvl9pPr marL="3657600" algn="l" defTabSz="914400" rtl="0" eaLnBrk="1" latinLnBrk="0" hangingPunct="1">
      <a:defRPr kern="1200">
        <a:solidFill>
          <a:schemeClr val="tx1"/>
        </a:solidFill>
        <a:latin typeface="Arial" charset="0"/>
        <a:ea typeface="ＭＳ Ｐゴシック" pitchFamily="17"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0"/>
    <p:restoredTop sz="94675"/>
  </p:normalViewPr>
  <p:slideViewPr>
    <p:cSldViewPr snapToObjects="1">
      <p:cViewPr varScale="1">
        <p:scale>
          <a:sx n="81" d="100"/>
          <a:sy n="81" d="100"/>
        </p:scale>
        <p:origin x="1472" y="184"/>
      </p:cViewPr>
      <p:guideLst>
        <p:guide orient="horz" pos="2160"/>
        <p:guide pos="2880"/>
      </p:guideLst>
    </p:cSldViewPr>
  </p:slid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Book1" TargetMode="External"/><Relationship Id="rId3"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Normal Probability Plot</a:t>
            </a:r>
          </a:p>
        </c:rich>
      </c:tx>
      <c:layout/>
      <c:overlay val="0"/>
    </c:title>
    <c:autoTitleDeleted val="0"/>
    <c:plotArea>
      <c:layout/>
      <c:scatterChart>
        <c:scatterStyle val="lineMarker"/>
        <c:varyColors val="0"/>
        <c:ser>
          <c:idx val="0"/>
          <c:order val="0"/>
          <c:spPr>
            <a:ln w="28575">
              <a:noFill/>
            </a:ln>
          </c:spPr>
          <c:xVal>
            <c:numRef>
              <c:f>Sheet5!$E$26:$E$40</c:f>
              <c:numCache>
                <c:formatCode>General</c:formatCode>
                <c:ptCount val="15"/>
                <c:pt idx="0">
                  <c:v>3.333333333333333</c:v>
                </c:pt>
                <c:pt idx="1">
                  <c:v>10.0</c:v>
                </c:pt>
                <c:pt idx="2">
                  <c:v>16.66666666666667</c:v>
                </c:pt>
                <c:pt idx="3">
                  <c:v>23.33333333333331</c:v>
                </c:pt>
                <c:pt idx="4">
                  <c:v>30.0</c:v>
                </c:pt>
                <c:pt idx="5">
                  <c:v>36.66666666666664</c:v>
                </c:pt>
                <c:pt idx="6">
                  <c:v>43.33333333333334</c:v>
                </c:pt>
                <c:pt idx="7">
                  <c:v>50.00000000000001</c:v>
                </c:pt>
                <c:pt idx="8">
                  <c:v>56.66666666666664</c:v>
                </c:pt>
                <c:pt idx="9">
                  <c:v>63.33333333333334</c:v>
                </c:pt>
                <c:pt idx="10">
                  <c:v>70.0</c:v>
                </c:pt>
                <c:pt idx="11">
                  <c:v>76.66666666666667</c:v>
                </c:pt>
                <c:pt idx="12">
                  <c:v>83.3333333333333</c:v>
                </c:pt>
                <c:pt idx="13">
                  <c:v>90.0</c:v>
                </c:pt>
                <c:pt idx="14">
                  <c:v>96.66666666666667</c:v>
                </c:pt>
              </c:numCache>
            </c:numRef>
          </c:xVal>
          <c:yVal>
            <c:numRef>
              <c:f>Sheet5!$F$26:$F$40</c:f>
              <c:numCache>
                <c:formatCode>General</c:formatCode>
                <c:ptCount val="15"/>
                <c:pt idx="0">
                  <c:v>6.25</c:v>
                </c:pt>
                <c:pt idx="1">
                  <c:v>7.5</c:v>
                </c:pt>
                <c:pt idx="2">
                  <c:v>11.25</c:v>
                </c:pt>
                <c:pt idx="3">
                  <c:v>13.35</c:v>
                </c:pt>
                <c:pt idx="4">
                  <c:v>13.45</c:v>
                </c:pt>
                <c:pt idx="5">
                  <c:v>14.65</c:v>
                </c:pt>
                <c:pt idx="6">
                  <c:v>14.84</c:v>
                </c:pt>
                <c:pt idx="7">
                  <c:v>15.25</c:v>
                </c:pt>
                <c:pt idx="8">
                  <c:v>17.25</c:v>
                </c:pt>
                <c:pt idx="9">
                  <c:v>17.55</c:v>
                </c:pt>
                <c:pt idx="10">
                  <c:v>18.29</c:v>
                </c:pt>
                <c:pt idx="11">
                  <c:v>19.57999999999999</c:v>
                </c:pt>
                <c:pt idx="12">
                  <c:v>21.25</c:v>
                </c:pt>
                <c:pt idx="13">
                  <c:v>24.5</c:v>
                </c:pt>
                <c:pt idx="14">
                  <c:v>25.65</c:v>
                </c:pt>
              </c:numCache>
            </c:numRef>
          </c:yVal>
          <c:smooth val="0"/>
        </c:ser>
        <c:dLbls>
          <c:showLegendKey val="0"/>
          <c:showVal val="0"/>
          <c:showCatName val="0"/>
          <c:showSerName val="0"/>
          <c:showPercent val="0"/>
          <c:showBubbleSize val="0"/>
        </c:dLbls>
        <c:axId val="-355565296"/>
        <c:axId val="-229971200"/>
      </c:scatterChart>
      <c:valAx>
        <c:axId val="-355565296"/>
        <c:scaling>
          <c:orientation val="minMax"/>
        </c:scaling>
        <c:delete val="0"/>
        <c:axPos val="b"/>
        <c:title>
          <c:tx>
            <c:rich>
              <a:bodyPr/>
              <a:lstStyle/>
              <a:p>
                <a:pPr>
                  <a:defRPr/>
                </a:pPr>
                <a:r>
                  <a:rPr lang="en-US"/>
                  <a:t>Sample Percentile</a:t>
                </a:r>
              </a:p>
            </c:rich>
          </c:tx>
          <c:layout/>
          <c:overlay val="0"/>
        </c:title>
        <c:numFmt formatCode="General" sourceLinked="1"/>
        <c:majorTickMark val="out"/>
        <c:minorTickMark val="none"/>
        <c:tickLblPos val="nextTo"/>
        <c:crossAx val="-229971200"/>
        <c:crosses val="autoZero"/>
        <c:crossBetween val="midCat"/>
      </c:valAx>
      <c:valAx>
        <c:axId val="-229971200"/>
        <c:scaling>
          <c:orientation val="minMax"/>
        </c:scaling>
        <c:delete val="0"/>
        <c:axPos val="l"/>
        <c:title>
          <c:tx>
            <c:rich>
              <a:bodyPr/>
              <a:lstStyle/>
              <a:p>
                <a:pPr>
                  <a:defRPr/>
                </a:pPr>
                <a:r>
                  <a:rPr lang="en-US"/>
                  <a:t>Wage ($/hour)</a:t>
                </a:r>
              </a:p>
            </c:rich>
          </c:tx>
          <c:layout/>
          <c:overlay val="0"/>
        </c:title>
        <c:numFmt formatCode="General" sourceLinked="1"/>
        <c:majorTickMark val="out"/>
        <c:minorTickMark val="none"/>
        <c:tickLblPos val="nextTo"/>
        <c:crossAx val="-355565296"/>
        <c:crosses val="autoZero"/>
        <c:crossBetween val="midCat"/>
      </c:valAx>
    </c:plotArea>
    <c:plotVisOnly val="1"/>
    <c:dispBlanksAs val="gap"/>
    <c:showDLblsOverMax val="0"/>
  </c:chart>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a:t>Number of years of Education  Residual Plot</a:t>
            </a:r>
          </a:p>
        </c:rich>
      </c:tx>
      <c:layout/>
      <c:overlay val="0"/>
    </c:title>
    <c:autoTitleDeleted val="0"/>
    <c:plotArea>
      <c:layout/>
      <c:scatterChart>
        <c:scatterStyle val="lineMarker"/>
        <c:varyColors val="0"/>
        <c:ser>
          <c:idx val="0"/>
          <c:order val="0"/>
          <c:spPr>
            <a:ln w="28575">
              <a:noFill/>
            </a:ln>
          </c:spPr>
          <c:marker>
            <c:spPr>
              <a:solidFill>
                <a:srgbClr val="0070C0"/>
              </a:solidFill>
            </c:spPr>
          </c:marker>
          <c:xVal>
            <c:numRef>
              <c:f>Sheet1!$A$2:$A$16</c:f>
              <c:numCache>
                <c:formatCode>General</c:formatCode>
                <c:ptCount val="15"/>
                <c:pt idx="0">
                  <c:v>16.0</c:v>
                </c:pt>
                <c:pt idx="1">
                  <c:v>14.0</c:v>
                </c:pt>
                <c:pt idx="2">
                  <c:v>14.0</c:v>
                </c:pt>
                <c:pt idx="3">
                  <c:v>12.0</c:v>
                </c:pt>
                <c:pt idx="4">
                  <c:v>12.0</c:v>
                </c:pt>
                <c:pt idx="5">
                  <c:v>13.0</c:v>
                </c:pt>
                <c:pt idx="6">
                  <c:v>17.0</c:v>
                </c:pt>
                <c:pt idx="7">
                  <c:v>12.0</c:v>
                </c:pt>
                <c:pt idx="8">
                  <c:v>14.0</c:v>
                </c:pt>
                <c:pt idx="9">
                  <c:v>16.0</c:v>
                </c:pt>
                <c:pt idx="10">
                  <c:v>16.0</c:v>
                </c:pt>
                <c:pt idx="11">
                  <c:v>15.0</c:v>
                </c:pt>
                <c:pt idx="12">
                  <c:v>17.0</c:v>
                </c:pt>
                <c:pt idx="13">
                  <c:v>12.0</c:v>
                </c:pt>
                <c:pt idx="14">
                  <c:v>14.0</c:v>
                </c:pt>
              </c:numCache>
            </c:numRef>
          </c:xVal>
          <c:yVal>
            <c:numRef>
              <c:f>Sheet5!$C$26:$C$40</c:f>
              <c:numCache>
                <c:formatCode>General</c:formatCode>
                <c:ptCount val="15"/>
                <c:pt idx="0">
                  <c:v>-0.363031123139372</c:v>
                </c:pt>
                <c:pt idx="1">
                  <c:v>1.889201623815973</c:v>
                </c:pt>
                <c:pt idx="2">
                  <c:v>-6.510798376184027</c:v>
                </c:pt>
                <c:pt idx="3">
                  <c:v>0.392507893549851</c:v>
                </c:pt>
                <c:pt idx="4">
                  <c:v>-5.90749210645015</c:v>
                </c:pt>
                <c:pt idx="5">
                  <c:v>9.915317997293646</c:v>
                </c:pt>
                <c:pt idx="6">
                  <c:v>1.361926026161488</c:v>
                </c:pt>
                <c:pt idx="7">
                  <c:v>-2.408565629228681</c:v>
                </c:pt>
                <c:pt idx="8">
                  <c:v>-2.759724853405494</c:v>
                </c:pt>
                <c:pt idx="9">
                  <c:v>-2.263031123139373</c:v>
                </c:pt>
                <c:pt idx="10">
                  <c:v>-2.163031123139373</c:v>
                </c:pt>
                <c:pt idx="11">
                  <c:v>0.6530852503383</c:v>
                </c:pt>
                <c:pt idx="12">
                  <c:v>1.250852503382955</c:v>
                </c:pt>
                <c:pt idx="13">
                  <c:v>2.422507893549847</c:v>
                </c:pt>
                <c:pt idx="14">
                  <c:v>4.490275146594506</c:v>
                </c:pt>
              </c:numCache>
            </c:numRef>
          </c:yVal>
          <c:smooth val="0"/>
        </c:ser>
        <c:dLbls>
          <c:showLegendKey val="0"/>
          <c:showVal val="0"/>
          <c:showCatName val="0"/>
          <c:showSerName val="0"/>
          <c:showPercent val="0"/>
          <c:showBubbleSize val="0"/>
        </c:dLbls>
        <c:axId val="-355797168"/>
        <c:axId val="-232616752"/>
      </c:scatterChart>
      <c:valAx>
        <c:axId val="-355797168"/>
        <c:scaling>
          <c:orientation val="minMax"/>
        </c:scaling>
        <c:delete val="0"/>
        <c:axPos val="b"/>
        <c:title>
          <c:tx>
            <c:rich>
              <a:bodyPr/>
              <a:lstStyle/>
              <a:p>
                <a:pPr>
                  <a:defRPr/>
                </a:pPr>
                <a:r>
                  <a:rPr lang="en-US"/>
                  <a:t>Number of years of Education</a:t>
                </a:r>
              </a:p>
            </c:rich>
          </c:tx>
          <c:layout/>
          <c:overlay val="0"/>
        </c:title>
        <c:numFmt formatCode="General" sourceLinked="1"/>
        <c:majorTickMark val="out"/>
        <c:minorTickMark val="none"/>
        <c:tickLblPos val="nextTo"/>
        <c:crossAx val="-232616752"/>
        <c:crosses val="autoZero"/>
        <c:crossBetween val="midCat"/>
      </c:valAx>
      <c:valAx>
        <c:axId val="-232616752"/>
        <c:scaling>
          <c:orientation val="minMax"/>
        </c:scaling>
        <c:delete val="0"/>
        <c:axPos val="l"/>
        <c:title>
          <c:tx>
            <c:rich>
              <a:bodyPr/>
              <a:lstStyle/>
              <a:p>
                <a:pPr>
                  <a:defRPr/>
                </a:pPr>
                <a:r>
                  <a:rPr lang="en-US"/>
                  <a:t>Residuals</a:t>
                </a:r>
              </a:p>
            </c:rich>
          </c:tx>
          <c:layout/>
          <c:overlay val="0"/>
        </c:title>
        <c:numFmt formatCode="General" sourceLinked="1"/>
        <c:majorTickMark val="out"/>
        <c:minorTickMark val="none"/>
        <c:tickLblPos val="nextTo"/>
        <c:crossAx val="-355797168"/>
        <c:crosses val="autoZero"/>
        <c:crossBetween val="midCat"/>
      </c:valAx>
    </c:plotArea>
    <c:plotVisOnly val="1"/>
    <c:dispBlanksAs val="gap"/>
    <c:showDLblsOverMax val="0"/>
  </c:chart>
  <c:externalData r:id="rId2">
    <c:autoUpdate val="0"/>
  </c:externalData>
  <c:userShapes r:id="rId3"/>
</c:chartSpace>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drawing1.xml><?xml version="1.0" encoding="utf-8"?>
<c:userShapes xmlns:c="http://schemas.openxmlformats.org/drawingml/2006/chart">
  <cdr:relSizeAnchor xmlns:cdr="http://schemas.openxmlformats.org/drawingml/2006/chartDrawing">
    <cdr:from>
      <cdr:x>0.68504</cdr:x>
      <cdr:y>0.35821</cdr:y>
    </cdr:from>
    <cdr:to>
      <cdr:x>0.91339</cdr:x>
      <cdr:y>0.58209</cdr:y>
    </cdr:to>
    <cdr:cxnSp macro="">
      <cdr:nvCxnSpPr>
        <cdr:cNvPr id="3" name="Straight Arrow Connector 2"/>
        <cdr:cNvCxnSpPr/>
      </cdr:nvCxnSpPr>
      <cdr:spPr>
        <a:xfrm xmlns:a="http://schemas.openxmlformats.org/drawingml/2006/main">
          <a:off x="3132348" y="864096"/>
          <a:ext cx="1044116" cy="540060"/>
        </a:xfrm>
        <a:prstGeom xmlns:a="http://schemas.openxmlformats.org/drawingml/2006/main" prst="straightConnector1">
          <a:avLst/>
        </a:prstGeom>
        <a:ln xmlns:a="http://schemas.openxmlformats.org/drawingml/2006/main">
          <a:solidFill>
            <a:srgbClr val="FF0000"/>
          </a:solidFill>
          <a:tailEnd type="arrow"/>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0.68382</cdr:x>
      <cdr:y>0.67164</cdr:y>
    </cdr:from>
    <cdr:to>
      <cdr:x>0.92126</cdr:x>
      <cdr:y>0.82857</cdr:y>
    </cdr:to>
    <cdr:cxnSp macro="">
      <cdr:nvCxnSpPr>
        <cdr:cNvPr id="5" name="Straight Arrow Connector 4"/>
        <cdr:cNvCxnSpPr/>
      </cdr:nvCxnSpPr>
      <cdr:spPr>
        <a:xfrm xmlns:a="http://schemas.openxmlformats.org/drawingml/2006/main" flipV="1">
          <a:off x="3348372" y="1692726"/>
          <a:ext cx="1162617" cy="395506"/>
        </a:xfrm>
        <a:prstGeom xmlns:a="http://schemas.openxmlformats.org/drawingml/2006/main" prst="straightConnector1">
          <a:avLst/>
        </a:prstGeom>
        <a:ln xmlns:a="http://schemas.openxmlformats.org/drawingml/2006/main">
          <a:solidFill>
            <a:srgbClr val="FF0000"/>
          </a:solidFill>
          <a:tailEnd type="arrow"/>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629137C7-A858-4BDF-BAF1-6FE9E306F314}" type="datetimeFigureOut">
              <a:rPr lang="en-US"/>
              <a:pPr>
                <a:defRPr/>
              </a:pPr>
              <a:t>3/1/20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374F76A9-3FE8-4FAB-80C9-CF5E73786B97}" type="slidenum">
              <a:rPr lang="en-US"/>
              <a:pPr>
                <a:defRPr/>
              </a:pPr>
              <a:t>‹#›</a:t>
            </a:fld>
            <a:endParaRPr lang="en-US"/>
          </a:p>
        </p:txBody>
      </p:sp>
    </p:spTree>
    <p:extLst>
      <p:ext uri="{BB962C8B-B14F-4D97-AF65-F5344CB8AC3E}">
        <p14:creationId xmlns:p14="http://schemas.microsoft.com/office/powerpoint/2010/main" val="177545196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1150938" y="692150"/>
            <a:ext cx="4556125" cy="3416300"/>
          </a:xfrm>
          <a:ln/>
        </p:spPr>
      </p:sp>
      <p:sp>
        <p:nvSpPr>
          <p:cNvPr id="2560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xfrm>
            <a:off x="1150938" y="692150"/>
            <a:ext cx="4556125" cy="3416300"/>
          </a:xfrm>
          <a:ln cap="flat"/>
        </p:spPr>
      </p:sp>
      <p:sp>
        <p:nvSpPr>
          <p:cNvPr id="2765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useBgFill="1">
        <p:nvSpPr>
          <p:cNvPr id="5" name="Rounded Rectangle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smtClean="0"/>
              <a:t>Click to edit Master title style</a:t>
            </a:r>
            <a:endParaRPr lang="en-US"/>
          </a:p>
        </p:txBody>
      </p:sp>
      <p:sp>
        <p:nvSpPr>
          <p:cNvPr id="11" name="Date Placeholder 27"/>
          <p:cNvSpPr>
            <a:spLocks noGrp="1"/>
          </p:cNvSpPr>
          <p:nvPr>
            <p:ph type="dt" sz="half" idx="10"/>
          </p:nvPr>
        </p:nvSpPr>
        <p:spPr/>
        <p:txBody>
          <a:bodyPr/>
          <a:lstStyle>
            <a:lvl1pPr>
              <a:defRPr smtClean="0"/>
            </a:lvl1pPr>
          </a:lstStyle>
          <a:p>
            <a:pPr>
              <a:defRPr/>
            </a:pPr>
            <a:fld id="{991FABF8-363E-4253-A416-AB3031AA5C00}" type="datetime1">
              <a:rPr lang="en-US"/>
              <a:pPr>
                <a:defRPr/>
              </a:pPr>
              <a:t>3/1/20</a:t>
            </a:fld>
            <a:endParaRPr lang="en-US"/>
          </a:p>
        </p:txBody>
      </p:sp>
      <p:sp>
        <p:nvSpPr>
          <p:cNvPr id="12" name="Footer Placeholder 16"/>
          <p:cNvSpPr>
            <a:spLocks noGrp="1"/>
          </p:cNvSpPr>
          <p:nvPr>
            <p:ph type="ftr" sz="quarter" idx="11"/>
          </p:nvPr>
        </p:nvSpPr>
        <p:spPr/>
        <p:txBody>
          <a:bodyPr/>
          <a:lstStyle>
            <a:lvl1pPr>
              <a:defRPr/>
            </a:lvl1pPr>
          </a:lstStyle>
          <a:p>
            <a:pPr>
              <a:defRPr/>
            </a:pPr>
            <a:endParaRPr lang="en-US"/>
          </a:p>
        </p:txBody>
      </p:sp>
      <p:sp>
        <p:nvSpPr>
          <p:cNvPr id="13" name="Slide Number Placeholder 28"/>
          <p:cNvSpPr>
            <a:spLocks noGrp="1"/>
          </p:cNvSpPr>
          <p:nvPr>
            <p:ph type="sldNum" sz="quarter" idx="12"/>
          </p:nvPr>
        </p:nvSpPr>
        <p:spPr/>
        <p:txBody>
          <a:bodyPr/>
          <a:lstStyle>
            <a:lvl1pPr>
              <a:defRPr/>
            </a:lvl1pPr>
          </a:lstStyle>
          <a:p>
            <a:pPr>
              <a:defRPr/>
            </a:pPr>
            <a:fld id="{B2438BD7-F1FF-4CE8-89E1-F047266C43B5}" type="slidenum">
              <a:rPr lang="en-US"/>
              <a:pPr>
                <a:defRPr/>
              </a:pPr>
              <a:t>‹#›</a:t>
            </a:fld>
            <a:endParaRPr lang="en-US"/>
          </a:p>
        </p:txBody>
      </p:sp>
    </p:spTree>
    <p:extLst>
      <p:ext uri="{BB962C8B-B14F-4D97-AF65-F5344CB8AC3E}">
        <p14:creationId xmlns:p14="http://schemas.microsoft.com/office/powerpoint/2010/main" val="250280062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914400" y="1447800"/>
            <a:ext cx="77724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17456622-C5B1-45FD-9B13-32D741C15D9F}" type="datetime1">
              <a:rPr lang="en-US"/>
              <a:pPr>
                <a:defRPr/>
              </a:pPr>
              <a:t>3/1/20</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7F8D22E0-8D0D-4547-8178-B7EC355B98BF}" type="slidenum">
              <a:rPr lang="en-US"/>
              <a:pPr>
                <a:defRPr/>
              </a:pPr>
              <a:t>‹#›</a:t>
            </a:fld>
            <a:endParaRPr lang="en-US"/>
          </a:p>
        </p:txBody>
      </p:sp>
    </p:spTree>
    <p:extLst>
      <p:ext uri="{BB962C8B-B14F-4D97-AF65-F5344CB8AC3E}">
        <p14:creationId xmlns:p14="http://schemas.microsoft.com/office/powerpoint/2010/main" val="1910792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useBgFill="1">
        <p:nvSpPr>
          <p:cNvPr id="5" name="Rounded Rectangle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lvl1pPr eaLnBrk="0" hangingPunct="0">
              <a:defRPr sz="2400">
                <a:solidFill>
                  <a:schemeClr val="tx1"/>
                </a:solidFill>
                <a:latin typeface="Arial" charset="0"/>
                <a:ea typeface="ＭＳ Ｐゴシック" pitchFamily="17" charset="-128"/>
              </a:defRPr>
            </a:lvl1pPr>
            <a:lvl2pPr marL="37931725" indent="-37474525" eaLnBrk="0" hangingPunct="0">
              <a:defRPr sz="2400">
                <a:solidFill>
                  <a:schemeClr val="tx1"/>
                </a:solidFill>
                <a:latin typeface="Arial" charset="0"/>
                <a:ea typeface="ＭＳ Ｐゴシック" pitchFamily="17" charset="-128"/>
              </a:defRPr>
            </a:lvl2pPr>
            <a:lvl3pPr eaLnBrk="0" hangingPunct="0">
              <a:defRPr sz="2400">
                <a:solidFill>
                  <a:schemeClr val="tx1"/>
                </a:solidFill>
                <a:latin typeface="Arial" charset="0"/>
                <a:ea typeface="ＭＳ Ｐゴシック" pitchFamily="17" charset="-128"/>
              </a:defRPr>
            </a:lvl3pPr>
            <a:lvl4pPr eaLnBrk="0" hangingPunct="0">
              <a:defRPr sz="2400">
                <a:solidFill>
                  <a:schemeClr val="tx1"/>
                </a:solidFill>
                <a:latin typeface="Arial" charset="0"/>
                <a:ea typeface="ＭＳ Ｐゴシック" pitchFamily="17" charset="-128"/>
              </a:defRPr>
            </a:lvl4pPr>
            <a:lvl5pPr eaLnBrk="0" hangingPunct="0">
              <a:defRPr sz="2400">
                <a:solidFill>
                  <a:schemeClr val="tx1"/>
                </a:solidFill>
                <a:latin typeface="Arial" charset="0"/>
                <a:ea typeface="ＭＳ Ｐゴシック" pitchFamily="17" charset="-128"/>
              </a:defRPr>
            </a:lvl5pPr>
            <a:lvl6pPr marL="457200" eaLnBrk="0" fontAlgn="base" hangingPunct="0">
              <a:spcBef>
                <a:spcPct val="0"/>
              </a:spcBef>
              <a:spcAft>
                <a:spcPct val="0"/>
              </a:spcAft>
              <a:defRPr sz="2400">
                <a:solidFill>
                  <a:schemeClr val="tx1"/>
                </a:solidFill>
                <a:latin typeface="Arial" charset="0"/>
                <a:ea typeface="ＭＳ Ｐゴシック" pitchFamily="17" charset="-128"/>
              </a:defRPr>
            </a:lvl6pPr>
            <a:lvl7pPr marL="914400" eaLnBrk="0" fontAlgn="base" hangingPunct="0">
              <a:spcBef>
                <a:spcPct val="0"/>
              </a:spcBef>
              <a:spcAft>
                <a:spcPct val="0"/>
              </a:spcAft>
              <a:defRPr sz="2400">
                <a:solidFill>
                  <a:schemeClr val="tx1"/>
                </a:solidFill>
                <a:latin typeface="Arial" charset="0"/>
                <a:ea typeface="ＭＳ Ｐゴシック" pitchFamily="17" charset="-128"/>
              </a:defRPr>
            </a:lvl7pPr>
            <a:lvl8pPr marL="1371600" eaLnBrk="0" fontAlgn="base" hangingPunct="0">
              <a:spcBef>
                <a:spcPct val="0"/>
              </a:spcBef>
              <a:spcAft>
                <a:spcPct val="0"/>
              </a:spcAft>
              <a:defRPr sz="2400">
                <a:solidFill>
                  <a:schemeClr val="tx1"/>
                </a:solidFill>
                <a:latin typeface="Arial" charset="0"/>
                <a:ea typeface="ＭＳ Ｐゴシック" pitchFamily="17" charset="-128"/>
              </a:defRPr>
            </a:lvl8pPr>
            <a:lvl9pPr marL="1828800" eaLnBrk="0" fontAlgn="base" hangingPunct="0">
              <a:spcBef>
                <a:spcPct val="0"/>
              </a:spcBef>
              <a:spcAft>
                <a:spcPct val="0"/>
              </a:spcAft>
              <a:defRPr sz="2400">
                <a:solidFill>
                  <a:schemeClr val="tx1"/>
                </a:solidFill>
                <a:latin typeface="Arial" charset="0"/>
                <a:ea typeface="ＭＳ Ｐゴシック" pitchFamily="17" charset="-128"/>
              </a:defRPr>
            </a:lvl9pPr>
          </a:lstStyle>
          <a:p>
            <a:pPr algn="ctr" eaLnBrk="1" hangingPunct="1">
              <a:defRPr/>
            </a:pPr>
            <a:endParaRPr lang="en-US" sz="1800" smtClean="0">
              <a:solidFill>
                <a:srgbClr val="FFFFFF"/>
              </a:solidFill>
              <a:latin typeface="Perpetua" pitchFamily="17" charset="0"/>
            </a:endParaRPr>
          </a:p>
        </p:txBody>
      </p:sp>
      <p:sp>
        <p:nvSpPr>
          <p:cNvPr id="6" name="Rectangle 11"/>
          <p:cNvSpPr>
            <a:spLocks noChangeArrowheads="1"/>
          </p:cNvSpPr>
          <p:nvPr/>
        </p:nvSpPr>
        <p:spPr bwMode="auto">
          <a:xfrm flipV="1">
            <a:off x="69850" y="2376488"/>
            <a:ext cx="9013825" cy="92075"/>
          </a:xfrm>
          <a:prstGeom prst="rect">
            <a:avLst/>
          </a:prstGeom>
          <a:solidFill>
            <a:schemeClr val="accent1"/>
          </a:solidFill>
          <a:ln>
            <a:noFill/>
          </a:ln>
          <a:extLst>
            <a:ext uri="{91240B29-F687-4F45-9708-019B960494DF}">
              <a14:hiddenLine xmlns:a14="http://schemas.microsoft.com/office/drawing/2010/main" w="19050" cap="sq">
                <a:solidFill>
                  <a:srgbClr val="000000"/>
                </a:solidFill>
                <a:miter lim="800000"/>
                <a:headEnd/>
                <a:tailEnd/>
              </a14:hiddenLine>
            </a:ext>
          </a:extLst>
        </p:spPr>
        <p:txBody>
          <a:bodyPr anchor="ctr"/>
          <a:lstStyle/>
          <a:p>
            <a:pPr algn="ctr"/>
            <a:endParaRPr lang="en-US">
              <a:solidFill>
                <a:srgbClr val="FFFFFF"/>
              </a:solidFill>
              <a:latin typeface="Perpetua" pitchFamily="17" charset="0"/>
            </a:endParaRPr>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9" name="Date Placeholder 3"/>
          <p:cNvSpPr>
            <a:spLocks noGrp="1"/>
          </p:cNvSpPr>
          <p:nvPr>
            <p:ph type="dt" sz="half" idx="10"/>
          </p:nvPr>
        </p:nvSpPr>
        <p:spPr/>
        <p:txBody>
          <a:bodyPr/>
          <a:lstStyle>
            <a:lvl1pPr>
              <a:defRPr smtClean="0"/>
            </a:lvl1pPr>
          </a:lstStyle>
          <a:p>
            <a:pPr>
              <a:defRPr/>
            </a:pPr>
            <a:fld id="{52FCDE3A-4364-48C1-8D67-4DEB92934CFC}" type="datetime1">
              <a:rPr lang="en-US"/>
              <a:pPr>
                <a:defRPr/>
              </a:pPr>
              <a:t>3/1/20</a:t>
            </a:fld>
            <a:endParaRPr lang="en-US"/>
          </a:p>
        </p:txBody>
      </p:sp>
      <p:sp>
        <p:nvSpPr>
          <p:cNvPr id="10" name="Footer Placeholder 4"/>
          <p:cNvSpPr>
            <a:spLocks noGrp="1"/>
          </p:cNvSpPr>
          <p:nvPr>
            <p:ph type="ftr" sz="quarter" idx="11"/>
          </p:nvPr>
        </p:nvSpPr>
        <p:spPr>
          <a:xfrm>
            <a:off x="800100" y="6172200"/>
            <a:ext cx="4000500" cy="457200"/>
          </a:xfrm>
        </p:spPr>
        <p:txBody>
          <a:bodyPr/>
          <a:lstStyle>
            <a:lvl1pPr>
              <a:defRPr/>
            </a:lvl1pPr>
          </a:lstStyle>
          <a:p>
            <a:pPr>
              <a:defRPr/>
            </a:pPr>
            <a:endParaRPr lang="en-US"/>
          </a:p>
        </p:txBody>
      </p:sp>
      <p:sp>
        <p:nvSpPr>
          <p:cNvPr id="11" name="Slide Number Placeholder 5"/>
          <p:cNvSpPr>
            <a:spLocks noGrp="1"/>
          </p:cNvSpPr>
          <p:nvPr>
            <p:ph type="sldNum" sz="quarter" idx="12"/>
          </p:nvPr>
        </p:nvSpPr>
        <p:spPr>
          <a:xfrm>
            <a:off x="146050" y="6208713"/>
            <a:ext cx="457200" cy="457200"/>
          </a:xfrm>
        </p:spPr>
        <p:txBody>
          <a:bodyPr/>
          <a:lstStyle>
            <a:lvl1pPr>
              <a:defRPr/>
            </a:lvl1pPr>
          </a:lstStyle>
          <a:p>
            <a:pPr>
              <a:defRPr/>
            </a:pPr>
            <a:fld id="{EBD8661C-FEB9-4CB2-9A72-BB1DDFCE979C}" type="slidenum">
              <a:rPr lang="en-US"/>
              <a:pPr>
                <a:defRPr/>
              </a:pPr>
              <a:t>‹#›</a:t>
            </a:fld>
            <a:endParaRPr lang="en-US"/>
          </a:p>
        </p:txBody>
      </p:sp>
    </p:spTree>
    <p:extLst>
      <p:ext uri="{BB962C8B-B14F-4D97-AF65-F5344CB8AC3E}">
        <p14:creationId xmlns:p14="http://schemas.microsoft.com/office/powerpoint/2010/main" val="105634534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914400" y="1447800"/>
            <a:ext cx="374904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933950" y="1447800"/>
            <a:ext cx="374904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4557F23F-4DC8-41A6-9554-0A33FFCB943E}" type="datetime1">
              <a:rPr lang="en-US"/>
              <a:pPr>
                <a:defRPr/>
              </a:pPr>
              <a:t>3/1/20</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48D4B63F-0C3D-46D9-8C29-B62C9EBB7C91}" type="slidenum">
              <a:rPr lang="en-US"/>
              <a:pPr>
                <a:defRPr/>
              </a:pPr>
              <a:t>‹#›</a:t>
            </a:fld>
            <a:endParaRPr lang="en-US"/>
          </a:p>
        </p:txBody>
      </p:sp>
    </p:spTree>
    <p:extLst>
      <p:ext uri="{BB962C8B-B14F-4D97-AF65-F5344CB8AC3E}">
        <p14:creationId xmlns:p14="http://schemas.microsoft.com/office/powerpoint/2010/main" val="544911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half" idx="4"/>
          </p:nvPr>
        </p:nvSpPr>
        <p:spPr>
          <a:xfrm>
            <a:off x="4953000" y="2247900"/>
            <a:ext cx="3733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13"/>
          <p:cNvSpPr>
            <a:spLocks noGrp="1"/>
          </p:cNvSpPr>
          <p:nvPr>
            <p:ph type="dt" sz="half" idx="10"/>
          </p:nvPr>
        </p:nvSpPr>
        <p:spPr/>
        <p:txBody>
          <a:bodyPr/>
          <a:lstStyle>
            <a:lvl1pPr>
              <a:defRPr/>
            </a:lvl1pPr>
          </a:lstStyle>
          <a:p>
            <a:pPr>
              <a:defRPr/>
            </a:pPr>
            <a:fld id="{A5E3C76C-B070-4A73-BAA7-D93698CAC98E}" type="datetime1">
              <a:rPr lang="en-US"/>
              <a:pPr>
                <a:defRPr/>
              </a:pPr>
              <a:t>3/1/20</a:t>
            </a:fld>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1105323C-484E-474C-8014-28BB9F312DDF}" type="slidenum">
              <a:rPr lang="en-US"/>
              <a:pPr>
                <a:defRPr/>
              </a:pPr>
              <a:t>‹#›</a:t>
            </a:fld>
            <a:endParaRPr lang="en-US"/>
          </a:p>
        </p:txBody>
      </p:sp>
    </p:spTree>
    <p:extLst>
      <p:ext uri="{BB962C8B-B14F-4D97-AF65-F5344CB8AC3E}">
        <p14:creationId xmlns:p14="http://schemas.microsoft.com/office/powerpoint/2010/main" val="2880773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fld id="{FA61AFDD-C3B2-49F0-AA71-FEE5CAB41197}" type="datetime1">
              <a:rPr lang="en-US"/>
              <a:pPr>
                <a:defRPr/>
              </a:pPr>
              <a:t>3/1/20</a:t>
            </a:fld>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9562DE50-9727-48A1-BEAC-A6E0FC8578B5}" type="slidenum">
              <a:rPr lang="en-US"/>
              <a:pPr>
                <a:defRPr/>
              </a:pPr>
              <a:t>‹#›</a:t>
            </a:fld>
            <a:endParaRPr lang="en-US"/>
          </a:p>
        </p:txBody>
      </p:sp>
    </p:spTree>
    <p:extLst>
      <p:ext uri="{BB962C8B-B14F-4D97-AF65-F5344CB8AC3E}">
        <p14:creationId xmlns:p14="http://schemas.microsoft.com/office/powerpoint/2010/main" val="2602436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7A157B9F-A71A-4BF5-9F07-B837AD29B003}" type="datetime1">
              <a:rPr lang="en-US"/>
              <a:pPr>
                <a:defRPr/>
              </a:pPr>
              <a:t>3/1/20</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pPr>
              <a:defRPr/>
            </a:pPr>
            <a:fld id="{27316187-D18D-489E-BDCA-202B75041B58}" type="slidenum">
              <a:rPr lang="en-US"/>
              <a:pPr>
                <a:defRPr/>
              </a:pPr>
              <a:t>‹#›</a:t>
            </a:fld>
            <a:endParaRPr lang="en-US"/>
          </a:p>
        </p:txBody>
      </p:sp>
    </p:spTree>
    <p:extLst>
      <p:ext uri="{BB962C8B-B14F-4D97-AF65-F5344CB8AC3E}">
        <p14:creationId xmlns:p14="http://schemas.microsoft.com/office/powerpoint/2010/main" val="3331278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useBgFill="1">
        <p:nvSpPr>
          <p:cNvPr id="6" name="Rounded Rectangle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smtClean="0"/>
              <a:t>Click to edit Master title style</a:t>
            </a:r>
            <a:endParaRPr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4"/>
          <p:cNvSpPr>
            <a:spLocks noGrp="1"/>
          </p:cNvSpPr>
          <p:nvPr>
            <p:ph type="dt" sz="half" idx="10"/>
          </p:nvPr>
        </p:nvSpPr>
        <p:spPr/>
        <p:txBody>
          <a:bodyPr/>
          <a:lstStyle>
            <a:lvl1pPr>
              <a:defRPr smtClean="0"/>
            </a:lvl1pPr>
          </a:lstStyle>
          <a:p>
            <a:pPr>
              <a:defRPr/>
            </a:pPr>
            <a:fld id="{7C995CFA-AF2C-4D7C-B37A-B8F8AB5ACE42}" type="datetime1">
              <a:rPr lang="en-US"/>
              <a:pPr>
                <a:defRPr/>
              </a:pPr>
              <a:t>3/1/20</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8001DE35-088E-4993-BAFB-0417559122B2}" type="slidenum">
              <a:rPr lang="en-US"/>
              <a:pPr>
                <a:defRPr/>
              </a:pPr>
              <a:t>‹#›</a:t>
            </a:fld>
            <a:endParaRPr lang="en-US"/>
          </a:p>
        </p:txBody>
      </p:sp>
    </p:spTree>
    <p:extLst>
      <p:ext uri="{BB962C8B-B14F-4D97-AF65-F5344CB8AC3E}">
        <p14:creationId xmlns:p14="http://schemas.microsoft.com/office/powerpoint/2010/main" val="3074987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9"/>
          <p:cNvSpPr>
            <a:spLocks noChangeArrowheads="1"/>
          </p:cNvSpPr>
          <p:nvPr/>
        </p:nvSpPr>
        <p:spPr bwMode="auto">
          <a:xfrm flipV="1">
            <a:off x="68263" y="4683125"/>
            <a:ext cx="9007475" cy="92075"/>
          </a:xfrm>
          <a:prstGeom prst="rect">
            <a:avLst/>
          </a:prstGeom>
          <a:solidFill>
            <a:schemeClr val="accent1"/>
          </a:solidFill>
          <a:ln>
            <a:noFill/>
          </a:ln>
          <a:extLst>
            <a:ext uri="{91240B29-F687-4F45-9708-019B960494DF}">
              <a14:hiddenLine xmlns:a14="http://schemas.microsoft.com/office/drawing/2010/main" w="19050" cap="sq">
                <a:solidFill>
                  <a:srgbClr val="000000"/>
                </a:solidFill>
                <a:miter lim="800000"/>
                <a:headEnd/>
                <a:tailEnd/>
              </a14:hiddenLine>
            </a:ext>
          </a:extLst>
        </p:spPr>
        <p:txBody>
          <a:bodyPr anchor="ctr"/>
          <a:lstStyle/>
          <a:p>
            <a:pPr algn="ctr"/>
            <a:endParaRPr lang="en-US">
              <a:solidFill>
                <a:srgbClr val="FFFFFF"/>
              </a:solidFill>
              <a:latin typeface="Perpetua" pitchFamily="17" charset="0"/>
            </a:endParaRPr>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smtClean="0"/>
              <a:t>Click icon to add picture</a:t>
            </a:r>
            <a:endParaRPr lang="en-US" noProof="0" dirty="0"/>
          </a:p>
        </p:txBody>
      </p:sp>
      <p:sp>
        <p:nvSpPr>
          <p:cNvPr id="8" name="Date Placeholder 4"/>
          <p:cNvSpPr>
            <a:spLocks noGrp="1"/>
          </p:cNvSpPr>
          <p:nvPr>
            <p:ph type="dt" sz="half" idx="10"/>
          </p:nvPr>
        </p:nvSpPr>
        <p:spPr/>
        <p:txBody>
          <a:bodyPr/>
          <a:lstStyle>
            <a:lvl1pPr>
              <a:defRPr smtClean="0"/>
            </a:lvl1pPr>
          </a:lstStyle>
          <a:p>
            <a:pPr>
              <a:defRPr/>
            </a:pPr>
            <a:fld id="{A5945E08-3BD0-432B-BE19-A7545B781D89}" type="datetime1">
              <a:rPr lang="en-US"/>
              <a:pPr>
                <a:defRPr/>
              </a:pPr>
              <a:t>3/1/20</a:t>
            </a:fld>
            <a:endParaRPr lang="en-US"/>
          </a:p>
        </p:txBody>
      </p:sp>
      <p:sp>
        <p:nvSpPr>
          <p:cNvPr id="9" name="Footer Placeholder 5"/>
          <p:cNvSpPr>
            <a:spLocks noGrp="1"/>
          </p:cNvSpPr>
          <p:nvPr>
            <p:ph type="ftr" sz="quarter" idx="11"/>
          </p:nvPr>
        </p:nvSpPr>
        <p:spPr>
          <a:xfrm>
            <a:off x="914400" y="6172200"/>
            <a:ext cx="3886200" cy="457200"/>
          </a:xfrm>
        </p:spPr>
        <p:txBody>
          <a:bodyPr/>
          <a:lstStyle>
            <a:lvl1pPr>
              <a:defRPr/>
            </a:lvl1pPr>
          </a:lstStyle>
          <a:p>
            <a:pPr>
              <a:defRPr/>
            </a:pPr>
            <a:endParaRPr lang="en-US"/>
          </a:p>
        </p:txBody>
      </p:sp>
      <p:sp>
        <p:nvSpPr>
          <p:cNvPr id="10" name="Slide Number Placeholder 6"/>
          <p:cNvSpPr>
            <a:spLocks noGrp="1"/>
          </p:cNvSpPr>
          <p:nvPr>
            <p:ph type="sldNum" sz="quarter" idx="12"/>
          </p:nvPr>
        </p:nvSpPr>
        <p:spPr>
          <a:xfrm>
            <a:off x="146050" y="6208713"/>
            <a:ext cx="457200" cy="457200"/>
          </a:xfrm>
        </p:spPr>
        <p:txBody>
          <a:bodyPr/>
          <a:lstStyle>
            <a:lvl1pPr>
              <a:defRPr/>
            </a:lvl1pPr>
          </a:lstStyle>
          <a:p>
            <a:pPr>
              <a:defRPr/>
            </a:pPr>
            <a:fld id="{CDE335A4-626D-4D42-AC23-7D71F80DE8B2}" type="slidenum">
              <a:rPr lang="en-US"/>
              <a:pPr>
                <a:defRPr/>
              </a:pPr>
              <a:t>‹#›</a:t>
            </a:fld>
            <a:endParaRPr lang="en-US"/>
          </a:p>
        </p:txBody>
      </p:sp>
    </p:spTree>
    <p:extLst>
      <p:ext uri="{BB962C8B-B14F-4D97-AF65-F5344CB8AC3E}">
        <p14:creationId xmlns:p14="http://schemas.microsoft.com/office/powerpoint/2010/main" val="1009583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450AFA6D-6742-45E6-ABF7-290655627433}" type="datetime1">
              <a:rPr lang="en-US"/>
              <a:pPr>
                <a:defRPr/>
              </a:pPr>
              <a:t>3/1/20</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54373B88-0C2A-4FA2-BA39-FCEC1649A664}" type="slidenum">
              <a:rPr lang="en-US"/>
              <a:pPr>
                <a:defRPr/>
              </a:pPr>
              <a:t>‹#›</a:t>
            </a:fld>
            <a:endParaRPr lang="en-US"/>
          </a:p>
        </p:txBody>
      </p:sp>
    </p:spTree>
    <p:extLst>
      <p:ext uri="{BB962C8B-B14F-4D97-AF65-F5344CB8AC3E}">
        <p14:creationId xmlns:p14="http://schemas.microsoft.com/office/powerpoint/2010/main" val="2289256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57C1122B-09C4-469A-AC6B-D86E5D778193}" type="datetime1">
              <a:rPr lang="en-US"/>
              <a:pPr>
                <a:defRPr/>
              </a:pPr>
              <a:t>3/1/20</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3A7B24E0-F11C-4F27-86FF-BEA767F02912}" type="slidenum">
              <a:rPr lang="en-US"/>
              <a:pPr>
                <a:defRPr/>
              </a:pPr>
              <a:t>‹#›</a:t>
            </a:fld>
            <a:endParaRPr lang="en-US"/>
          </a:p>
        </p:txBody>
      </p:sp>
    </p:spTree>
    <p:extLst>
      <p:ext uri="{BB962C8B-B14F-4D97-AF65-F5344CB8AC3E}">
        <p14:creationId xmlns:p14="http://schemas.microsoft.com/office/powerpoint/2010/main" val="333099798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solidFill>
                <a:srgbClr val="FFFFFF"/>
              </a:solidFill>
              <a:ea typeface="ＭＳ Ｐゴシック" pitchFamily="17" charset="-128"/>
            </a:endParaRPr>
          </a:p>
        </p:txBody>
      </p:sp>
      <p:sp>
        <p:nvSpPr>
          <p:cNvPr id="1028" name="Title Placeholder 21"/>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smtClean="0"/>
              <a:t>Click to edit Master title style</a:t>
            </a:r>
          </a:p>
        </p:txBody>
      </p:sp>
      <p:sp>
        <p:nvSpPr>
          <p:cNvPr id="1029" name="Text Placeholder 12"/>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vert="horz" wrap="square" lIns="91440" tIns="45720" rIns="91440" bIns="45720" numCol="1" anchor="ctr" anchorCtr="0" compatLnSpc="1">
            <a:prstTxWarp prst="textNoShape">
              <a:avLst/>
            </a:prstTxWarp>
          </a:bodyPr>
          <a:lstStyle>
            <a:lvl1pPr algn="r">
              <a:defRPr sz="1400" smtClean="0">
                <a:solidFill>
                  <a:schemeClr val="tx2"/>
                </a:solidFill>
                <a:latin typeface="Perpetua" pitchFamily="17" charset="0"/>
              </a:defRPr>
            </a:lvl1pPr>
          </a:lstStyle>
          <a:p>
            <a:pPr>
              <a:defRPr/>
            </a:pPr>
            <a:fld id="{49F3F72C-CA7F-4425-8A36-54A77F4F0FF4}" type="datetime1">
              <a:rPr lang="en-US"/>
              <a:pPr>
                <a:defRPr/>
              </a:pPr>
              <a:t>3/1/20</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vert="horz" wrap="square" lIns="91440" tIns="45720" rIns="91440" bIns="45720" numCol="1" anchor="ctr" anchorCtr="0" compatLnSpc="1">
            <a:prstTxWarp prst="textNoShape">
              <a:avLst/>
            </a:prstTxWarp>
          </a:bodyPr>
          <a:lstStyle>
            <a:lvl1pPr>
              <a:defRPr sz="1400">
                <a:solidFill>
                  <a:schemeClr val="tx2"/>
                </a:solidFill>
                <a:latin typeface="Perpetua" pitchFamily="17" charset="0"/>
              </a:defRPr>
            </a:lvl1pPr>
          </a:lstStyle>
          <a:p>
            <a:pPr>
              <a:defRPr/>
            </a:pPr>
            <a:endParaRPr lang="en-US"/>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a:defRPr sz="1400">
                <a:solidFill>
                  <a:srgbClr val="FFFFFF"/>
                </a:solidFill>
                <a:latin typeface="Franklin Gothic Book" pitchFamily="17" charset="0"/>
              </a:defRPr>
            </a:lvl1pPr>
          </a:lstStyle>
          <a:p>
            <a:pPr>
              <a:defRPr/>
            </a:pPr>
            <a:fld id="{03B0017E-6DF0-441E-9E7C-BCF5A804243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33" r:id="rId1"/>
    <p:sldLayoutId id="2147483826" r:id="rId2"/>
    <p:sldLayoutId id="2147483834" r:id="rId3"/>
    <p:sldLayoutId id="2147483827" r:id="rId4"/>
    <p:sldLayoutId id="2147483828" r:id="rId5"/>
    <p:sldLayoutId id="2147483829" r:id="rId6"/>
    <p:sldLayoutId id="2147483830" r:id="rId7"/>
    <p:sldLayoutId id="2147483835" r:id="rId8"/>
    <p:sldLayoutId id="2147483836" r:id="rId9"/>
    <p:sldLayoutId id="2147483831" r:id="rId10"/>
    <p:sldLayoutId id="2147483832" r:id="rId11"/>
  </p:sldLayoutIdLst>
  <p:hf hdr="0" ftr="0" dt="0"/>
  <p:txStyles>
    <p:titleStyle>
      <a:lvl1pPr algn="l" rtl="0" eaLnBrk="0" fontAlgn="base" hangingPunct="0">
        <a:spcBef>
          <a:spcPct val="0"/>
        </a:spcBef>
        <a:spcAft>
          <a:spcPct val="0"/>
        </a:spcAft>
        <a:defRPr sz="4000" kern="1200">
          <a:solidFill>
            <a:schemeClr val="tx2"/>
          </a:solidFill>
          <a:latin typeface="+mj-lt"/>
          <a:ea typeface="ＭＳ Ｐゴシック" pitchFamily="18" charset="-128"/>
          <a:cs typeface="ＭＳ Ｐゴシック" pitchFamily="18" charset="-128"/>
        </a:defRPr>
      </a:lvl1pPr>
      <a:lvl2pPr algn="l" rtl="0" eaLnBrk="0" fontAlgn="base" hangingPunct="0">
        <a:spcBef>
          <a:spcPct val="0"/>
        </a:spcBef>
        <a:spcAft>
          <a:spcPct val="0"/>
        </a:spcAft>
        <a:defRPr sz="4000">
          <a:solidFill>
            <a:schemeClr val="tx2"/>
          </a:solidFill>
          <a:latin typeface="Franklin Gothic Book" pitchFamily="18" charset="0"/>
          <a:ea typeface="ＭＳ Ｐゴシック" pitchFamily="18" charset="-128"/>
          <a:cs typeface="ＭＳ Ｐゴシック" pitchFamily="18" charset="-128"/>
        </a:defRPr>
      </a:lvl2pPr>
      <a:lvl3pPr algn="l" rtl="0" eaLnBrk="0" fontAlgn="base" hangingPunct="0">
        <a:spcBef>
          <a:spcPct val="0"/>
        </a:spcBef>
        <a:spcAft>
          <a:spcPct val="0"/>
        </a:spcAft>
        <a:defRPr sz="4000">
          <a:solidFill>
            <a:schemeClr val="tx2"/>
          </a:solidFill>
          <a:latin typeface="Franklin Gothic Book" pitchFamily="18" charset="0"/>
          <a:ea typeface="ＭＳ Ｐゴシック" pitchFamily="18" charset="-128"/>
          <a:cs typeface="ＭＳ Ｐゴシック" pitchFamily="18" charset="-128"/>
        </a:defRPr>
      </a:lvl3pPr>
      <a:lvl4pPr algn="l" rtl="0" eaLnBrk="0" fontAlgn="base" hangingPunct="0">
        <a:spcBef>
          <a:spcPct val="0"/>
        </a:spcBef>
        <a:spcAft>
          <a:spcPct val="0"/>
        </a:spcAft>
        <a:defRPr sz="4000">
          <a:solidFill>
            <a:schemeClr val="tx2"/>
          </a:solidFill>
          <a:latin typeface="Franklin Gothic Book" pitchFamily="18" charset="0"/>
          <a:ea typeface="ＭＳ Ｐゴシック" pitchFamily="18" charset="-128"/>
          <a:cs typeface="ＭＳ Ｐゴシック" pitchFamily="18" charset="-128"/>
        </a:defRPr>
      </a:lvl4pPr>
      <a:lvl5pPr algn="l" rtl="0" eaLnBrk="0" fontAlgn="base" hangingPunct="0">
        <a:spcBef>
          <a:spcPct val="0"/>
        </a:spcBef>
        <a:spcAft>
          <a:spcPct val="0"/>
        </a:spcAft>
        <a:defRPr sz="4000">
          <a:solidFill>
            <a:schemeClr val="tx2"/>
          </a:solidFill>
          <a:latin typeface="Franklin Gothic Book" pitchFamily="18" charset="0"/>
          <a:ea typeface="ＭＳ Ｐゴシック" pitchFamily="18" charset="-128"/>
          <a:cs typeface="ＭＳ Ｐゴシック" pitchFamily="18" charset="-128"/>
        </a:defRPr>
      </a:lvl5pPr>
      <a:lvl6pPr marL="457200" algn="l" rtl="0" fontAlgn="base">
        <a:spcBef>
          <a:spcPct val="0"/>
        </a:spcBef>
        <a:spcAft>
          <a:spcPct val="0"/>
        </a:spcAft>
        <a:defRPr sz="4000">
          <a:solidFill>
            <a:schemeClr val="tx2"/>
          </a:solidFill>
          <a:latin typeface="Franklin Gothic Book" pitchFamily="18" charset="0"/>
          <a:ea typeface="ＭＳ Ｐゴシック" pitchFamily="18" charset="-128"/>
          <a:cs typeface="ＭＳ Ｐゴシック" pitchFamily="18" charset="-128"/>
        </a:defRPr>
      </a:lvl6pPr>
      <a:lvl7pPr marL="914400" algn="l" rtl="0" fontAlgn="base">
        <a:spcBef>
          <a:spcPct val="0"/>
        </a:spcBef>
        <a:spcAft>
          <a:spcPct val="0"/>
        </a:spcAft>
        <a:defRPr sz="4000">
          <a:solidFill>
            <a:schemeClr val="tx2"/>
          </a:solidFill>
          <a:latin typeface="Franklin Gothic Book" pitchFamily="18" charset="0"/>
          <a:ea typeface="ＭＳ Ｐゴシック" pitchFamily="18" charset="-128"/>
          <a:cs typeface="ＭＳ Ｐゴシック" pitchFamily="18" charset="-128"/>
        </a:defRPr>
      </a:lvl7pPr>
      <a:lvl8pPr marL="1371600" algn="l" rtl="0" fontAlgn="base">
        <a:spcBef>
          <a:spcPct val="0"/>
        </a:spcBef>
        <a:spcAft>
          <a:spcPct val="0"/>
        </a:spcAft>
        <a:defRPr sz="4000">
          <a:solidFill>
            <a:schemeClr val="tx2"/>
          </a:solidFill>
          <a:latin typeface="Franklin Gothic Book" pitchFamily="18" charset="0"/>
          <a:ea typeface="ＭＳ Ｐゴシック" pitchFamily="18" charset="-128"/>
          <a:cs typeface="ＭＳ Ｐゴシック" pitchFamily="18" charset="-128"/>
        </a:defRPr>
      </a:lvl8pPr>
      <a:lvl9pPr marL="1828800" algn="l" rtl="0" fontAlgn="base">
        <a:spcBef>
          <a:spcPct val="0"/>
        </a:spcBef>
        <a:spcAft>
          <a:spcPct val="0"/>
        </a:spcAft>
        <a:defRPr sz="4000">
          <a:solidFill>
            <a:schemeClr val="tx2"/>
          </a:solidFill>
          <a:latin typeface="Franklin Gothic Book" pitchFamily="18" charset="0"/>
          <a:ea typeface="ＭＳ Ｐゴシック" pitchFamily="18" charset="-128"/>
          <a:cs typeface="ＭＳ Ｐゴシック" pitchFamily="18" charset="-128"/>
        </a:defRPr>
      </a:lvl9pPr>
    </p:titleStyle>
    <p:bodyStyle>
      <a:lvl1pPr marL="273050" indent="-273050" algn="l" rtl="0" eaLnBrk="0" fontAlgn="base" hangingPunct="0">
        <a:spcBef>
          <a:spcPts val="575"/>
        </a:spcBef>
        <a:spcAft>
          <a:spcPct val="0"/>
        </a:spcAft>
        <a:buClr>
          <a:schemeClr val="accent1"/>
        </a:buClr>
        <a:buSzPct val="85000"/>
        <a:buFont typeface="Wingdings 2" pitchFamily="17" charset="2"/>
        <a:buChar char=""/>
        <a:defRPr sz="2600" kern="1200">
          <a:solidFill>
            <a:schemeClr val="tx1"/>
          </a:solidFill>
          <a:latin typeface="+mn-lt"/>
          <a:ea typeface="ＭＳ Ｐゴシック" pitchFamily="18" charset="-128"/>
          <a:cs typeface="ＭＳ Ｐゴシック" pitchFamily="18" charset="-128"/>
        </a:defRPr>
      </a:lvl1pPr>
      <a:lvl2pPr marL="547688" indent="-228600" algn="l" rtl="0" eaLnBrk="0" fontAlgn="base" hangingPunct="0">
        <a:spcBef>
          <a:spcPts val="375"/>
        </a:spcBef>
        <a:spcAft>
          <a:spcPct val="0"/>
        </a:spcAft>
        <a:buClr>
          <a:schemeClr val="accent2"/>
        </a:buClr>
        <a:buSzPct val="85000"/>
        <a:buFont typeface="Wingdings 2" pitchFamily="17" charset="2"/>
        <a:buChar char=""/>
        <a:defRPr sz="2400" kern="1200">
          <a:solidFill>
            <a:schemeClr val="tx1"/>
          </a:solidFill>
          <a:latin typeface="+mn-lt"/>
          <a:ea typeface="ＭＳ Ｐゴシック" pitchFamily="18" charset="-128"/>
          <a:cs typeface="+mn-cs"/>
        </a:defRPr>
      </a:lvl2pPr>
      <a:lvl3pPr marL="822325" indent="-228600" algn="l" rtl="0" eaLnBrk="0" fontAlgn="base" hangingPunct="0">
        <a:spcBef>
          <a:spcPts val="375"/>
        </a:spcBef>
        <a:spcAft>
          <a:spcPct val="0"/>
        </a:spcAft>
        <a:buClr>
          <a:srgbClr val="E6B1AB"/>
        </a:buClr>
        <a:buSzPct val="85000"/>
        <a:buFont typeface="Wingdings 2" pitchFamily="17" charset="2"/>
        <a:buChar char=""/>
        <a:defRPr sz="2000" kern="1200">
          <a:solidFill>
            <a:schemeClr val="tx1"/>
          </a:solidFill>
          <a:latin typeface="+mn-lt"/>
          <a:ea typeface="ＭＳ Ｐゴシック" pitchFamily="18" charset="-128"/>
          <a:cs typeface="+mn-cs"/>
        </a:defRPr>
      </a:lvl3pPr>
      <a:lvl4pPr marL="1096963" indent="-228600" algn="l" rtl="0" eaLnBrk="0" fontAlgn="base" hangingPunct="0">
        <a:spcBef>
          <a:spcPts val="375"/>
        </a:spcBef>
        <a:spcAft>
          <a:spcPct val="0"/>
        </a:spcAft>
        <a:buClr>
          <a:srgbClr val="A28E6A"/>
        </a:buClr>
        <a:buSzPct val="80000"/>
        <a:buFont typeface="Wingdings 2" pitchFamily="17" charset="2"/>
        <a:buChar char=""/>
        <a:defRPr sz="2000" kern="1200">
          <a:solidFill>
            <a:schemeClr val="tx1"/>
          </a:solidFill>
          <a:latin typeface="+mn-lt"/>
          <a:ea typeface="ＭＳ Ｐゴシック" pitchFamily="18" charset="-128"/>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ＭＳ Ｐゴシック" pitchFamily="18" charset="-128"/>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6.w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4" Type="http://schemas.openxmlformats.org/officeDocument/2006/relationships/oleObject" Target="../embeddings/oleObject2.bin"/><Relationship Id="rId5" Type="http://schemas.openxmlformats.org/officeDocument/2006/relationships/image" Target="../media/image7.e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ubtitle 2"/>
          <p:cNvSpPr>
            <a:spLocks noGrp="1"/>
          </p:cNvSpPr>
          <p:nvPr>
            <p:ph type="subTitle" idx="1"/>
          </p:nvPr>
        </p:nvSpPr>
        <p:spPr/>
        <p:txBody>
          <a:bodyPr/>
          <a:lstStyle/>
          <a:p>
            <a:pPr eaLnBrk="1" hangingPunct="1"/>
            <a:endParaRPr lang="en-US" smtClean="0">
              <a:ea typeface="ＭＳ Ｐゴシック" pitchFamily="17" charset="-128"/>
            </a:endParaRPr>
          </a:p>
        </p:txBody>
      </p:sp>
      <p:sp>
        <p:nvSpPr>
          <p:cNvPr id="6147" name="Title 1"/>
          <p:cNvSpPr>
            <a:spLocks noGrp="1"/>
          </p:cNvSpPr>
          <p:nvPr>
            <p:ph type="ctrTitle"/>
          </p:nvPr>
        </p:nvSpPr>
        <p:spPr>
          <a:xfrm>
            <a:off x="457200" y="1506538"/>
            <a:ext cx="8229600" cy="1470025"/>
          </a:xfrm>
        </p:spPr>
        <p:txBody>
          <a:bodyPr/>
          <a:lstStyle/>
          <a:p>
            <a:pPr eaLnBrk="1" hangingPunct="1"/>
            <a:r>
              <a:rPr smtClean="0">
                <a:ea typeface="ＭＳ Ｐゴシック" pitchFamily="17" charset="-128"/>
              </a:rPr>
              <a:t>Multiple Linear Regression (I)</a:t>
            </a:r>
          </a:p>
        </p:txBody>
      </p:sp>
      <p:sp>
        <p:nvSpPr>
          <p:cNvPr id="6148"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5B1FC9D1-3258-410B-94F7-E7761FAC1CE5}" type="slidenum">
              <a:rPr lang="en-US" smtClean="0"/>
              <a:pPr/>
              <a:t>1</a:t>
            </a:fld>
            <a:endParaRPr lang="en-US"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mtClean="0">
                <a:solidFill>
                  <a:schemeClr val="tx1"/>
                </a:solidFill>
                <a:ea typeface="ＭＳ Ｐゴシック" pitchFamily="17" charset="-128"/>
              </a:rPr>
              <a:t>Multiple Linear Regression</a:t>
            </a:r>
          </a:p>
        </p:txBody>
      </p:sp>
      <p:sp>
        <p:nvSpPr>
          <p:cNvPr id="3" name="Content Placeholder 2"/>
          <p:cNvSpPr>
            <a:spLocks noGrp="1"/>
          </p:cNvSpPr>
          <p:nvPr>
            <p:ph sz="quarter" idx="1"/>
          </p:nvPr>
        </p:nvSpPr>
        <p:spPr>
          <a:xfrm>
            <a:off x="914400" y="1447800"/>
            <a:ext cx="7772400" cy="5118100"/>
          </a:xfrm>
        </p:spPr>
        <p:txBody>
          <a:bodyPr/>
          <a:lstStyle/>
          <a:p>
            <a:pPr marL="0" indent="0">
              <a:buFont typeface="Wingdings 2" pitchFamily="17" charset="2"/>
              <a:buNone/>
              <a:defRPr/>
            </a:pPr>
            <a:r>
              <a:rPr lang="en-US" altLang="en-US" sz="2400" dirty="0" smtClean="0"/>
              <a:t>Statistical method for studying the relationship between a dependent variable and two or more independent variables. </a:t>
            </a:r>
            <a:r>
              <a:rPr lang="en-US" sz="2400" b="1" dirty="0" smtClean="0"/>
              <a:t>Multiple regression</a:t>
            </a:r>
            <a:r>
              <a:rPr lang="en-US" sz="2400" dirty="0" smtClean="0"/>
              <a:t> simultaneously considers the influence of multiple independent variables on a dependent variable  Y.</a:t>
            </a:r>
            <a:endParaRPr lang="en-US" altLang="en-US" dirty="0" smtClean="0"/>
          </a:p>
          <a:p>
            <a:pPr marL="0" indent="0">
              <a:buFont typeface="Wingdings 2" pitchFamily="17" charset="2"/>
              <a:buNone/>
              <a:defRPr/>
            </a:pPr>
            <a:r>
              <a:rPr lang="en-US" altLang="en-US" dirty="0" smtClean="0"/>
              <a:t>Purposes: </a:t>
            </a:r>
          </a:p>
          <a:p>
            <a:pPr lvl="1">
              <a:defRPr/>
            </a:pPr>
            <a:r>
              <a:rPr lang="en-US" altLang="en-US" dirty="0" smtClean="0"/>
              <a:t>Prediction</a:t>
            </a:r>
          </a:p>
          <a:p>
            <a:pPr lvl="1">
              <a:defRPr/>
            </a:pPr>
            <a:r>
              <a:rPr lang="en-US" altLang="en-US" dirty="0" smtClean="0"/>
              <a:t>Explanation</a:t>
            </a:r>
          </a:p>
          <a:p>
            <a:pPr lvl="1">
              <a:defRPr/>
            </a:pPr>
            <a:r>
              <a:rPr lang="en-US" altLang="en-US" dirty="0" smtClean="0"/>
              <a:t>Theory building</a:t>
            </a:r>
          </a:p>
          <a:p>
            <a:pPr>
              <a:defRPr/>
            </a:pPr>
            <a:endParaRPr 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9263" y="3063875"/>
            <a:ext cx="2398712" cy="3230563"/>
          </a:xfrm>
          <a:prstGeom prst="rect">
            <a:avLst/>
          </a:prstGeom>
          <a:noFill/>
          <a:ln w="31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3"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0742984E-6F6B-4B15-A680-CB2D3BEA745D}" type="slidenum">
              <a:rPr lang="en-US" smtClean="0"/>
              <a:pPr/>
              <a:t>2</a:t>
            </a:fld>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763588" y="274638"/>
            <a:ext cx="7772400" cy="817562"/>
          </a:xfrm>
        </p:spPr>
        <p:txBody>
          <a:bodyPr/>
          <a:lstStyle/>
          <a:p>
            <a:r>
              <a:rPr lang="en-US" smtClean="0">
                <a:solidFill>
                  <a:schemeClr val="tx1"/>
                </a:solidFill>
                <a:ea typeface="ＭＳ Ｐゴシック" pitchFamily="17" charset="-128"/>
              </a:rPr>
              <a:t>Regression Modeling</a:t>
            </a:r>
          </a:p>
        </p:txBody>
      </p:sp>
      <p:sp>
        <p:nvSpPr>
          <p:cNvPr id="8195" name="Content Placeholder 2"/>
          <p:cNvSpPr>
            <a:spLocks noGrp="1"/>
          </p:cNvSpPr>
          <p:nvPr>
            <p:ph sz="quarter" idx="1"/>
          </p:nvPr>
        </p:nvSpPr>
        <p:spPr>
          <a:xfrm>
            <a:off x="914400" y="1447800"/>
            <a:ext cx="3643313" cy="4572000"/>
          </a:xfrm>
        </p:spPr>
        <p:txBody>
          <a:bodyPr/>
          <a:lstStyle/>
          <a:p>
            <a:r>
              <a:rPr lang="en-US" smtClean="0">
                <a:ea typeface="ＭＳ Ｐゴシック" pitchFamily="17" charset="-128"/>
              </a:rPr>
              <a:t>A simple regression model (one independent variable) fits a regression </a:t>
            </a:r>
            <a:r>
              <a:rPr lang="en-US" i="1" smtClean="0">
                <a:ea typeface="ＭＳ Ｐゴシック" pitchFamily="17" charset="-128"/>
              </a:rPr>
              <a:t>line</a:t>
            </a:r>
            <a:r>
              <a:rPr lang="en-US" smtClean="0">
                <a:ea typeface="ＭＳ Ｐゴシック" pitchFamily="17" charset="-128"/>
              </a:rPr>
              <a:t> in 2-dimensional space</a:t>
            </a:r>
            <a:br>
              <a:rPr lang="en-US" smtClean="0">
                <a:ea typeface="ＭＳ Ｐゴシック" pitchFamily="17" charset="-128"/>
              </a:rPr>
            </a:br>
            <a:endParaRPr lang="en-US" smtClean="0">
              <a:ea typeface="ＭＳ Ｐゴシック" pitchFamily="17" charset="-128"/>
            </a:endParaRPr>
          </a:p>
          <a:p>
            <a:r>
              <a:rPr lang="en-US" smtClean="0">
                <a:ea typeface="ＭＳ Ｐゴシック" pitchFamily="17" charset="-128"/>
              </a:rPr>
              <a:t>A multiple regression model with two explanatory variables fits a regression plane in </a:t>
            </a:r>
            <a:r>
              <a:rPr lang="en-US" i="1" smtClean="0">
                <a:ea typeface="ＭＳ Ｐゴシック" pitchFamily="17" charset="-128"/>
              </a:rPr>
              <a:t>3-</a:t>
            </a:r>
            <a:r>
              <a:rPr lang="en-US" smtClean="0">
                <a:ea typeface="ＭＳ Ｐゴシック" pitchFamily="17" charset="-128"/>
              </a:rPr>
              <a:t>dimensional space</a:t>
            </a:r>
          </a:p>
          <a:p>
            <a:endParaRPr lang="en-US" smtClean="0">
              <a:ea typeface="ＭＳ Ｐゴシック" pitchFamily="17" charset="-128"/>
            </a:endParaRPr>
          </a:p>
        </p:txBody>
      </p:sp>
      <p:pic>
        <p:nvPicPr>
          <p:cNvPr id="8196" name="Picture 10"/>
          <p:cNvPicPr>
            <a:picLocks noChangeAspect="1" noChangeArrowheads="1"/>
          </p:cNvPicPr>
          <p:nvPr/>
        </p:nvPicPr>
        <p:blipFill>
          <a:blip r:embed="rId2">
            <a:extLst>
              <a:ext uri="{28A0092B-C50C-407E-A947-70E740481C1C}">
                <a14:useLocalDpi xmlns:a14="http://schemas.microsoft.com/office/drawing/2010/main" val="0"/>
              </a:ext>
            </a:extLst>
          </a:blip>
          <a:srcRect r="3293" b="3255"/>
          <a:stretch>
            <a:fillRect/>
          </a:stretch>
        </p:blipFill>
        <p:spPr bwMode="auto">
          <a:xfrm>
            <a:off x="5119688" y="3702050"/>
            <a:ext cx="3160712" cy="268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8197"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9788" y="1249363"/>
            <a:ext cx="4038600" cy="21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AutoShape 2" descr="Image result for 3d regression image"/>
          <p:cNvSpPr>
            <a:spLocks noChangeAspect="1" noChangeArrowheads="1"/>
          </p:cNvSpPr>
          <p:nvPr/>
        </p:nvSpPr>
        <p:spPr bwMode="auto">
          <a:xfrm>
            <a:off x="176213"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199"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B6725462-70E9-468A-B3B6-416927141EE5}" type="slidenum">
              <a:rPr lang="en-US" smtClean="0"/>
              <a:pPr/>
              <a:t>3</a:t>
            </a:fld>
            <a:endParaRPr lang="en-US"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914400" y="274638"/>
            <a:ext cx="7772400" cy="968375"/>
          </a:xfrm>
        </p:spPr>
        <p:txBody>
          <a:bodyPr/>
          <a:lstStyle/>
          <a:p>
            <a:r>
              <a:rPr lang="en-US" smtClean="0">
                <a:solidFill>
                  <a:schemeClr val="tx1"/>
                </a:solidFill>
                <a:ea typeface="ＭＳ Ｐゴシック" pitchFamily="17" charset="-128"/>
              </a:rPr>
              <a:t>Multiple Regression Modeling</a:t>
            </a:r>
            <a:endParaRPr lang="en-US" smtClean="0">
              <a:ea typeface="ＭＳ Ｐゴシック" pitchFamily="17" charset="-128"/>
            </a:endParaRPr>
          </a:p>
        </p:txBody>
      </p:sp>
      <p:sp>
        <p:nvSpPr>
          <p:cNvPr id="9219" name="Content Placeholder 2"/>
          <p:cNvSpPr>
            <a:spLocks noGrp="1"/>
          </p:cNvSpPr>
          <p:nvPr>
            <p:ph sz="quarter" idx="1"/>
          </p:nvPr>
        </p:nvSpPr>
        <p:spPr>
          <a:xfrm>
            <a:off x="914400" y="1663700"/>
            <a:ext cx="4151313" cy="4356100"/>
          </a:xfrm>
        </p:spPr>
        <p:txBody>
          <a:bodyPr/>
          <a:lstStyle/>
          <a:p>
            <a:r>
              <a:rPr lang="en-US" sz="2800" smtClean="0">
                <a:ea typeface="ＭＳ Ｐゴシック" pitchFamily="17" charset="-128"/>
              </a:rPr>
              <a:t>A multiple regression model with </a:t>
            </a:r>
            <a:r>
              <a:rPr lang="en-US" sz="2800" i="1" smtClean="0">
                <a:ea typeface="ＭＳ Ｐゴシック" pitchFamily="17" charset="-128"/>
              </a:rPr>
              <a:t>k</a:t>
            </a:r>
            <a:r>
              <a:rPr lang="en-US" sz="2800" smtClean="0">
                <a:ea typeface="ＭＳ Ｐゴシック" pitchFamily="17" charset="-128"/>
              </a:rPr>
              <a:t> independent  variables fits a regression “surface” in k + 1 dimensional space (cannot be visualized)</a:t>
            </a:r>
          </a:p>
          <a:p>
            <a:endParaRPr lang="en-US" smtClean="0">
              <a:ea typeface="ＭＳ Ｐゴシック" pitchFamily="17" charset="-128"/>
            </a:endParaRPr>
          </a:p>
        </p:txBody>
      </p:sp>
      <p:pic>
        <p:nvPicPr>
          <p:cNvPr id="4"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0088" y="2000250"/>
            <a:ext cx="3030537" cy="390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1"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F62F74D0-D6C5-490A-98AB-17FFA746742D}" type="slidenum">
              <a:rPr lang="en-US" smtClean="0"/>
              <a:pPr/>
              <a:t>4</a:t>
            </a:fld>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914400" y="274638"/>
            <a:ext cx="7772400" cy="760412"/>
          </a:xfrm>
        </p:spPr>
        <p:txBody>
          <a:bodyPr/>
          <a:lstStyle/>
          <a:p>
            <a:r>
              <a:rPr lang="en-US" dirty="0" smtClean="0">
                <a:solidFill>
                  <a:schemeClr val="tx1"/>
                </a:solidFill>
                <a:ea typeface="ＭＳ Ｐゴシック" pitchFamily="17" charset="-128"/>
              </a:rPr>
              <a:t>Real life applications</a:t>
            </a:r>
          </a:p>
        </p:txBody>
      </p:sp>
      <p:sp>
        <p:nvSpPr>
          <p:cNvPr id="3" name="Content Placeholder 2"/>
          <p:cNvSpPr>
            <a:spLocks noGrp="1"/>
          </p:cNvSpPr>
          <p:nvPr>
            <p:ph sz="quarter" idx="1"/>
          </p:nvPr>
        </p:nvSpPr>
        <p:spPr>
          <a:xfrm>
            <a:off x="642938" y="1035050"/>
            <a:ext cx="8166100" cy="5430838"/>
          </a:xfrm>
        </p:spPr>
        <p:txBody>
          <a:bodyPr/>
          <a:lstStyle/>
          <a:p>
            <a:pPr>
              <a:defRPr/>
            </a:pPr>
            <a:r>
              <a:rPr lang="en-US" b="1" i="1" dirty="0" smtClean="0"/>
              <a:t>Economy:</a:t>
            </a:r>
          </a:p>
          <a:p>
            <a:pPr marL="0" indent="0">
              <a:buFont typeface="Wingdings 2" pitchFamily="17" charset="2"/>
              <a:buNone/>
              <a:defRPr/>
            </a:pPr>
            <a:r>
              <a:rPr lang="en-US" dirty="0" smtClean="0"/>
              <a:t>GDP growth can be determined by factors such as natural resources, technology, human capital, investment, inflation rate, etc.</a:t>
            </a:r>
          </a:p>
          <a:p>
            <a:pPr>
              <a:defRPr/>
            </a:pPr>
            <a:r>
              <a:rPr lang="en-US" b="1" i="1" dirty="0" smtClean="0"/>
              <a:t>Insurance:</a:t>
            </a:r>
          </a:p>
          <a:p>
            <a:pPr marL="0" indent="0">
              <a:buFont typeface="Wingdings 2" pitchFamily="17" charset="2"/>
              <a:buNone/>
              <a:defRPr/>
            </a:pPr>
            <a:r>
              <a:rPr lang="en-US" dirty="0" smtClean="0"/>
              <a:t>Car accident rate can be predicted by weather conditions, day of the week, number of broken traffic lights, number of cars on the road, etc.</a:t>
            </a:r>
          </a:p>
          <a:p>
            <a:pPr>
              <a:defRPr/>
            </a:pPr>
            <a:r>
              <a:rPr lang="en-US" b="1" i="1" dirty="0" smtClean="0"/>
              <a:t>Technology:</a:t>
            </a:r>
          </a:p>
          <a:p>
            <a:pPr marL="0" indent="0">
              <a:buFont typeface="Wingdings 2" pitchFamily="17" charset="2"/>
              <a:buNone/>
              <a:defRPr/>
            </a:pPr>
            <a:r>
              <a:rPr lang="en-US" dirty="0" smtClean="0"/>
              <a:t>Computer-based assessment system (</a:t>
            </a:r>
            <a:r>
              <a:rPr lang="en-US" dirty="0" err="1" smtClean="0"/>
              <a:t>CbAS</a:t>
            </a:r>
            <a:r>
              <a:rPr lang="en-US" dirty="0" smtClean="0"/>
              <a:t>), which can grade essays based on text length, errors in vocabulary, sentence structure, lexical complexity, etc.</a:t>
            </a:r>
            <a:endParaRPr lang="en-US" dirty="0"/>
          </a:p>
        </p:txBody>
      </p:sp>
      <p:sp>
        <p:nvSpPr>
          <p:cNvPr id="10244"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D9DF48C3-E884-4EA2-9A22-129FAAE07F68}" type="slidenum">
              <a:rPr lang="en-US" smtClean="0"/>
              <a:pPr/>
              <a:t>5</a:t>
            </a:fld>
            <a:endParaRPr lang="en-US"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z="3600" smtClean="0">
                <a:solidFill>
                  <a:schemeClr val="tx1"/>
                </a:solidFill>
                <a:ea typeface="ＭＳ Ｐゴシック" pitchFamily="17" charset="-128"/>
              </a:rPr>
              <a:t>The General Multiple Linear Model</a:t>
            </a:r>
          </a:p>
        </p:txBody>
      </p:sp>
      <p:sp>
        <p:nvSpPr>
          <p:cNvPr id="14340" name="Content Placeholder 2"/>
          <p:cNvSpPr>
            <a:spLocks noGrp="1"/>
          </p:cNvSpPr>
          <p:nvPr>
            <p:ph sz="quarter" idx="1"/>
          </p:nvPr>
        </p:nvSpPr>
        <p:spPr/>
        <p:txBody>
          <a:bodyPr/>
          <a:lstStyle/>
          <a:p>
            <a:pPr eaLnBrk="1" hangingPunct="1">
              <a:defRPr/>
            </a:pPr>
            <a:endParaRPr lang="en-US" dirty="0" smtClean="0">
              <a:ea typeface="ＭＳ Ｐゴシック" pitchFamily="17" charset="-128"/>
            </a:endParaRPr>
          </a:p>
          <a:p>
            <a:pPr eaLnBrk="1" hangingPunct="1">
              <a:defRPr/>
            </a:pPr>
            <a:endParaRPr lang="en-US" dirty="0" smtClean="0">
              <a:ea typeface="ＭＳ Ｐゴシック" pitchFamily="17" charset="-128"/>
            </a:endParaRPr>
          </a:p>
          <a:p>
            <a:pPr eaLnBrk="1" hangingPunct="1">
              <a:defRPr/>
            </a:pPr>
            <a:endParaRPr lang="en-US" dirty="0">
              <a:ea typeface="ＭＳ Ｐゴシック" pitchFamily="17" charset="-128"/>
            </a:endParaRPr>
          </a:p>
          <a:p>
            <a:pPr eaLnBrk="1" hangingPunct="1">
              <a:defRPr/>
            </a:pPr>
            <a:r>
              <a:rPr lang="fr-FR" sz="2400" dirty="0" smtClean="0">
                <a:latin typeface="Times New Roman" pitchFamily="18" charset="0"/>
                <a:cs typeface="Times New Roman" pitchFamily="18" charset="0"/>
              </a:rPr>
              <a:t>y – </a:t>
            </a:r>
            <a:r>
              <a:rPr lang="fr-FR" sz="2400" dirty="0" err="1" smtClean="0">
                <a:latin typeface="Times New Roman" pitchFamily="18" charset="0"/>
                <a:cs typeface="Times New Roman" pitchFamily="18" charset="0"/>
              </a:rPr>
              <a:t>dependent</a:t>
            </a:r>
            <a:r>
              <a:rPr lang="fr-FR" sz="2400" dirty="0" smtClean="0">
                <a:latin typeface="Times New Roman" pitchFamily="18" charset="0"/>
                <a:cs typeface="Times New Roman" pitchFamily="18" charset="0"/>
              </a:rPr>
              <a:t> (</a:t>
            </a:r>
            <a:r>
              <a:rPr lang="fr-FR" sz="2400" dirty="0" err="1" smtClean="0">
                <a:latin typeface="Times New Roman" pitchFamily="18" charset="0"/>
                <a:cs typeface="Times New Roman" pitchFamily="18" charset="0"/>
              </a:rPr>
              <a:t>response</a:t>
            </a:r>
            <a:r>
              <a:rPr lang="fr-FR" sz="2400" dirty="0" smtClean="0">
                <a:latin typeface="Times New Roman" pitchFamily="18" charset="0"/>
                <a:cs typeface="Times New Roman" pitchFamily="18" charset="0"/>
              </a:rPr>
              <a:t>, </a:t>
            </a:r>
            <a:r>
              <a:rPr lang="fr-FR" sz="2400" dirty="0" err="1" smtClean="0">
                <a:latin typeface="Times New Roman" pitchFamily="18" charset="0"/>
                <a:cs typeface="Times New Roman" pitchFamily="18" charset="0"/>
              </a:rPr>
              <a:t>outcome</a:t>
            </a:r>
            <a:r>
              <a:rPr lang="fr-FR" sz="2400" dirty="0" smtClean="0">
                <a:latin typeface="Times New Roman" pitchFamily="18" charset="0"/>
                <a:cs typeface="Times New Roman" pitchFamily="18" charset="0"/>
              </a:rPr>
              <a:t>) variable.</a:t>
            </a:r>
          </a:p>
          <a:p>
            <a:pPr eaLnBrk="1" hangingPunct="1">
              <a:defRPr/>
            </a:pPr>
            <a:r>
              <a:rPr lang="fr-FR" sz="2400" dirty="0">
                <a:latin typeface="Times New Roman" pitchFamily="18" charset="0"/>
                <a:cs typeface="Times New Roman" pitchFamily="18" charset="0"/>
              </a:rPr>
              <a:t>x</a:t>
            </a:r>
            <a:r>
              <a:rPr lang="fr-FR" sz="2400" baseline="-25000" dirty="0" smtClean="0">
                <a:latin typeface="Times New Roman" pitchFamily="18" charset="0"/>
                <a:cs typeface="Times New Roman" pitchFamily="18" charset="0"/>
              </a:rPr>
              <a:t>1</a:t>
            </a:r>
            <a:r>
              <a:rPr lang="fr-FR" sz="2400" dirty="0" smtClean="0">
                <a:latin typeface="Times New Roman" pitchFamily="18" charset="0"/>
                <a:cs typeface="Times New Roman" pitchFamily="18" charset="0"/>
              </a:rPr>
              <a:t>, x</a:t>
            </a:r>
            <a:r>
              <a:rPr lang="fr-FR" sz="2400" baseline="-25000" dirty="0" smtClean="0">
                <a:latin typeface="Times New Roman" pitchFamily="18" charset="0"/>
                <a:cs typeface="Times New Roman" pitchFamily="18" charset="0"/>
              </a:rPr>
              <a:t>2</a:t>
            </a:r>
            <a:r>
              <a:rPr lang="fr-FR" sz="2400" dirty="0" smtClean="0">
                <a:latin typeface="Times New Roman" pitchFamily="18" charset="0"/>
                <a:cs typeface="Times New Roman" pitchFamily="18" charset="0"/>
              </a:rPr>
              <a:t>, …, x</a:t>
            </a:r>
            <a:r>
              <a:rPr lang="fr-FR" sz="2400" baseline="-25000" dirty="0" smtClean="0">
                <a:latin typeface="Times New Roman" pitchFamily="18" charset="0"/>
                <a:cs typeface="Times New Roman" pitchFamily="18" charset="0"/>
              </a:rPr>
              <a:t>k</a:t>
            </a:r>
            <a:r>
              <a:rPr lang="fr-FR" sz="2400" dirty="0" smtClean="0">
                <a:latin typeface="Times New Roman" pitchFamily="18" charset="0"/>
                <a:cs typeface="Times New Roman" pitchFamily="18" charset="0"/>
              </a:rPr>
              <a:t> -  </a:t>
            </a:r>
            <a:r>
              <a:rPr lang="fr-FR" sz="2400" dirty="0" err="1" smtClean="0">
                <a:latin typeface="Times New Roman" pitchFamily="18" charset="0"/>
                <a:cs typeface="Times New Roman" pitchFamily="18" charset="0"/>
              </a:rPr>
              <a:t>independent</a:t>
            </a:r>
            <a:r>
              <a:rPr lang="fr-FR" sz="2400" dirty="0" smtClean="0">
                <a:latin typeface="Times New Roman" pitchFamily="18" charset="0"/>
                <a:cs typeface="Times New Roman" pitchFamily="18" charset="0"/>
              </a:rPr>
              <a:t> (</a:t>
            </a:r>
            <a:r>
              <a:rPr lang="fr-FR" sz="2400" dirty="0" err="1" smtClean="0">
                <a:latin typeface="Times New Roman" pitchFamily="18" charset="0"/>
                <a:cs typeface="Times New Roman" pitchFamily="18" charset="0"/>
              </a:rPr>
              <a:t>predictor</a:t>
            </a:r>
            <a:r>
              <a:rPr lang="fr-FR" sz="2400" dirty="0" smtClean="0">
                <a:latin typeface="Times New Roman" pitchFamily="18" charset="0"/>
                <a:cs typeface="Times New Roman" pitchFamily="18" charset="0"/>
              </a:rPr>
              <a:t>, </a:t>
            </a:r>
            <a:r>
              <a:rPr lang="fr-FR" sz="2400" dirty="0" err="1" smtClean="0">
                <a:latin typeface="Times New Roman" pitchFamily="18" charset="0"/>
                <a:cs typeface="Times New Roman" pitchFamily="18" charset="0"/>
              </a:rPr>
              <a:t>explanatory</a:t>
            </a:r>
            <a:r>
              <a:rPr lang="fr-FR" sz="2400" dirty="0" smtClean="0">
                <a:latin typeface="Times New Roman" pitchFamily="18" charset="0"/>
                <a:cs typeface="Times New Roman" pitchFamily="18" charset="0"/>
              </a:rPr>
              <a:t>) variables.</a:t>
            </a:r>
          </a:p>
          <a:p>
            <a:pPr eaLnBrk="1" hangingPunct="1">
              <a:defRPr/>
            </a:pPr>
            <a:r>
              <a:rPr lang="en-US" sz="2400" dirty="0">
                <a:latin typeface="Times New Roman" pitchFamily="18" charset="0"/>
                <a:cs typeface="Times New Roman" pitchFamily="18" charset="0"/>
              </a:rPr>
              <a:t>β</a:t>
            </a:r>
            <a:r>
              <a:rPr lang="en-US" sz="2400" baseline="-25000" dirty="0" smtClean="0">
                <a:latin typeface="Times New Roman" pitchFamily="18" charset="0"/>
                <a:cs typeface="Times New Roman" pitchFamily="18" charset="0"/>
              </a:rPr>
              <a:t>0</a:t>
            </a:r>
            <a:r>
              <a:rPr lang="en-US" sz="2400" dirty="0" smtClean="0">
                <a:latin typeface="Times New Roman" pitchFamily="18" charset="0"/>
                <a:cs typeface="Times New Roman" pitchFamily="18" charset="0"/>
              </a:rPr>
              <a:t> – intercept.</a:t>
            </a:r>
          </a:p>
          <a:p>
            <a:pPr eaLnBrk="1" hangingPunct="1">
              <a:defRPr/>
            </a:pPr>
            <a:r>
              <a:rPr lang="en-US" sz="2400" dirty="0" smtClean="0">
                <a:latin typeface="Times New Roman" pitchFamily="18" charset="0"/>
                <a:cs typeface="Times New Roman" pitchFamily="18" charset="0"/>
              </a:rPr>
              <a:t>β</a:t>
            </a:r>
            <a:r>
              <a:rPr lang="en-US" sz="2400" baseline="-250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β</a:t>
            </a:r>
            <a:r>
              <a:rPr lang="en-US" sz="2400" baseline="-25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 β</a:t>
            </a:r>
            <a:r>
              <a:rPr lang="en-US" sz="2400" baseline="-25000" dirty="0" smtClean="0">
                <a:latin typeface="Times New Roman" pitchFamily="18" charset="0"/>
                <a:cs typeface="Times New Roman" pitchFamily="18" charset="0"/>
              </a:rPr>
              <a:t>k</a:t>
            </a:r>
            <a:r>
              <a:rPr lang="en-US" sz="2400" dirty="0" smtClean="0">
                <a:latin typeface="Times New Roman" pitchFamily="18" charset="0"/>
                <a:cs typeface="Times New Roman" pitchFamily="18" charset="0"/>
              </a:rPr>
              <a:t> – partial slopes or partial regression coefficients.</a:t>
            </a:r>
          </a:p>
          <a:p>
            <a:pPr eaLnBrk="1" hangingPunct="1">
              <a:defRPr/>
            </a:pPr>
            <a:r>
              <a:rPr lang="el-GR" sz="2400" dirty="0">
                <a:latin typeface="Times New Roman" pitchFamily="18" charset="0"/>
                <a:cs typeface="Times New Roman" pitchFamily="18" charset="0"/>
              </a:rPr>
              <a:t>ε</a:t>
            </a:r>
            <a:r>
              <a:rPr lang="en-US" sz="2400" dirty="0" smtClean="0">
                <a:latin typeface="Times New Roman" pitchFamily="18" charset="0"/>
                <a:cs typeface="Times New Roman" pitchFamily="18" charset="0"/>
              </a:rPr>
              <a:t> – error terms.</a:t>
            </a:r>
            <a:endParaRPr lang="en-US" sz="2400" dirty="0">
              <a:latin typeface="Times New Roman" pitchFamily="18" charset="0"/>
              <a:cs typeface="Times New Roman" pitchFamily="18" charset="0"/>
            </a:endParaRPr>
          </a:p>
          <a:p>
            <a:pPr marL="0" indent="0" eaLnBrk="1" hangingPunct="1">
              <a:buFont typeface="Wingdings 2" pitchFamily="17" charset="2"/>
              <a:buNone/>
              <a:defRPr/>
            </a:pPr>
            <a:endParaRPr lang="en-US" dirty="0"/>
          </a:p>
          <a:p>
            <a:pPr eaLnBrk="1" hangingPunct="1">
              <a:defRPr/>
            </a:pPr>
            <a:endParaRPr lang="en-US" dirty="0"/>
          </a:p>
          <a:p>
            <a:pPr eaLnBrk="1" hangingPunct="1">
              <a:defRPr/>
            </a:pPr>
            <a:endParaRPr lang="en-US" dirty="0" smtClean="0">
              <a:ea typeface="ＭＳ Ｐゴシック" pitchFamily="17" charset="-128"/>
            </a:endParaRPr>
          </a:p>
        </p:txBody>
      </p:sp>
      <p:sp>
        <p:nvSpPr>
          <p:cNvPr id="11269"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1C194319-7D18-4F3F-8BE5-FFDCD358FF38}" type="slidenum">
              <a:rPr lang="en-US" smtClean="0"/>
              <a:pPr/>
              <a:t>6</a:t>
            </a:fld>
            <a:endParaRPr lang="en-US" smtClean="0"/>
          </a:p>
        </p:txBody>
      </p:sp>
      <p:sp>
        <p:nvSpPr>
          <p:cNvPr id="6" name="Rectangle 8"/>
          <p:cNvSpPr>
            <a:spLocks noChangeArrowheads="1"/>
          </p:cNvSpPr>
          <p:nvPr/>
        </p:nvSpPr>
        <p:spPr bwMode="auto">
          <a:xfrm>
            <a:off x="1151620" y="1592796"/>
            <a:ext cx="6876764" cy="1040867"/>
          </a:xfrm>
          <a:prstGeom prst="rect">
            <a:avLst/>
          </a:prstGeom>
          <a:solidFill>
            <a:schemeClr val="accent2">
              <a:lumMod val="20000"/>
              <a:lumOff val="80000"/>
            </a:schemeClr>
          </a:soli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solidFill>
                <a:srgbClr val="00B0F0"/>
              </a:solidFill>
            </a:endParaRPr>
          </a:p>
        </p:txBody>
      </p:sp>
      <p:graphicFrame>
        <p:nvGraphicFramePr>
          <p:cNvPr id="11268" name="Object 2"/>
          <p:cNvGraphicFramePr>
            <a:graphicFrameLocks noChangeAspect="1"/>
          </p:cNvGraphicFramePr>
          <p:nvPr>
            <p:extLst>
              <p:ext uri="{D42A27DB-BD31-4B8C-83A1-F6EECF244321}">
                <p14:modId xmlns:p14="http://schemas.microsoft.com/office/powerpoint/2010/main" val="2069795546"/>
              </p:ext>
            </p:extLst>
          </p:nvPr>
        </p:nvGraphicFramePr>
        <p:xfrm>
          <a:off x="1542002" y="1841888"/>
          <a:ext cx="6096000" cy="619125"/>
        </p:xfrm>
        <a:graphic>
          <a:graphicData uri="http://schemas.openxmlformats.org/presentationml/2006/ole">
            <mc:AlternateContent xmlns:mc="http://schemas.openxmlformats.org/markup-compatibility/2006">
              <mc:Choice xmlns:v="urn:schemas-microsoft-com:vml" Requires="v">
                <p:oleObj spid="_x0000_s11298" name="Equation" r:id="rId3" imgW="2247840" imgH="228600" progId="Equation.3">
                  <p:embed/>
                </p:oleObj>
              </mc:Choice>
              <mc:Fallback>
                <p:oleObj name="Equation" r:id="rId3" imgW="2247840" imgH="228600" progId="Equation.3">
                  <p:embed/>
                  <p:pic>
                    <p:nvPicPr>
                      <p:cNvPr id="0" name="Object 2"/>
                      <p:cNvPicPr>
                        <a:picLocks noChangeAspect="1" noChangeArrowheads="1"/>
                      </p:cNvPicPr>
                      <p:nvPr/>
                    </p:nvPicPr>
                    <p:blipFill>
                      <a:blip r:embed="rId4"/>
                      <a:srcRect/>
                      <a:stretch>
                        <a:fillRect/>
                      </a:stretch>
                    </p:blipFill>
                    <p:spPr bwMode="auto">
                      <a:xfrm>
                        <a:off x="1542002" y="1841888"/>
                        <a:ext cx="6096000"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4" name="Rectangle 8"/>
          <p:cNvSpPr>
            <a:spLocks noChangeArrowheads="1"/>
          </p:cNvSpPr>
          <p:nvPr/>
        </p:nvSpPr>
        <p:spPr bwMode="auto">
          <a:xfrm>
            <a:off x="1691680" y="1592796"/>
            <a:ext cx="5490170" cy="1040867"/>
          </a:xfrm>
          <a:prstGeom prst="rect">
            <a:avLst/>
          </a:prstGeom>
          <a:solidFill>
            <a:schemeClr val="accent2">
              <a:lumMod val="20000"/>
              <a:lumOff val="80000"/>
            </a:schemeClr>
          </a:solidFill>
          <a:ln w="6350">
            <a:solidFill>
              <a:schemeClr val="tx1"/>
            </a:solidFill>
            <a:miter lim="800000"/>
            <a:headEnd/>
            <a:tailEnd/>
          </a:ln>
          <a:effectLst/>
        </p:spPr>
        <p:txBody>
          <a:bodyPr wrap="none" anchor="ctr"/>
          <a:lstStyle/>
          <a:p>
            <a:pPr>
              <a:defRPr/>
            </a:pPr>
            <a:endParaRPr lang="en-US"/>
          </a:p>
        </p:txBody>
      </p:sp>
      <p:sp>
        <p:nvSpPr>
          <p:cNvPr id="65542" name="Rectangle 6"/>
          <p:cNvSpPr>
            <a:spLocks noChangeArrowheads="1"/>
          </p:cNvSpPr>
          <p:nvPr/>
        </p:nvSpPr>
        <p:spPr bwMode="auto">
          <a:xfrm>
            <a:off x="685800" y="2859088"/>
            <a:ext cx="7772400" cy="1371600"/>
          </a:xfrm>
          <a:prstGeom prst="rect">
            <a:avLst/>
          </a:prstGeom>
          <a:noFill/>
          <a:ln w="12700">
            <a:noFill/>
            <a:miter lim="800000"/>
            <a:headEnd/>
            <a:tailEnd/>
          </a:ln>
          <a:effectLst/>
        </p:spPr>
        <p:txBody>
          <a:bodyPr lIns="90488" tIns="44450" rIns="90488" bIns="44450"/>
          <a:lstStyle/>
          <a:p>
            <a:pPr marL="342900" indent="-342900" algn="l">
              <a:spcBef>
                <a:spcPct val="20000"/>
              </a:spcBef>
              <a:buClr>
                <a:srgbClr val="66FFFF"/>
              </a:buClr>
              <a:buSzPct val="75000"/>
              <a:buFont typeface="Monotype Sorts" pitchFamily="2" charset="2"/>
              <a:buNone/>
              <a:defRPr/>
            </a:pPr>
            <a:r>
              <a:rPr lang="en-US" sz="2400" dirty="0">
                <a:latin typeface="Book Antiqua" pitchFamily="18" charset="0"/>
              </a:rPr>
              <a:t>	</a:t>
            </a:r>
            <a:r>
              <a:rPr lang="en-US" sz="2400" dirty="0" smtClean="0">
                <a:latin typeface="Book Antiqua" pitchFamily="18" charset="0"/>
              </a:rPr>
              <a:t>Least squares method is </a:t>
            </a:r>
            <a:r>
              <a:rPr lang="en-US" sz="2400" dirty="0">
                <a:latin typeface="Book Antiqua" pitchFamily="18" charset="0"/>
              </a:rPr>
              <a:t>used to compute sample statistics </a:t>
            </a:r>
            <a:r>
              <a:rPr lang="en-US" sz="2400" i="1" dirty="0">
                <a:latin typeface="Book Antiqua" pitchFamily="18" charset="0"/>
              </a:rPr>
              <a:t>b</a:t>
            </a:r>
            <a:r>
              <a:rPr lang="en-US" sz="2400" baseline="-25000" dirty="0">
                <a:latin typeface="Book Antiqua" pitchFamily="18" charset="0"/>
              </a:rPr>
              <a:t>0</a:t>
            </a:r>
            <a:r>
              <a:rPr lang="en-US" sz="2400" dirty="0">
                <a:latin typeface="Book Antiqua" pitchFamily="18" charset="0"/>
              </a:rPr>
              <a:t>, </a:t>
            </a:r>
            <a:r>
              <a:rPr lang="en-US" sz="2400" i="1" dirty="0">
                <a:latin typeface="Book Antiqua" pitchFamily="18" charset="0"/>
              </a:rPr>
              <a:t>b</a:t>
            </a:r>
            <a:r>
              <a:rPr lang="en-US" sz="2400" baseline="-25000" dirty="0">
                <a:latin typeface="Book Antiqua" pitchFamily="18" charset="0"/>
              </a:rPr>
              <a:t>1</a:t>
            </a:r>
            <a:r>
              <a:rPr lang="en-US" sz="2400" dirty="0">
                <a:latin typeface="Book Antiqua" pitchFamily="18" charset="0"/>
              </a:rPr>
              <a:t>, </a:t>
            </a:r>
            <a:r>
              <a:rPr lang="en-US" sz="2400" i="1" dirty="0">
                <a:latin typeface="Book Antiqua" pitchFamily="18" charset="0"/>
              </a:rPr>
              <a:t>b</a:t>
            </a:r>
            <a:r>
              <a:rPr lang="en-US" sz="2400" baseline="-25000" dirty="0">
                <a:latin typeface="Book Antiqua" pitchFamily="18" charset="0"/>
              </a:rPr>
              <a:t>2</a:t>
            </a:r>
            <a:r>
              <a:rPr lang="en-US" sz="2400" i="1" dirty="0">
                <a:latin typeface="Book Antiqua" pitchFamily="18" charset="0"/>
              </a:rPr>
              <a:t>, </a:t>
            </a:r>
            <a:r>
              <a:rPr lang="en-US" sz="2400" dirty="0">
                <a:latin typeface="Book Antiqua" pitchFamily="18" charset="0"/>
              </a:rPr>
              <a:t>. . . , </a:t>
            </a:r>
            <a:r>
              <a:rPr lang="en-US" sz="2400" i="1" dirty="0" err="1" smtClean="0">
                <a:latin typeface="Book Antiqua" pitchFamily="18" charset="0"/>
              </a:rPr>
              <a:t>b</a:t>
            </a:r>
            <a:r>
              <a:rPr lang="en-US" sz="2400" i="1" baseline="-25000" dirty="0" err="1">
                <a:latin typeface="Book Antiqua" pitchFamily="18" charset="0"/>
              </a:rPr>
              <a:t>k</a:t>
            </a:r>
            <a:r>
              <a:rPr lang="en-US" sz="2400" dirty="0" smtClean="0">
                <a:latin typeface="Book Antiqua" pitchFamily="18" charset="0"/>
              </a:rPr>
              <a:t> </a:t>
            </a:r>
            <a:r>
              <a:rPr lang="en-US" sz="2400" dirty="0">
                <a:latin typeface="Book Antiqua" pitchFamily="18" charset="0"/>
              </a:rPr>
              <a:t>that are used as the point estimators of the parameters </a:t>
            </a:r>
            <a:r>
              <a:rPr lang="en-US" sz="2400" i="1" dirty="0">
                <a:latin typeface="Symbol" pitchFamily="18" charset="2"/>
              </a:rPr>
              <a:t>b</a:t>
            </a:r>
            <a:r>
              <a:rPr lang="en-US" sz="2400" baseline="-25000" dirty="0">
                <a:latin typeface="Book Antiqua" pitchFamily="18" charset="0"/>
              </a:rPr>
              <a:t>0</a:t>
            </a:r>
            <a:r>
              <a:rPr lang="en-US" sz="2400" dirty="0">
                <a:latin typeface="Book Antiqua" pitchFamily="18" charset="0"/>
              </a:rPr>
              <a:t>, </a:t>
            </a:r>
            <a:r>
              <a:rPr lang="en-US" sz="2400" i="1" dirty="0">
                <a:latin typeface="Symbol" pitchFamily="18" charset="2"/>
              </a:rPr>
              <a:t>b</a:t>
            </a:r>
            <a:r>
              <a:rPr lang="en-US" sz="2400" baseline="-25000" dirty="0">
                <a:latin typeface="Book Antiqua" pitchFamily="18" charset="0"/>
              </a:rPr>
              <a:t>1</a:t>
            </a:r>
            <a:r>
              <a:rPr lang="en-US" sz="2400" dirty="0">
                <a:latin typeface="Book Antiqua" pitchFamily="18" charset="0"/>
              </a:rPr>
              <a:t>, </a:t>
            </a:r>
            <a:r>
              <a:rPr lang="en-US" sz="2400" i="1" dirty="0">
                <a:latin typeface="Symbol" pitchFamily="18" charset="2"/>
              </a:rPr>
              <a:t>b</a:t>
            </a:r>
            <a:r>
              <a:rPr lang="en-US" sz="2400" baseline="-25000" dirty="0">
                <a:latin typeface="Book Antiqua" pitchFamily="18" charset="0"/>
              </a:rPr>
              <a:t>2</a:t>
            </a:r>
            <a:r>
              <a:rPr lang="en-US" sz="2400" dirty="0">
                <a:latin typeface="Book Antiqua" pitchFamily="18" charset="0"/>
              </a:rPr>
              <a:t>, . . . , </a:t>
            </a:r>
            <a:r>
              <a:rPr lang="en-US" sz="2400" i="1" dirty="0" smtClean="0">
                <a:latin typeface="Symbol" pitchFamily="18" charset="2"/>
              </a:rPr>
              <a:t>b</a:t>
            </a:r>
            <a:r>
              <a:rPr lang="en-US" sz="2400" i="1" baseline="-25000" dirty="0">
                <a:latin typeface="Book Antiqua" pitchFamily="18" charset="0"/>
              </a:rPr>
              <a:t>k</a:t>
            </a:r>
            <a:r>
              <a:rPr lang="en-US" sz="2400" dirty="0" smtClean="0">
                <a:latin typeface="Book Antiqua" pitchFamily="18" charset="0"/>
              </a:rPr>
              <a:t>.</a:t>
            </a:r>
            <a:endParaRPr lang="en-US" sz="2400" i="1" baseline="-25000" dirty="0">
              <a:latin typeface="Book Antiqua" pitchFamily="18" charset="0"/>
            </a:endParaRPr>
          </a:p>
        </p:txBody>
      </p:sp>
      <p:sp>
        <p:nvSpPr>
          <p:cNvPr id="65541" name="Rectangle 5"/>
          <p:cNvSpPr>
            <a:spLocks noChangeArrowheads="1"/>
          </p:cNvSpPr>
          <p:nvPr/>
        </p:nvSpPr>
        <p:spPr bwMode="auto">
          <a:xfrm>
            <a:off x="665821" y="368660"/>
            <a:ext cx="7772400" cy="681037"/>
          </a:xfrm>
          <a:prstGeom prst="rect">
            <a:avLst/>
          </a:prstGeom>
          <a:noFill/>
          <a:ln w="12700">
            <a:noFill/>
            <a:miter lim="800000"/>
            <a:headEnd/>
            <a:tailEnd/>
          </a:ln>
          <a:effectLst/>
        </p:spPr>
        <p:txBody>
          <a:bodyPr lIns="90488" tIns="44450" rIns="90488" bIns="44450" anchor="ctr"/>
          <a:lstStyle/>
          <a:p>
            <a:pPr>
              <a:defRPr/>
            </a:pPr>
            <a:r>
              <a:rPr lang="en-US" sz="2800" dirty="0" smtClean="0">
                <a:latin typeface="Arial" pitchFamily="34" charset="0"/>
                <a:cs typeface="Arial" pitchFamily="34" charset="0"/>
              </a:rPr>
              <a:t>Estimated (fitted) </a:t>
            </a:r>
            <a:r>
              <a:rPr lang="en-US" sz="2800" dirty="0">
                <a:latin typeface="Arial" pitchFamily="34" charset="0"/>
                <a:cs typeface="Arial" pitchFamily="34" charset="0"/>
              </a:rPr>
              <a:t>Multiple Regression </a:t>
            </a:r>
            <a:r>
              <a:rPr lang="en-US" sz="2800" dirty="0" smtClean="0">
                <a:latin typeface="Arial" pitchFamily="34" charset="0"/>
                <a:cs typeface="Arial" pitchFamily="34" charset="0"/>
              </a:rPr>
              <a:t>Model</a:t>
            </a:r>
            <a:endParaRPr lang="en-US" sz="2800" dirty="0">
              <a:latin typeface="Arial" pitchFamily="34" charset="0"/>
              <a:cs typeface="Arial" pitchFamily="34" charset="0"/>
            </a:endParaRPr>
          </a:p>
        </p:txBody>
      </p:sp>
      <p:grpSp>
        <p:nvGrpSpPr>
          <p:cNvPr id="3077" name="Group 10"/>
          <p:cNvGrpSpPr>
            <a:grpSpLocks/>
          </p:cNvGrpSpPr>
          <p:nvPr/>
        </p:nvGrpSpPr>
        <p:grpSpPr bwMode="auto">
          <a:xfrm>
            <a:off x="1907704" y="1846263"/>
            <a:ext cx="4758225" cy="601662"/>
            <a:chOff x="658" y="2804"/>
            <a:chExt cx="2377" cy="379"/>
          </a:xfrm>
        </p:grpSpPr>
        <p:sp>
          <p:nvSpPr>
            <p:cNvPr id="65543" name="Rectangle 7"/>
            <p:cNvSpPr>
              <a:spLocks noChangeArrowheads="1"/>
            </p:cNvSpPr>
            <p:nvPr/>
          </p:nvSpPr>
          <p:spPr bwMode="auto">
            <a:xfrm>
              <a:off x="663" y="2804"/>
              <a:ext cx="211" cy="248"/>
            </a:xfrm>
            <a:prstGeom prst="rect">
              <a:avLst/>
            </a:prstGeom>
            <a:noFill/>
            <a:ln w="12700">
              <a:noFill/>
              <a:miter lim="800000"/>
              <a:headEnd/>
              <a:tailEnd/>
            </a:ln>
            <a:effectLst/>
          </p:spPr>
          <p:txBody>
            <a:bodyPr wrap="none" lIns="90488" tIns="44450" rIns="90488" bIns="44450">
              <a:spAutoFit/>
            </a:bodyPr>
            <a:lstStyle/>
            <a:p>
              <a:pPr algn="l">
                <a:defRPr/>
              </a:pPr>
              <a:r>
                <a:rPr lang="en-US" sz="2000">
                  <a:effectLst>
                    <a:outerShdw blurRad="38100" dist="38100" dir="2700000" algn="tl">
                      <a:srgbClr val="000000"/>
                    </a:outerShdw>
                  </a:effectLst>
                  <a:latin typeface="Book Antiqua" pitchFamily="18" charset="0"/>
                </a:rPr>
                <a:t>^</a:t>
              </a:r>
            </a:p>
          </p:txBody>
        </p:sp>
        <p:sp>
          <p:nvSpPr>
            <p:cNvPr id="65545" name="Text Box 9"/>
            <p:cNvSpPr txBox="1">
              <a:spLocks noChangeArrowheads="1"/>
            </p:cNvSpPr>
            <p:nvPr/>
          </p:nvSpPr>
          <p:spPr bwMode="auto">
            <a:xfrm>
              <a:off x="658" y="2853"/>
              <a:ext cx="2377" cy="330"/>
            </a:xfrm>
            <a:prstGeom prst="rect">
              <a:avLst/>
            </a:prstGeom>
            <a:noFill/>
            <a:ln w="12700">
              <a:noFill/>
              <a:miter lim="800000"/>
              <a:headEnd/>
              <a:tailEnd/>
            </a:ln>
            <a:effectLst/>
          </p:spPr>
          <p:txBody>
            <a:bodyPr wrap="none">
              <a:spAutoFit/>
            </a:bodyPr>
            <a:lstStyle/>
            <a:p>
              <a:pPr>
                <a:defRPr/>
              </a:pPr>
              <a:r>
                <a:rPr lang="en-US" sz="2800" i="1" dirty="0">
                  <a:effectLst>
                    <a:outerShdw blurRad="38100" dist="38100" dir="2700000" algn="tl">
                      <a:srgbClr val="000000"/>
                    </a:outerShdw>
                  </a:effectLst>
                  <a:latin typeface="Book Antiqua" pitchFamily="18" charset="0"/>
                </a:rPr>
                <a:t>y</a:t>
              </a:r>
              <a:r>
                <a:rPr lang="en-US" sz="2800" dirty="0">
                  <a:effectLst>
                    <a:outerShdw blurRad="38100" dist="38100" dir="2700000" algn="tl">
                      <a:srgbClr val="000000"/>
                    </a:outerShdw>
                  </a:effectLst>
                  <a:latin typeface="Book Antiqua" pitchFamily="18" charset="0"/>
                </a:rPr>
                <a:t> = </a:t>
              </a:r>
              <a:r>
                <a:rPr lang="en-US" sz="2800" i="1" dirty="0">
                  <a:effectLst>
                    <a:outerShdw blurRad="38100" dist="38100" dir="2700000" algn="tl">
                      <a:srgbClr val="000000"/>
                    </a:outerShdw>
                  </a:effectLst>
                  <a:latin typeface="Book Antiqua" pitchFamily="18" charset="0"/>
                </a:rPr>
                <a:t>b</a:t>
              </a:r>
              <a:r>
                <a:rPr lang="en-US" sz="2800" baseline="-25000" dirty="0">
                  <a:effectLst>
                    <a:outerShdw blurRad="38100" dist="38100" dir="2700000" algn="tl">
                      <a:srgbClr val="000000"/>
                    </a:outerShdw>
                  </a:effectLst>
                  <a:latin typeface="Book Antiqua" pitchFamily="18" charset="0"/>
                </a:rPr>
                <a:t>0</a:t>
              </a:r>
              <a:r>
                <a:rPr lang="en-US" sz="2800" dirty="0">
                  <a:effectLst>
                    <a:outerShdw blurRad="38100" dist="38100" dir="2700000" algn="tl">
                      <a:srgbClr val="000000"/>
                    </a:outerShdw>
                  </a:effectLst>
                  <a:latin typeface="Book Antiqua" pitchFamily="18" charset="0"/>
                </a:rPr>
                <a:t> + </a:t>
              </a:r>
              <a:r>
                <a:rPr lang="en-US" sz="2800" i="1" dirty="0">
                  <a:effectLst>
                    <a:outerShdw blurRad="38100" dist="38100" dir="2700000" algn="tl">
                      <a:srgbClr val="000000"/>
                    </a:outerShdw>
                  </a:effectLst>
                  <a:latin typeface="Book Antiqua" pitchFamily="18" charset="0"/>
                </a:rPr>
                <a:t>b</a:t>
              </a:r>
              <a:r>
                <a:rPr lang="en-US" sz="2800" baseline="-25000" dirty="0">
                  <a:effectLst>
                    <a:outerShdw blurRad="38100" dist="38100" dir="2700000" algn="tl">
                      <a:srgbClr val="000000"/>
                    </a:outerShdw>
                  </a:effectLst>
                  <a:latin typeface="Book Antiqua" pitchFamily="18" charset="0"/>
                </a:rPr>
                <a:t>1</a:t>
              </a:r>
              <a:r>
                <a:rPr lang="en-US" sz="2800" i="1" dirty="0">
                  <a:effectLst>
                    <a:outerShdw blurRad="38100" dist="38100" dir="2700000" algn="tl">
                      <a:srgbClr val="000000"/>
                    </a:outerShdw>
                  </a:effectLst>
                  <a:latin typeface="Book Antiqua" pitchFamily="18" charset="0"/>
                </a:rPr>
                <a:t>x</a:t>
              </a:r>
              <a:r>
                <a:rPr lang="en-US" sz="2800" baseline="-25000" dirty="0">
                  <a:effectLst>
                    <a:outerShdw blurRad="38100" dist="38100" dir="2700000" algn="tl">
                      <a:srgbClr val="000000"/>
                    </a:outerShdw>
                  </a:effectLst>
                  <a:latin typeface="Book Antiqua" pitchFamily="18" charset="0"/>
                </a:rPr>
                <a:t>1 </a:t>
              </a:r>
              <a:r>
                <a:rPr lang="en-US" sz="2800" dirty="0">
                  <a:effectLst>
                    <a:outerShdw blurRad="38100" dist="38100" dir="2700000" algn="tl">
                      <a:srgbClr val="000000"/>
                    </a:outerShdw>
                  </a:effectLst>
                  <a:latin typeface="Book Antiqua" pitchFamily="18" charset="0"/>
                </a:rPr>
                <a:t>+ </a:t>
              </a:r>
              <a:r>
                <a:rPr lang="en-US" sz="2800" i="1" dirty="0">
                  <a:effectLst>
                    <a:outerShdw blurRad="38100" dist="38100" dir="2700000" algn="tl">
                      <a:srgbClr val="000000"/>
                    </a:outerShdw>
                  </a:effectLst>
                  <a:latin typeface="Book Antiqua" pitchFamily="18" charset="0"/>
                </a:rPr>
                <a:t>b</a:t>
              </a:r>
              <a:r>
                <a:rPr lang="en-US" sz="2800" baseline="-25000" dirty="0">
                  <a:effectLst>
                    <a:outerShdw blurRad="38100" dist="38100" dir="2700000" algn="tl">
                      <a:srgbClr val="000000"/>
                    </a:outerShdw>
                  </a:effectLst>
                  <a:latin typeface="Book Antiqua" pitchFamily="18" charset="0"/>
                </a:rPr>
                <a:t>2</a:t>
              </a:r>
              <a:r>
                <a:rPr lang="en-US" sz="2800" i="1" dirty="0">
                  <a:effectLst>
                    <a:outerShdw blurRad="38100" dist="38100" dir="2700000" algn="tl">
                      <a:srgbClr val="000000"/>
                    </a:outerShdw>
                  </a:effectLst>
                  <a:latin typeface="Book Antiqua" pitchFamily="18" charset="0"/>
                </a:rPr>
                <a:t>x</a:t>
              </a:r>
              <a:r>
                <a:rPr lang="en-US" sz="2800" baseline="-25000" dirty="0">
                  <a:effectLst>
                    <a:outerShdw blurRad="38100" dist="38100" dir="2700000" algn="tl">
                      <a:srgbClr val="000000"/>
                    </a:outerShdw>
                  </a:effectLst>
                  <a:latin typeface="Book Antiqua" pitchFamily="18" charset="0"/>
                </a:rPr>
                <a:t>2 </a:t>
              </a:r>
              <a:r>
                <a:rPr lang="en-US" sz="2800" dirty="0">
                  <a:effectLst>
                    <a:outerShdw blurRad="38100" dist="38100" dir="2700000" algn="tl">
                      <a:srgbClr val="000000"/>
                    </a:outerShdw>
                  </a:effectLst>
                  <a:latin typeface="Book Antiqua" pitchFamily="18" charset="0"/>
                </a:rPr>
                <a:t>+ . . . + </a:t>
              </a:r>
              <a:r>
                <a:rPr lang="en-US" sz="2800" i="1" dirty="0" err="1" smtClean="0">
                  <a:effectLst>
                    <a:outerShdw blurRad="38100" dist="38100" dir="2700000" algn="tl">
                      <a:srgbClr val="000000"/>
                    </a:outerShdw>
                  </a:effectLst>
                  <a:latin typeface="Book Antiqua" pitchFamily="18" charset="0"/>
                </a:rPr>
                <a:t>b</a:t>
              </a:r>
              <a:r>
                <a:rPr lang="en-US" sz="2800" i="1" baseline="-25000" dirty="0" err="1" smtClean="0">
                  <a:effectLst>
                    <a:outerShdw blurRad="38100" dist="38100" dir="2700000" algn="tl">
                      <a:srgbClr val="000000"/>
                    </a:outerShdw>
                  </a:effectLst>
                  <a:latin typeface="Book Antiqua" pitchFamily="18" charset="0"/>
                </a:rPr>
                <a:t>k</a:t>
              </a:r>
              <a:r>
                <a:rPr lang="en-US" sz="2800" i="1" dirty="0" err="1" smtClean="0">
                  <a:effectLst>
                    <a:outerShdw blurRad="38100" dist="38100" dir="2700000" algn="tl">
                      <a:srgbClr val="000000"/>
                    </a:outerShdw>
                  </a:effectLst>
                  <a:latin typeface="Book Antiqua" pitchFamily="18" charset="0"/>
                </a:rPr>
                <a:t>x</a:t>
              </a:r>
              <a:r>
                <a:rPr lang="en-US" sz="2800" i="1" baseline="-25000" dirty="0" err="1">
                  <a:effectLst>
                    <a:outerShdw blurRad="38100" dist="38100" dir="2700000" algn="tl">
                      <a:srgbClr val="000000"/>
                    </a:outerShdw>
                  </a:effectLst>
                  <a:latin typeface="Book Antiqua" pitchFamily="18" charset="0"/>
                </a:rPr>
                <a:t>k</a:t>
              </a:r>
              <a:endParaRPr lang="en-US" sz="2800" i="1" baseline="-25000" dirty="0">
                <a:effectLst>
                  <a:outerShdw blurRad="38100" dist="38100" dir="2700000" algn="tl">
                    <a:srgbClr val="000000"/>
                  </a:outerShdw>
                </a:effectLst>
                <a:latin typeface="Book Antiqua" pitchFamily="18" charset="0"/>
              </a:endParaRPr>
            </a:p>
          </p:txBody>
        </p:sp>
      </p:grpSp>
    </p:spTree>
    <p:extLst>
      <p:ext uri="{BB962C8B-B14F-4D97-AF65-F5344CB8AC3E}">
        <p14:creationId xmlns:p14="http://schemas.microsoft.com/office/powerpoint/2010/main" val="19295960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03445" y="166688"/>
            <a:ext cx="7772400" cy="585787"/>
          </a:xfrm>
        </p:spPr>
        <p:txBody>
          <a:bodyPr/>
          <a:lstStyle/>
          <a:p>
            <a:pPr algn="ctr">
              <a:defRPr/>
            </a:pPr>
            <a:r>
              <a:rPr lang="en-US" sz="3600" dirty="0" smtClean="0">
                <a:solidFill>
                  <a:schemeClr val="tx1"/>
                </a:solidFill>
              </a:rPr>
              <a:t>Least Squares Method</a:t>
            </a:r>
          </a:p>
        </p:txBody>
      </p:sp>
      <p:sp>
        <p:nvSpPr>
          <p:cNvPr id="10243" name="Rectangle 3"/>
          <p:cNvSpPr>
            <a:spLocks noGrp="1" noChangeArrowheads="1"/>
          </p:cNvSpPr>
          <p:nvPr>
            <p:ph type="body" idx="1"/>
          </p:nvPr>
        </p:nvSpPr>
        <p:spPr>
          <a:xfrm>
            <a:off x="687388" y="1111250"/>
            <a:ext cx="3790950" cy="623888"/>
          </a:xfrm>
        </p:spPr>
        <p:txBody>
          <a:bodyPr/>
          <a:lstStyle/>
          <a:p>
            <a:pPr marL="0" indent="0">
              <a:buNone/>
              <a:defRPr/>
            </a:pPr>
            <a:r>
              <a:rPr lang="en-US" dirty="0" smtClean="0"/>
              <a:t>Least Squares Criterion</a:t>
            </a:r>
          </a:p>
        </p:txBody>
      </p:sp>
      <p:sp>
        <p:nvSpPr>
          <p:cNvPr id="10247" name="Rectangle 7"/>
          <p:cNvSpPr>
            <a:spLocks noChangeArrowheads="1"/>
          </p:cNvSpPr>
          <p:nvPr/>
        </p:nvSpPr>
        <p:spPr bwMode="auto">
          <a:xfrm>
            <a:off x="3314700" y="1752600"/>
            <a:ext cx="2571750" cy="762000"/>
          </a:xfrm>
          <a:prstGeom prst="rect">
            <a:avLst/>
          </a:prstGeom>
          <a:solidFill>
            <a:schemeClr val="accent1">
              <a:lumMod val="75000"/>
            </a:schemeClr>
          </a:solidFill>
          <a:ln w="6350">
            <a:solidFill>
              <a:schemeClr val="tx1"/>
            </a:solidFill>
            <a:miter lim="800000"/>
            <a:headEnd/>
            <a:tailEnd/>
          </a:ln>
          <a:effectLst/>
        </p:spPr>
        <p:txBody>
          <a:bodyPr wrap="none" anchor="ctr"/>
          <a:lstStyle/>
          <a:p>
            <a:pPr>
              <a:defRPr/>
            </a:pPr>
            <a:endParaRPr lang="en-US"/>
          </a:p>
        </p:txBody>
      </p:sp>
      <p:graphicFrame>
        <p:nvGraphicFramePr>
          <p:cNvPr id="5125" name="Object 6"/>
          <p:cNvGraphicFramePr>
            <a:graphicFrameLocks noChangeAspect="1"/>
          </p:cNvGraphicFramePr>
          <p:nvPr>
            <p:extLst>
              <p:ext uri="{D42A27DB-BD31-4B8C-83A1-F6EECF244321}">
                <p14:modId xmlns:p14="http://schemas.microsoft.com/office/powerpoint/2010/main" val="3717042849"/>
              </p:ext>
            </p:extLst>
          </p:nvPr>
        </p:nvGraphicFramePr>
        <p:xfrm>
          <a:off x="3568700" y="1908175"/>
          <a:ext cx="2120900" cy="434975"/>
        </p:xfrm>
        <a:graphic>
          <a:graphicData uri="http://schemas.openxmlformats.org/presentationml/2006/ole">
            <mc:AlternateContent xmlns:mc="http://schemas.openxmlformats.org/markup-compatibility/2006">
              <mc:Choice xmlns:v="urn:schemas-microsoft-com:vml" Requires="v">
                <p:oleObj spid="_x0000_s12315" name="Equation" r:id="rId4" imgW="2409808" imgH="485730" progId="Equation.DSMT4">
                  <p:embed/>
                </p:oleObj>
              </mc:Choice>
              <mc:Fallback>
                <p:oleObj name="Equation" r:id="rId4" imgW="2409808" imgH="48573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8700" y="1908175"/>
                        <a:ext cx="2120900" cy="434975"/>
                      </a:xfrm>
                      <a:prstGeom prst="rect">
                        <a:avLst/>
                      </a:prstGeom>
                      <a:noFill/>
                      <a:ln>
                        <a:noFill/>
                      </a:ln>
                      <a:effectLst>
                        <a:outerShdw dist="17961" dir="2700000" algn="ctr" rotWithShape="0">
                          <a:srgbClr val="000000"/>
                        </a:outerShdw>
                      </a:effectLst>
                    </p:spPr>
                  </p:pic>
                </p:oleObj>
              </mc:Fallback>
            </mc:AlternateContent>
          </a:graphicData>
        </a:graphic>
      </p:graphicFrame>
      <p:sp>
        <p:nvSpPr>
          <p:cNvPr id="10248" name="Rectangle 8"/>
          <p:cNvSpPr>
            <a:spLocks noChangeArrowheads="1"/>
          </p:cNvSpPr>
          <p:nvPr/>
        </p:nvSpPr>
        <p:spPr bwMode="auto">
          <a:xfrm>
            <a:off x="685800" y="2743200"/>
            <a:ext cx="5316538" cy="571500"/>
          </a:xfrm>
          <a:prstGeom prst="rect">
            <a:avLst/>
          </a:prstGeom>
          <a:noFill/>
          <a:ln w="12700">
            <a:noFill/>
            <a:miter lim="800000"/>
            <a:headEnd/>
            <a:tailEnd/>
          </a:ln>
          <a:effectLst/>
        </p:spPr>
        <p:txBody>
          <a:bodyPr wrap="none" anchor="ctr"/>
          <a:lstStyle/>
          <a:p>
            <a:pPr algn="l">
              <a:spcBef>
                <a:spcPct val="20000"/>
              </a:spcBef>
              <a:buClr>
                <a:srgbClr val="66FFFF"/>
              </a:buClr>
              <a:buSzPct val="75000"/>
              <a:defRPr/>
            </a:pPr>
            <a:r>
              <a:rPr lang="en-US" sz="2400" dirty="0" smtClean="0">
                <a:latin typeface="Book Antiqua" pitchFamily="18" charset="0"/>
              </a:rPr>
              <a:t>Computation </a:t>
            </a:r>
            <a:r>
              <a:rPr lang="en-US" sz="2400" dirty="0">
                <a:latin typeface="Book Antiqua" pitchFamily="18" charset="0"/>
              </a:rPr>
              <a:t>of Coefficient Values</a:t>
            </a:r>
            <a:endParaRPr lang="en-US" dirty="0">
              <a:latin typeface="Book Antiqua" pitchFamily="18" charset="0"/>
            </a:endParaRPr>
          </a:p>
        </p:txBody>
      </p:sp>
      <p:sp>
        <p:nvSpPr>
          <p:cNvPr id="10249" name="AutoShape 9"/>
          <p:cNvSpPr>
            <a:spLocks noChangeArrowheads="1"/>
          </p:cNvSpPr>
          <p:nvPr/>
        </p:nvSpPr>
        <p:spPr bwMode="auto">
          <a:xfrm rot="5400000">
            <a:off x="485775" y="1270000"/>
            <a:ext cx="244475" cy="155575"/>
          </a:xfrm>
          <a:prstGeom prst="triangle">
            <a:avLst>
              <a:gd name="adj" fmla="val 50000"/>
            </a:avLst>
          </a:prstGeom>
          <a:solidFill>
            <a:schemeClr val="accent2"/>
          </a:solidFill>
          <a:ln w="12700">
            <a:no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0250" name="AutoShape 10"/>
          <p:cNvSpPr>
            <a:spLocks noChangeArrowheads="1"/>
          </p:cNvSpPr>
          <p:nvPr/>
        </p:nvSpPr>
        <p:spPr bwMode="auto">
          <a:xfrm rot="5400000">
            <a:off x="485775" y="2965450"/>
            <a:ext cx="244475" cy="155575"/>
          </a:xfrm>
          <a:prstGeom prst="triangle">
            <a:avLst>
              <a:gd name="adj" fmla="val 50000"/>
            </a:avLst>
          </a:prstGeom>
          <a:solidFill>
            <a:schemeClr val="accent2"/>
          </a:solidFill>
          <a:ln w="12700">
            <a:no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0251" name="Text Box 11"/>
          <p:cNvSpPr txBox="1">
            <a:spLocks noChangeArrowheads="1"/>
          </p:cNvSpPr>
          <p:nvPr/>
        </p:nvSpPr>
        <p:spPr bwMode="auto">
          <a:xfrm>
            <a:off x="1241425" y="3309938"/>
            <a:ext cx="6896440" cy="1791260"/>
          </a:xfrm>
          <a:prstGeom prst="rect">
            <a:avLst/>
          </a:prstGeom>
          <a:noFill/>
          <a:ln w="12700">
            <a:noFill/>
            <a:miter lim="800000"/>
            <a:headEnd/>
            <a:tailEnd/>
          </a:ln>
          <a:effectLst/>
        </p:spPr>
        <p:txBody>
          <a:bodyPr wrap="none">
            <a:spAutoFit/>
          </a:bodyPr>
          <a:lstStyle/>
          <a:p>
            <a:pPr algn="l">
              <a:spcBef>
                <a:spcPct val="20000"/>
              </a:spcBef>
              <a:buClr>
                <a:srgbClr val="66FFFF"/>
              </a:buClr>
              <a:buSzPct val="75000"/>
              <a:buFont typeface="Monotype Sorts" pitchFamily="2" charset="2"/>
              <a:buNone/>
              <a:defRPr/>
            </a:pPr>
            <a:r>
              <a:rPr lang="en-US" sz="2400" dirty="0">
                <a:latin typeface="Book Antiqua" pitchFamily="18" charset="0"/>
              </a:rPr>
              <a:t>     The formulas for the regression coefficients</a:t>
            </a:r>
          </a:p>
          <a:p>
            <a:pPr algn="l">
              <a:spcBef>
                <a:spcPct val="20000"/>
              </a:spcBef>
              <a:buClr>
                <a:srgbClr val="66FFFF"/>
              </a:buClr>
              <a:buSzPct val="75000"/>
              <a:buFont typeface="Monotype Sorts" pitchFamily="2" charset="2"/>
              <a:buNone/>
              <a:defRPr/>
            </a:pPr>
            <a:r>
              <a:rPr lang="en-US" sz="2400" i="1" dirty="0">
                <a:latin typeface="Book Antiqua" pitchFamily="18" charset="0"/>
              </a:rPr>
              <a:t>b</a:t>
            </a:r>
            <a:r>
              <a:rPr lang="en-US" sz="2400" baseline="-25000" dirty="0">
                <a:latin typeface="Book Antiqua" pitchFamily="18" charset="0"/>
              </a:rPr>
              <a:t>0</a:t>
            </a:r>
            <a:r>
              <a:rPr lang="en-US" sz="2400" dirty="0">
                <a:latin typeface="Book Antiqua" pitchFamily="18" charset="0"/>
              </a:rPr>
              <a:t>, </a:t>
            </a:r>
            <a:r>
              <a:rPr lang="en-US" sz="2400" i="1" dirty="0">
                <a:latin typeface="Book Antiqua" pitchFamily="18" charset="0"/>
              </a:rPr>
              <a:t>b</a:t>
            </a:r>
            <a:r>
              <a:rPr lang="en-US" sz="2400" baseline="-25000" dirty="0">
                <a:latin typeface="Book Antiqua" pitchFamily="18" charset="0"/>
              </a:rPr>
              <a:t>1</a:t>
            </a:r>
            <a:r>
              <a:rPr lang="en-US" sz="2400" dirty="0">
                <a:latin typeface="Book Antiqua" pitchFamily="18" charset="0"/>
              </a:rPr>
              <a:t>, </a:t>
            </a:r>
            <a:r>
              <a:rPr lang="en-US" sz="2400" i="1" dirty="0">
                <a:latin typeface="Book Antiqua" pitchFamily="18" charset="0"/>
              </a:rPr>
              <a:t>b</a:t>
            </a:r>
            <a:r>
              <a:rPr lang="en-US" sz="2400" baseline="-25000" dirty="0">
                <a:latin typeface="Book Antiqua" pitchFamily="18" charset="0"/>
              </a:rPr>
              <a:t>2</a:t>
            </a:r>
            <a:r>
              <a:rPr lang="en-US" sz="2400" dirty="0">
                <a:latin typeface="Book Antiqua" pitchFamily="18" charset="0"/>
              </a:rPr>
              <a:t>, . . . </a:t>
            </a:r>
            <a:r>
              <a:rPr lang="en-US" sz="2400" i="1" dirty="0" err="1" smtClean="0">
                <a:latin typeface="Book Antiqua" pitchFamily="18" charset="0"/>
              </a:rPr>
              <a:t>b</a:t>
            </a:r>
            <a:r>
              <a:rPr lang="en-US" sz="2400" i="1" baseline="-25000" dirty="0" err="1">
                <a:latin typeface="Book Antiqua" pitchFamily="18" charset="0"/>
              </a:rPr>
              <a:t>k</a:t>
            </a:r>
            <a:r>
              <a:rPr lang="en-US" sz="2400" i="1" baseline="-25000" dirty="0" smtClean="0">
                <a:latin typeface="Book Antiqua" pitchFamily="18" charset="0"/>
              </a:rPr>
              <a:t>  </a:t>
            </a:r>
            <a:r>
              <a:rPr lang="en-US" sz="2400" dirty="0">
                <a:latin typeface="Book Antiqua" pitchFamily="18" charset="0"/>
              </a:rPr>
              <a:t>involve the use of matrix algebra.  </a:t>
            </a:r>
          </a:p>
          <a:p>
            <a:pPr algn="l">
              <a:spcBef>
                <a:spcPct val="20000"/>
              </a:spcBef>
              <a:buClr>
                <a:srgbClr val="66FFFF"/>
              </a:buClr>
              <a:buSzPct val="75000"/>
              <a:buFont typeface="Monotype Sorts" pitchFamily="2" charset="2"/>
              <a:buNone/>
              <a:defRPr/>
            </a:pPr>
            <a:r>
              <a:rPr lang="en-US" sz="2400" dirty="0">
                <a:latin typeface="Book Antiqua" pitchFamily="18" charset="0"/>
              </a:rPr>
              <a:t>We will rely on computer software packages to</a:t>
            </a:r>
          </a:p>
          <a:p>
            <a:pPr algn="l">
              <a:spcBef>
                <a:spcPct val="20000"/>
              </a:spcBef>
              <a:buClr>
                <a:srgbClr val="66FFFF"/>
              </a:buClr>
              <a:buSzPct val="75000"/>
              <a:buFont typeface="Monotype Sorts" pitchFamily="2" charset="2"/>
              <a:buNone/>
              <a:defRPr/>
            </a:pPr>
            <a:r>
              <a:rPr lang="en-US" sz="2400" dirty="0">
                <a:latin typeface="Book Antiqua" pitchFamily="18" charset="0"/>
              </a:rPr>
              <a:t>perform the calculations.</a:t>
            </a:r>
          </a:p>
        </p:txBody>
      </p:sp>
    </p:spTree>
    <p:extLst>
      <p:ext uri="{BB962C8B-B14F-4D97-AF65-F5344CB8AC3E}">
        <p14:creationId xmlns:p14="http://schemas.microsoft.com/office/powerpoint/2010/main" val="16199315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algn="ctr"/>
            <a:r>
              <a:rPr lang="en-US" sz="3200" smtClean="0">
                <a:solidFill>
                  <a:schemeClr val="tx1"/>
                </a:solidFill>
                <a:latin typeface="Times New Roman" pitchFamily="18" charset="0"/>
                <a:ea typeface="ＭＳ Ｐゴシック" pitchFamily="17" charset="-128"/>
                <a:cs typeface="Times New Roman" pitchFamily="18" charset="0"/>
              </a:rPr>
              <a:t>Assumptions of Multiple Linear Regression (How to diagnose)</a:t>
            </a:r>
          </a:p>
        </p:txBody>
      </p:sp>
      <p:sp>
        <p:nvSpPr>
          <p:cNvPr id="12291" name="Content Placeholder 2"/>
          <p:cNvSpPr>
            <a:spLocks noGrp="1"/>
          </p:cNvSpPr>
          <p:nvPr>
            <p:ph sz="quarter" idx="1"/>
          </p:nvPr>
        </p:nvSpPr>
        <p:spPr/>
        <p:txBody>
          <a:bodyPr/>
          <a:lstStyle/>
          <a:p>
            <a:r>
              <a:rPr lang="en-US" altLang="en-US" sz="2400" b="1" smtClean="0">
                <a:ea typeface="ＭＳ Ｐゴシック" pitchFamily="17" charset="-128"/>
              </a:rPr>
              <a:t>Normality</a:t>
            </a:r>
            <a:r>
              <a:rPr lang="en-US" altLang="en-US" sz="2400" smtClean="0">
                <a:ea typeface="ＭＳ Ｐゴシック" pitchFamily="17" charset="-128"/>
              </a:rPr>
              <a:t>: </a:t>
            </a:r>
            <a:r>
              <a:rPr lang="en-US" sz="2400" smtClean="0">
                <a:ea typeface="ＭＳ Ｐゴシック" pitchFamily="17" charset="-128"/>
              </a:rPr>
              <a:t>Multiple regression assumes that the error terms are normally distributed (Normality plot).</a:t>
            </a:r>
          </a:p>
          <a:p>
            <a:r>
              <a:rPr lang="en-US" altLang="en-US" sz="2400" b="1" smtClean="0">
                <a:ea typeface="ＭＳ Ｐゴシック" pitchFamily="17" charset="-128"/>
              </a:rPr>
              <a:t>Linearity</a:t>
            </a:r>
            <a:r>
              <a:rPr lang="en-US" altLang="en-US" sz="2400" smtClean="0">
                <a:ea typeface="ＭＳ Ｐゴシック" pitchFamily="17" charset="-128"/>
              </a:rPr>
              <a:t>: There must be linear relationship between response variable and independent variables (Scatterplots).</a:t>
            </a:r>
          </a:p>
          <a:p>
            <a:r>
              <a:rPr lang="en-US" altLang="en-US" sz="2400" b="1" smtClean="0">
                <a:ea typeface="ＭＳ Ｐゴシック" pitchFamily="17" charset="-128"/>
              </a:rPr>
              <a:t>No Multicollinearity:</a:t>
            </a:r>
            <a:r>
              <a:rPr lang="en-US" altLang="en-US" sz="2400" smtClean="0">
                <a:ea typeface="ＭＳ Ｐゴシック" pitchFamily="17" charset="-128"/>
              </a:rPr>
              <a:t> </a:t>
            </a:r>
            <a:r>
              <a:rPr lang="en-US" sz="2400" smtClean="0">
                <a:ea typeface="ＭＳ Ｐゴシック" pitchFamily="17" charset="-128"/>
              </a:rPr>
              <a:t>the independent variables are not highly correlated with each other (Correlation matrix).</a:t>
            </a:r>
          </a:p>
          <a:p>
            <a:r>
              <a:rPr lang="en-US" altLang="en-US" sz="2400" b="1" smtClean="0">
                <a:ea typeface="ＭＳ Ｐゴシック" pitchFamily="17" charset="-128"/>
              </a:rPr>
              <a:t>Homoscedasticity</a:t>
            </a:r>
            <a:r>
              <a:rPr lang="en-US" altLang="en-US" sz="2400" smtClean="0">
                <a:ea typeface="ＭＳ Ｐゴシック" pitchFamily="17" charset="-128"/>
              </a:rPr>
              <a:t>: </a:t>
            </a:r>
            <a:r>
              <a:rPr lang="en-US" sz="2400" smtClean="0">
                <a:ea typeface="ＭＳ Ｐゴシック" pitchFamily="17" charset="-128"/>
              </a:rPr>
              <a:t>the variance of error terms are similar across the values of the independent variables (Plot of residuals vs predictor variables). </a:t>
            </a:r>
            <a:endParaRPr lang="en-US" altLang="en-US" sz="2400" smtClean="0">
              <a:ea typeface="ＭＳ Ｐゴシック" pitchFamily="17" charset="-128"/>
            </a:endParaRPr>
          </a:p>
          <a:p>
            <a:endParaRPr lang="en-US" smtClean="0">
              <a:ea typeface="ＭＳ Ｐゴシック" pitchFamily="17" charset="-128"/>
            </a:endParaRPr>
          </a:p>
        </p:txBody>
      </p:sp>
      <p:sp>
        <p:nvSpPr>
          <p:cNvPr id="12292"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0FBCA73D-6F9B-41A4-A681-8E09B922E4C3}" type="slidenum">
              <a:rPr lang="en-US" smtClean="0"/>
              <a:pPr/>
              <a:t>9</a:t>
            </a:fld>
            <a:endParaRPr lang="en-US"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40668"/>
            <a:ext cx="7772400" cy="504056"/>
          </a:xfrm>
        </p:spPr>
        <p:txBody>
          <a:bodyPr/>
          <a:lstStyle/>
          <a:p>
            <a:r>
              <a:rPr lang="en-US" sz="3600" b="1" dirty="0">
                <a:solidFill>
                  <a:schemeClr val="tx1"/>
                </a:solidFill>
                <a:latin typeface="Arial" pitchFamily="34" charset="0"/>
                <a:cs typeface="Arial" pitchFamily="34" charset="0"/>
              </a:rPr>
              <a:t>Some Problems with </a:t>
            </a:r>
            <a:r>
              <a:rPr lang="en-US" sz="3600" b="1" dirty="0" smtClean="0">
                <a:solidFill>
                  <a:schemeClr val="tx1"/>
                </a:solidFill>
                <a:latin typeface="Arial" pitchFamily="34" charset="0"/>
                <a:cs typeface="Arial" pitchFamily="34" charset="0"/>
              </a:rPr>
              <a:t>R-squared</a:t>
            </a:r>
            <a:endParaRPr lang="en-US" sz="3600" dirty="0">
              <a:solidFill>
                <a:schemeClr val="tx1"/>
              </a:solidFill>
              <a:latin typeface="Arial" pitchFamily="34" charset="0"/>
              <a:cs typeface="Arial" pitchFamily="34" charset="0"/>
            </a:endParaRPr>
          </a:p>
        </p:txBody>
      </p:sp>
      <p:sp>
        <p:nvSpPr>
          <p:cNvPr id="3" name="Content Placeholder 2"/>
          <p:cNvSpPr>
            <a:spLocks noGrp="1"/>
          </p:cNvSpPr>
          <p:nvPr>
            <p:ph sz="quarter" idx="1"/>
          </p:nvPr>
        </p:nvSpPr>
        <p:spPr>
          <a:xfrm>
            <a:off x="603250" y="1232756"/>
            <a:ext cx="8083550" cy="4787044"/>
          </a:xfrm>
        </p:spPr>
        <p:txBody>
          <a:bodyPr/>
          <a:lstStyle/>
          <a:p>
            <a:r>
              <a:rPr lang="en-US" b="1" dirty="0"/>
              <a:t>Problem 1:</a:t>
            </a:r>
            <a:r>
              <a:rPr lang="en-US" dirty="0"/>
              <a:t> Every time you add a predictor to a model, the R-squared </a:t>
            </a:r>
            <a:r>
              <a:rPr lang="en-US" dirty="0" smtClean="0"/>
              <a:t> always increases</a:t>
            </a:r>
            <a:r>
              <a:rPr lang="en-US" dirty="0"/>
              <a:t>, even if due to chance alone</a:t>
            </a:r>
            <a:r>
              <a:rPr lang="en-US" dirty="0" smtClean="0"/>
              <a:t>.</a:t>
            </a:r>
          </a:p>
          <a:p>
            <a:r>
              <a:rPr lang="en-US" b="1" dirty="0"/>
              <a:t>Problem 2:</a:t>
            </a:r>
            <a:r>
              <a:rPr lang="en-US" dirty="0"/>
              <a:t> If a model has too many predictors </a:t>
            </a:r>
            <a:r>
              <a:rPr lang="en-US" dirty="0" smtClean="0"/>
              <a:t>it </a:t>
            </a:r>
            <a:r>
              <a:rPr lang="en-US" dirty="0"/>
              <a:t>begins to model the random noise in the data. This condition is known </a:t>
            </a:r>
            <a:r>
              <a:rPr lang="en-US" dirty="0" smtClean="0"/>
              <a:t>as </a:t>
            </a:r>
            <a:r>
              <a:rPr lang="en-US" dirty="0" err="1" smtClean="0"/>
              <a:t>overfitting</a:t>
            </a:r>
            <a:r>
              <a:rPr lang="en-US" dirty="0" smtClean="0"/>
              <a:t> the model</a:t>
            </a:r>
            <a:r>
              <a:rPr lang="en-US" dirty="0"/>
              <a:t>.</a:t>
            </a:r>
          </a:p>
        </p:txBody>
      </p:sp>
      <p:sp>
        <p:nvSpPr>
          <p:cNvPr id="4" name="Slide Number Placeholder 3"/>
          <p:cNvSpPr>
            <a:spLocks noGrp="1"/>
          </p:cNvSpPr>
          <p:nvPr>
            <p:ph type="sldNum" sz="quarter" idx="12"/>
          </p:nvPr>
        </p:nvSpPr>
        <p:spPr/>
        <p:txBody>
          <a:bodyPr/>
          <a:lstStyle/>
          <a:p>
            <a:pPr>
              <a:defRPr/>
            </a:pPr>
            <a:fld id="{7F8D22E0-8D0D-4547-8178-B7EC355B98BF}" type="slidenum">
              <a:rPr lang="en-US" smtClean="0"/>
              <a:pPr>
                <a:defRPr/>
              </a:pPr>
              <a:t>10</a:t>
            </a:fld>
            <a:endParaRPr 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250" y="3382199"/>
            <a:ext cx="8137120" cy="2828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7593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42094"/>
          </a:xfrm>
        </p:spPr>
        <p:txBody>
          <a:bodyPr/>
          <a:lstStyle/>
          <a:p>
            <a:pPr algn="ctr"/>
            <a:r>
              <a:rPr lang="en-US" dirty="0" smtClean="0">
                <a:solidFill>
                  <a:schemeClr val="tx1"/>
                </a:solidFill>
              </a:rPr>
              <a:t>Adjusted R-squared</a:t>
            </a:r>
            <a:endParaRPr lang="en-US" dirty="0">
              <a:solidFill>
                <a:schemeClr val="tx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03250" y="1232756"/>
                <a:ext cx="8083550" cy="4787044"/>
              </a:xfrm>
            </p:spPr>
            <p:txBody>
              <a:bodyPr/>
              <a:lstStyle/>
              <a:p>
                <a:r>
                  <a:rPr lang="en-US" dirty="0"/>
                  <a:t>The adjusted R-squared is a modified version of R-squared that has been adjusted for the number of predictors in the model. The adjusted R-squared increases only if the new term improves the </a:t>
                </a:r>
                <a:r>
                  <a:rPr lang="en-US" dirty="0" smtClean="0"/>
                  <a:t>model more than </a:t>
                </a:r>
                <a:r>
                  <a:rPr lang="en-US" dirty="0"/>
                  <a:t>would be expected by chance</a:t>
                </a:r>
                <a:r>
                  <a:rPr lang="en-US" dirty="0" smtClean="0"/>
                  <a:t>. </a:t>
                </a:r>
              </a:p>
              <a:p>
                <a:endParaRPr lang="en-US" dirty="0" smtClean="0"/>
              </a:p>
              <a:p>
                <a:pPr marL="0" indent="0" algn="ctr">
                  <a:buNone/>
                </a:pPr>
                <a:r>
                  <a:rPr lang="en-US" dirty="0" err="1"/>
                  <a:t>Adj</a:t>
                </a:r>
                <a:r>
                  <a:rPr lang="en-US" dirty="0"/>
                  <a:t> R</a:t>
                </a:r>
                <a:r>
                  <a:rPr lang="en-US" baseline="30000" dirty="0"/>
                  <a:t>2 </a:t>
                </a:r>
                <a:r>
                  <a:rPr lang="en-US" dirty="0"/>
                  <a:t>= 1 </a:t>
                </a:r>
                <a:r>
                  <a:rPr lang="en-US" sz="2800" dirty="0"/>
                  <a:t>- </a:t>
                </a:r>
                <a14:m>
                  <m:oMath xmlns:m="http://schemas.openxmlformats.org/officeDocument/2006/math">
                    <m:f>
                      <m:fPr>
                        <m:ctrlPr>
                          <a:rPr lang="en-US" sz="2800" i="1">
                            <a:latin typeface="Cambria Math" charset="0"/>
                          </a:rPr>
                        </m:ctrlPr>
                      </m:fPr>
                      <m:num>
                        <m:f>
                          <m:fPr>
                            <m:ctrlPr>
                              <a:rPr lang="en-US" sz="2800" i="1">
                                <a:latin typeface="Cambria Math" charset="0"/>
                              </a:rPr>
                            </m:ctrlPr>
                          </m:fPr>
                          <m:num>
                            <m:r>
                              <a:rPr lang="en-US" sz="2800" i="1">
                                <a:latin typeface="Cambria Math"/>
                              </a:rPr>
                              <m:t>𝑆𝑆𝐸</m:t>
                            </m:r>
                          </m:num>
                          <m:den>
                            <m:r>
                              <a:rPr lang="en-US" sz="2800" i="1">
                                <a:latin typeface="Cambria Math"/>
                              </a:rPr>
                              <m:t>𝑛</m:t>
                            </m:r>
                            <m:r>
                              <a:rPr lang="en-US" sz="2800" i="1">
                                <a:latin typeface="Cambria Math"/>
                              </a:rPr>
                              <m:t>−</m:t>
                            </m:r>
                            <m:r>
                              <a:rPr lang="en-US" sz="2800" i="1">
                                <a:latin typeface="Cambria Math"/>
                              </a:rPr>
                              <m:t>𝑘</m:t>
                            </m:r>
                          </m:den>
                        </m:f>
                      </m:num>
                      <m:den>
                        <m:f>
                          <m:fPr>
                            <m:ctrlPr>
                              <a:rPr lang="en-US" sz="2800" i="1">
                                <a:latin typeface="Cambria Math" charset="0"/>
                              </a:rPr>
                            </m:ctrlPr>
                          </m:fPr>
                          <m:num>
                            <m:r>
                              <a:rPr lang="en-US" sz="2800" i="1">
                                <a:latin typeface="Cambria Math"/>
                              </a:rPr>
                              <m:t>𝑆𝑆𝑇</m:t>
                            </m:r>
                          </m:num>
                          <m:den>
                            <m:r>
                              <a:rPr lang="en-US" sz="2800" i="1">
                                <a:latin typeface="Cambria Math"/>
                              </a:rPr>
                              <m:t>𝑛</m:t>
                            </m:r>
                            <m:r>
                              <a:rPr lang="en-US" sz="2800" i="1">
                                <a:latin typeface="Cambria Math"/>
                              </a:rPr>
                              <m:t>−1</m:t>
                            </m:r>
                          </m:den>
                        </m:f>
                      </m:den>
                    </m:f>
                  </m:oMath>
                </a14:m>
                <a:r>
                  <a:rPr lang="en-US" sz="2800" dirty="0" smtClean="0"/>
                  <a:t> = </a:t>
                </a:r>
                <a:r>
                  <a:rPr lang="en-US" sz="2800" dirty="0"/>
                  <a:t>1 -  </a:t>
                </a:r>
                <a14:m>
                  <m:oMath xmlns:m="http://schemas.openxmlformats.org/officeDocument/2006/math">
                    <m:f>
                      <m:fPr>
                        <m:ctrlPr>
                          <a:rPr lang="en-US" sz="2800" i="1">
                            <a:latin typeface="Cambria Math" charset="0"/>
                          </a:rPr>
                        </m:ctrlPr>
                      </m:fPr>
                      <m:num>
                        <m:r>
                          <a:rPr lang="en-US" sz="2800" i="1">
                            <a:latin typeface="Cambria Math"/>
                          </a:rPr>
                          <m:t>(1−</m:t>
                        </m:r>
                        <m:sSup>
                          <m:sSupPr>
                            <m:ctrlPr>
                              <a:rPr lang="en-US" sz="2800" i="1">
                                <a:latin typeface="Cambria Math" charset="0"/>
                              </a:rPr>
                            </m:ctrlPr>
                          </m:sSupPr>
                          <m:e>
                            <m:r>
                              <a:rPr lang="en-US" sz="2800" i="1">
                                <a:latin typeface="Cambria Math"/>
                              </a:rPr>
                              <m:t>𝑅</m:t>
                            </m:r>
                          </m:e>
                          <m:sup>
                            <m:r>
                              <a:rPr lang="en-US" sz="2800" i="1">
                                <a:latin typeface="Cambria Math"/>
                              </a:rPr>
                              <m:t>2</m:t>
                            </m:r>
                          </m:sup>
                        </m:sSup>
                        <m:r>
                          <a:rPr lang="en-US" sz="2800" i="1">
                            <a:latin typeface="Cambria Math"/>
                          </a:rPr>
                          <m:t>)(</m:t>
                        </m:r>
                        <m:r>
                          <a:rPr lang="en-US" sz="2800" i="1">
                            <a:latin typeface="Cambria Math"/>
                          </a:rPr>
                          <m:t>𝑛</m:t>
                        </m:r>
                        <m:r>
                          <a:rPr lang="en-US" sz="2800" i="1">
                            <a:latin typeface="Cambria Math"/>
                          </a:rPr>
                          <m:t>−1)</m:t>
                        </m:r>
                      </m:num>
                      <m:den>
                        <m:r>
                          <a:rPr lang="en-US" sz="2800" i="1">
                            <a:latin typeface="Cambria Math"/>
                          </a:rPr>
                          <m:t>𝑛</m:t>
                        </m:r>
                        <m:r>
                          <a:rPr lang="en-US" sz="2800" i="1">
                            <a:latin typeface="Cambria Math"/>
                          </a:rPr>
                          <m:t>−</m:t>
                        </m:r>
                        <m:r>
                          <a:rPr lang="en-US" sz="2800" i="1">
                            <a:latin typeface="Cambria Math"/>
                          </a:rPr>
                          <m:t>𝑘</m:t>
                        </m:r>
                        <m:r>
                          <a:rPr lang="en-US" sz="2800" i="1">
                            <a:latin typeface="Cambria Math"/>
                          </a:rPr>
                          <m:t>−1</m:t>
                        </m:r>
                      </m:den>
                    </m:f>
                  </m:oMath>
                </a14:m>
                <a:endParaRPr lang="en-US" sz="2800" dirty="0" smtClean="0"/>
              </a:p>
              <a:p>
                <a:pPr marL="0" indent="0" algn="ctr">
                  <a:buNone/>
                </a:pPr>
                <a:endParaRPr lang="en-US" sz="2800" dirty="0"/>
              </a:p>
              <a:p>
                <a:pPr marL="0" indent="0">
                  <a:buNone/>
                </a:pPr>
                <a:r>
                  <a:rPr lang="en-US" sz="2800" dirty="0" smtClean="0"/>
                  <a:t>Here      n- # of observations</a:t>
                </a:r>
              </a:p>
              <a:p>
                <a:pPr marL="0" indent="0">
                  <a:buNone/>
                </a:pPr>
                <a:r>
                  <a:rPr lang="en-US" sz="2800" dirty="0" smtClean="0"/>
                  <a:t>              k - # of independent variables</a:t>
                </a: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03250" y="1232756"/>
                <a:ext cx="8083550" cy="4787044"/>
              </a:xfrm>
              <a:blipFill rotWithShape="1">
                <a:blip r:embed="rId2"/>
                <a:stretch>
                  <a:fillRect l="-1584" t="-1018" r="-2187" b="-190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7F8D22E0-8D0D-4547-8178-B7EC355B98BF}" type="slidenum">
              <a:rPr lang="en-US" smtClean="0"/>
              <a:pPr>
                <a:defRPr/>
              </a:pPr>
              <a:t>11</a:t>
            </a:fld>
            <a:endParaRPr lang="en-US"/>
          </a:p>
        </p:txBody>
      </p:sp>
    </p:spTree>
    <p:extLst>
      <p:ext uri="{BB962C8B-B14F-4D97-AF65-F5344CB8AC3E}">
        <p14:creationId xmlns:p14="http://schemas.microsoft.com/office/powerpoint/2010/main" val="867388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914400" y="392113"/>
            <a:ext cx="7772400" cy="628650"/>
          </a:xfrm>
        </p:spPr>
        <p:txBody>
          <a:bodyPr/>
          <a:lstStyle/>
          <a:p>
            <a:pPr algn="ctr"/>
            <a:r>
              <a:rPr lang="en-US" sz="2800" smtClean="0">
                <a:solidFill>
                  <a:schemeClr val="tx1"/>
                </a:solidFill>
                <a:ea typeface="ＭＳ Ｐゴシック" pitchFamily="17" charset="-128"/>
              </a:rPr>
              <a:t>Categorical Data as Independent variables</a:t>
            </a:r>
          </a:p>
        </p:txBody>
      </p:sp>
      <p:sp>
        <p:nvSpPr>
          <p:cNvPr id="3" name="Content Placeholder 2"/>
          <p:cNvSpPr>
            <a:spLocks noGrp="1"/>
          </p:cNvSpPr>
          <p:nvPr>
            <p:ph sz="quarter" idx="1"/>
          </p:nvPr>
        </p:nvSpPr>
        <p:spPr>
          <a:xfrm>
            <a:off x="914400" y="1447800"/>
            <a:ext cx="7772400" cy="5075238"/>
          </a:xfrm>
        </p:spPr>
        <p:txBody>
          <a:bodyPr/>
          <a:lstStyle/>
          <a:p>
            <a:pPr marL="533400" indent="-533400">
              <a:defRPr/>
            </a:pPr>
            <a:r>
              <a:rPr lang="en-US" sz="2800" dirty="0" smtClean="0"/>
              <a:t>Categorical independent  variables can be incorporated into a regression model by converting them into 0/1  (“dummy”) variables</a:t>
            </a:r>
          </a:p>
          <a:p>
            <a:pPr marL="533400" indent="-533400">
              <a:defRPr/>
            </a:pPr>
            <a:r>
              <a:rPr lang="en-US" sz="2800" dirty="0" smtClean="0"/>
              <a:t>For binary variables, code dummies “0” for “no” and 1 for “yes”</a:t>
            </a:r>
          </a:p>
          <a:p>
            <a:pPr marL="0" indent="0">
              <a:buFont typeface="Wingdings 2" pitchFamily="17" charset="2"/>
              <a:buNone/>
              <a:defRPr/>
            </a:pPr>
            <a:r>
              <a:rPr lang="en-US" sz="2800" dirty="0" smtClean="0"/>
              <a:t>For categorical variables with </a:t>
            </a:r>
            <a:r>
              <a:rPr lang="en-US" sz="2800" i="1" dirty="0" smtClean="0"/>
              <a:t>k </a:t>
            </a:r>
            <a:r>
              <a:rPr lang="en-US" sz="2800" dirty="0" smtClean="0"/>
              <a:t>categorical levels, use </a:t>
            </a:r>
            <a:r>
              <a:rPr lang="en-US" sz="2800" i="1" dirty="0" smtClean="0"/>
              <a:t>k</a:t>
            </a:r>
            <a:r>
              <a:rPr lang="en-US" sz="2800" dirty="0" smtClean="0"/>
              <a:t>–1 dummy variables.</a:t>
            </a:r>
          </a:p>
          <a:p>
            <a:pPr marL="0" indent="0">
              <a:buFont typeface="Wingdings 2" pitchFamily="17" charset="2"/>
              <a:buNone/>
              <a:defRPr/>
            </a:pPr>
            <a:r>
              <a:rPr lang="en-US" sz="2800" dirty="0" smtClean="0"/>
              <a:t>Examples: Seasons of the year: 4-1 = 3 dummies</a:t>
            </a:r>
          </a:p>
          <a:p>
            <a:pPr marL="0" indent="0">
              <a:buFont typeface="Wingdings 2" pitchFamily="17" charset="2"/>
              <a:buNone/>
              <a:defRPr/>
            </a:pPr>
            <a:r>
              <a:rPr lang="en-US" sz="2800" dirty="0" smtClean="0"/>
              <a:t>Months: 12-1 = 11 dummies</a:t>
            </a:r>
          </a:p>
          <a:p>
            <a:pPr marL="0" indent="0">
              <a:buFont typeface="Wingdings 2" pitchFamily="17" charset="2"/>
              <a:buNone/>
              <a:defRPr/>
            </a:pPr>
            <a:r>
              <a:rPr lang="en-US" sz="2800" dirty="0" smtClean="0"/>
              <a:t>Gender: 2-1 = 1 dummy</a:t>
            </a:r>
          </a:p>
          <a:p>
            <a:pPr>
              <a:defRPr/>
            </a:pPr>
            <a:endParaRPr lang="en-US" dirty="0"/>
          </a:p>
        </p:txBody>
      </p:sp>
      <p:sp>
        <p:nvSpPr>
          <p:cNvPr id="13316"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FB0E9941-CF77-493E-9E76-313B159662B5}" type="slidenum">
              <a:rPr lang="en-US" smtClean="0"/>
              <a:pPr/>
              <a:t>12</a:t>
            </a:fld>
            <a:endParaRPr lang="en-US"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z="3200" smtClean="0">
                <a:solidFill>
                  <a:schemeClr val="tx1"/>
                </a:solidFill>
                <a:ea typeface="ＭＳ Ｐゴシック" pitchFamily="17" charset="-128"/>
              </a:rPr>
              <a:t>Categorical Data as Independent variables</a:t>
            </a:r>
            <a:endParaRPr lang="en-US" sz="3200" smtClean="0">
              <a:ea typeface="ＭＳ Ｐゴシック" pitchFamily="17" charset="-128"/>
            </a:endParaRPr>
          </a:p>
        </p:txBody>
      </p:sp>
      <p:sp>
        <p:nvSpPr>
          <p:cNvPr id="3" name="Content Placeholder 2"/>
          <p:cNvSpPr>
            <a:spLocks noGrp="1"/>
          </p:cNvSpPr>
          <p:nvPr>
            <p:ph sz="quarter" idx="1"/>
          </p:nvPr>
        </p:nvSpPr>
        <p:spPr>
          <a:xfrm>
            <a:off x="592138" y="1447800"/>
            <a:ext cx="8094662" cy="5075238"/>
          </a:xfrm>
        </p:spPr>
        <p:txBody>
          <a:bodyPr/>
          <a:lstStyle/>
          <a:p>
            <a:pPr marL="0" indent="0">
              <a:lnSpc>
                <a:spcPct val="80000"/>
              </a:lnSpc>
              <a:buFontTx/>
              <a:buNone/>
              <a:defRPr/>
            </a:pPr>
            <a:r>
              <a:rPr lang="en-US" sz="2800" dirty="0" smtClean="0"/>
              <a:t>Ex. SMOKER has three levels: </a:t>
            </a:r>
          </a:p>
          <a:p>
            <a:pPr>
              <a:lnSpc>
                <a:spcPct val="80000"/>
              </a:lnSpc>
              <a:defRPr/>
            </a:pPr>
            <a:r>
              <a:rPr lang="en-US" sz="2800" dirty="0" smtClean="0"/>
              <a:t>non-smoker </a:t>
            </a:r>
          </a:p>
          <a:p>
            <a:pPr>
              <a:lnSpc>
                <a:spcPct val="80000"/>
              </a:lnSpc>
              <a:defRPr/>
            </a:pPr>
            <a:r>
              <a:rPr lang="en-US" sz="2800" dirty="0" smtClean="0"/>
              <a:t>former smoker</a:t>
            </a:r>
          </a:p>
          <a:p>
            <a:pPr>
              <a:lnSpc>
                <a:spcPct val="80000"/>
              </a:lnSpc>
              <a:defRPr/>
            </a:pPr>
            <a:r>
              <a:rPr lang="en-US" sz="2800" dirty="0" smtClean="0"/>
              <a:t>current smoker</a:t>
            </a:r>
          </a:p>
          <a:p>
            <a:pPr marL="0" indent="0">
              <a:buFont typeface="Wingdings 2" pitchFamily="17" charset="2"/>
              <a:buNone/>
              <a:defRPr/>
            </a:pPr>
            <a:r>
              <a:rPr lang="en-US" sz="2800" dirty="0" smtClean="0"/>
              <a:t>Use </a:t>
            </a:r>
            <a:r>
              <a:rPr lang="en-US" sz="2800" i="1" dirty="0" smtClean="0"/>
              <a:t>k</a:t>
            </a:r>
            <a:r>
              <a:rPr lang="en-US" sz="2800" dirty="0" smtClean="0"/>
              <a:t> – 1 = 3 – 1 = 2 dummy variables to code this information like this:</a:t>
            </a:r>
          </a:p>
          <a:p>
            <a:pPr marL="0" indent="0">
              <a:buFont typeface="Wingdings 2" pitchFamily="17" charset="2"/>
              <a:buNone/>
              <a:defRPr/>
            </a:pPr>
            <a:endParaRPr lang="en-US" dirty="0"/>
          </a:p>
        </p:txBody>
      </p:sp>
      <p:graphicFrame>
        <p:nvGraphicFramePr>
          <p:cNvPr id="4" name="Table 3"/>
          <p:cNvGraphicFramePr>
            <a:graphicFrameLocks noGrp="1"/>
          </p:cNvGraphicFramePr>
          <p:nvPr/>
        </p:nvGraphicFramePr>
        <p:xfrm>
          <a:off x="4679950" y="4102100"/>
          <a:ext cx="3871913" cy="2244724"/>
        </p:xfrm>
        <a:graphic>
          <a:graphicData uri="http://schemas.openxmlformats.org/drawingml/2006/table">
            <a:tbl>
              <a:tblPr firstRow="1" bandRow="1">
                <a:tableStyleId>{5940675A-B579-460E-94D1-54222C63F5DA}</a:tableStyleId>
              </a:tblPr>
              <a:tblGrid>
                <a:gridCol w="1878601"/>
                <a:gridCol w="1993312"/>
              </a:tblGrid>
              <a:tr h="561181">
                <a:tc>
                  <a:txBody>
                    <a:bodyPr/>
                    <a:lstStyle/>
                    <a:p>
                      <a:r>
                        <a:rPr lang="en-US" sz="2000" b="1" dirty="0" smtClean="0"/>
                        <a:t>Former Smoker</a:t>
                      </a:r>
                      <a:endParaRPr lang="en-US" sz="2000" b="1" dirty="0"/>
                    </a:p>
                  </a:txBody>
                  <a:tcPr marL="91427" marR="91427" marT="45721" marB="45721">
                    <a:solidFill>
                      <a:schemeClr val="tx2">
                        <a:lumMod val="20000"/>
                        <a:lumOff val="80000"/>
                      </a:schemeClr>
                    </a:solidFill>
                  </a:tcPr>
                </a:tc>
                <a:tc>
                  <a:txBody>
                    <a:bodyPr/>
                    <a:lstStyle/>
                    <a:p>
                      <a:r>
                        <a:rPr lang="en-US" sz="2000" b="1" dirty="0" smtClean="0"/>
                        <a:t>Current Smoker</a:t>
                      </a:r>
                      <a:endParaRPr lang="en-US" sz="2000" b="1" dirty="0"/>
                    </a:p>
                  </a:txBody>
                  <a:tcPr marL="91427" marR="91427" marT="45721" marB="45721">
                    <a:solidFill>
                      <a:schemeClr val="tx2">
                        <a:lumMod val="20000"/>
                        <a:lumOff val="80000"/>
                      </a:schemeClr>
                    </a:solidFill>
                  </a:tcPr>
                </a:tc>
              </a:tr>
              <a:tr h="561181">
                <a:tc>
                  <a:txBody>
                    <a:bodyPr/>
                    <a:lstStyle/>
                    <a:p>
                      <a:pPr algn="ctr"/>
                      <a:r>
                        <a:rPr lang="en-US" sz="2000" dirty="0" smtClean="0"/>
                        <a:t>0</a:t>
                      </a:r>
                      <a:endParaRPr lang="en-US" sz="2000" dirty="0"/>
                    </a:p>
                  </a:txBody>
                  <a:tcPr marL="91427" marR="91427" marT="45721" marB="45721"/>
                </a:tc>
                <a:tc>
                  <a:txBody>
                    <a:bodyPr/>
                    <a:lstStyle/>
                    <a:p>
                      <a:pPr algn="ctr"/>
                      <a:r>
                        <a:rPr lang="en-US" sz="2000" dirty="0" smtClean="0"/>
                        <a:t>0</a:t>
                      </a:r>
                      <a:endParaRPr lang="en-US" sz="2000" dirty="0"/>
                    </a:p>
                  </a:txBody>
                  <a:tcPr marL="91427" marR="91427" marT="45721" marB="45721"/>
                </a:tc>
              </a:tr>
              <a:tr h="561181">
                <a:tc>
                  <a:txBody>
                    <a:bodyPr/>
                    <a:lstStyle/>
                    <a:p>
                      <a:pPr algn="ctr"/>
                      <a:r>
                        <a:rPr lang="en-US" sz="2000" dirty="0" smtClean="0"/>
                        <a:t>1</a:t>
                      </a:r>
                      <a:endParaRPr lang="en-US" sz="2000" dirty="0"/>
                    </a:p>
                  </a:txBody>
                  <a:tcPr marL="91427" marR="91427" marT="45721" marB="45721"/>
                </a:tc>
                <a:tc>
                  <a:txBody>
                    <a:bodyPr/>
                    <a:lstStyle/>
                    <a:p>
                      <a:pPr algn="ctr"/>
                      <a:r>
                        <a:rPr lang="en-US" sz="2000" dirty="0" smtClean="0"/>
                        <a:t>0</a:t>
                      </a:r>
                      <a:endParaRPr lang="en-US" sz="2000" dirty="0"/>
                    </a:p>
                  </a:txBody>
                  <a:tcPr marL="91427" marR="91427" marT="45721" marB="45721"/>
                </a:tc>
              </a:tr>
              <a:tr h="561181">
                <a:tc>
                  <a:txBody>
                    <a:bodyPr/>
                    <a:lstStyle/>
                    <a:p>
                      <a:pPr algn="ctr"/>
                      <a:r>
                        <a:rPr lang="en-US" sz="2000" dirty="0" smtClean="0"/>
                        <a:t>0</a:t>
                      </a:r>
                      <a:endParaRPr lang="en-US" sz="2000" dirty="0"/>
                    </a:p>
                  </a:txBody>
                  <a:tcPr marL="91427" marR="91427" marT="45721" marB="45721"/>
                </a:tc>
                <a:tc>
                  <a:txBody>
                    <a:bodyPr/>
                    <a:lstStyle/>
                    <a:p>
                      <a:pPr algn="ctr"/>
                      <a:r>
                        <a:rPr lang="en-US" sz="2000" dirty="0" smtClean="0"/>
                        <a:t>1</a:t>
                      </a:r>
                      <a:endParaRPr lang="en-US" sz="2000" dirty="0"/>
                    </a:p>
                  </a:txBody>
                  <a:tcPr marL="91427" marR="91427" marT="45721" marB="45721"/>
                </a:tc>
              </a:tr>
            </a:tbl>
          </a:graphicData>
        </a:graphic>
      </p:graphicFrame>
      <p:graphicFrame>
        <p:nvGraphicFramePr>
          <p:cNvPr id="5" name="Table 4"/>
          <p:cNvGraphicFramePr>
            <a:graphicFrameLocks noGrp="1"/>
          </p:cNvGraphicFramePr>
          <p:nvPr/>
        </p:nvGraphicFramePr>
        <p:xfrm>
          <a:off x="742950" y="4094163"/>
          <a:ext cx="1892300" cy="2243136"/>
        </p:xfrm>
        <a:graphic>
          <a:graphicData uri="http://schemas.openxmlformats.org/drawingml/2006/table">
            <a:tbl>
              <a:tblPr firstRow="1" bandRow="1">
                <a:tableStyleId>{5940675A-B579-460E-94D1-54222C63F5DA}</a:tableStyleId>
              </a:tblPr>
              <a:tblGrid>
                <a:gridCol w="1892300"/>
              </a:tblGrid>
              <a:tr h="560784">
                <a:tc>
                  <a:txBody>
                    <a:bodyPr/>
                    <a:lstStyle/>
                    <a:p>
                      <a:r>
                        <a:rPr lang="en-US" sz="2000" b="1" dirty="0" smtClean="0"/>
                        <a:t>SMOKER</a:t>
                      </a:r>
                      <a:endParaRPr lang="en-US" sz="2000" b="1" dirty="0"/>
                    </a:p>
                  </a:txBody>
                  <a:tcPr marL="91398" marR="91398" marT="45688" marB="45688">
                    <a:solidFill>
                      <a:schemeClr val="bg2"/>
                    </a:solidFill>
                  </a:tcPr>
                </a:tc>
              </a:tr>
              <a:tr h="560784">
                <a:tc>
                  <a:txBody>
                    <a:bodyPr/>
                    <a:lstStyle/>
                    <a:p>
                      <a:r>
                        <a:rPr lang="en-US" sz="2000" dirty="0" smtClean="0"/>
                        <a:t>Non-smoker</a:t>
                      </a:r>
                      <a:endParaRPr lang="en-US" sz="2000" dirty="0"/>
                    </a:p>
                  </a:txBody>
                  <a:tcPr marL="91398" marR="91398" marT="45688" marB="45688"/>
                </a:tc>
              </a:tr>
              <a:tr h="560784">
                <a:tc>
                  <a:txBody>
                    <a:bodyPr/>
                    <a:lstStyle/>
                    <a:p>
                      <a:r>
                        <a:rPr lang="en-US" sz="2000" dirty="0" smtClean="0"/>
                        <a:t>Former</a:t>
                      </a:r>
                      <a:r>
                        <a:rPr lang="en-US" sz="2000" baseline="0" dirty="0" smtClean="0"/>
                        <a:t> smoker</a:t>
                      </a:r>
                      <a:endParaRPr lang="en-US" sz="2000" dirty="0"/>
                    </a:p>
                  </a:txBody>
                  <a:tcPr marL="91398" marR="91398" marT="45688" marB="45688"/>
                </a:tc>
              </a:tr>
              <a:tr h="560784">
                <a:tc>
                  <a:txBody>
                    <a:bodyPr/>
                    <a:lstStyle/>
                    <a:p>
                      <a:r>
                        <a:rPr lang="en-US" sz="2000" dirty="0" smtClean="0"/>
                        <a:t>Current smoker</a:t>
                      </a:r>
                      <a:endParaRPr lang="en-US" sz="2000" dirty="0"/>
                    </a:p>
                  </a:txBody>
                  <a:tcPr marL="91398" marR="91398" marT="45688" marB="45688"/>
                </a:tc>
              </a:tr>
            </a:tbl>
          </a:graphicData>
        </a:graphic>
      </p:graphicFrame>
      <p:sp>
        <p:nvSpPr>
          <p:cNvPr id="6" name="Right Arrow 5"/>
          <p:cNvSpPr/>
          <p:nvPr/>
        </p:nvSpPr>
        <p:spPr>
          <a:xfrm>
            <a:off x="3050328" y="4922096"/>
            <a:ext cx="1371648" cy="714400"/>
          </a:xfrm>
          <a:prstGeom prst="rightArrow">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372"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833D0D98-37F3-4C49-A771-6617CFBAEB89}" type="slidenum">
              <a:rPr lang="en-US" smtClean="0"/>
              <a:pPr/>
              <a:t>13</a:t>
            </a:fld>
            <a:endParaRPr lang="en-US"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z="3200" dirty="0" smtClean="0">
                <a:solidFill>
                  <a:schemeClr val="tx1"/>
                </a:solidFill>
                <a:ea typeface="ＭＳ Ｐゴシック" pitchFamily="17" charset="-128"/>
              </a:rPr>
              <a:t>Example</a:t>
            </a:r>
          </a:p>
        </p:txBody>
      </p:sp>
      <p:sp>
        <p:nvSpPr>
          <p:cNvPr id="15363" name="Content Placeholder 2"/>
          <p:cNvSpPr>
            <a:spLocks noGrp="1"/>
          </p:cNvSpPr>
          <p:nvPr>
            <p:ph sz="quarter" idx="1"/>
          </p:nvPr>
        </p:nvSpPr>
        <p:spPr>
          <a:xfrm>
            <a:off x="647700" y="1447800"/>
            <a:ext cx="3924300" cy="4572000"/>
          </a:xfrm>
        </p:spPr>
        <p:txBody>
          <a:bodyPr/>
          <a:lstStyle/>
          <a:p>
            <a:r>
              <a:rPr lang="en-US" dirty="0" smtClean="0">
                <a:ea typeface="ＭＳ Ｐゴシック" pitchFamily="17" charset="-128"/>
              </a:rPr>
              <a:t>The following data provides wage information for 15 construction workers. Here, wage is response variable, number of years of education and gender are predictor variables. Our task is to build multiple regression model.</a:t>
            </a:r>
          </a:p>
        </p:txBody>
      </p:sp>
      <p:graphicFrame>
        <p:nvGraphicFramePr>
          <p:cNvPr id="3" name="Content Placeholder 2"/>
          <p:cNvGraphicFramePr>
            <a:graphicFrameLocks noGrp="1"/>
          </p:cNvGraphicFramePr>
          <p:nvPr>
            <p:ph sz="quarter" idx="2"/>
          </p:nvPr>
        </p:nvGraphicFramePr>
        <p:xfrm>
          <a:off x="4845050" y="1482725"/>
          <a:ext cx="3854450" cy="4680326"/>
        </p:xfrm>
        <a:graphic>
          <a:graphicData uri="http://schemas.openxmlformats.org/drawingml/2006/table">
            <a:tbl>
              <a:tblPr>
                <a:tableStyleId>{5C22544A-7EE6-4342-B048-85BDC9FD1C3A}</a:tableStyleId>
              </a:tblPr>
              <a:tblGrid>
                <a:gridCol w="1347044"/>
                <a:gridCol w="1368377"/>
                <a:gridCol w="1139029"/>
              </a:tblGrid>
              <a:tr h="879911">
                <a:tc>
                  <a:txBody>
                    <a:bodyPr/>
                    <a:lstStyle/>
                    <a:p>
                      <a:pPr algn="ctr" fontAlgn="ctr"/>
                      <a:r>
                        <a:rPr lang="en-US" sz="1600" b="1" u="none" strike="noStrike" dirty="0">
                          <a:effectLst/>
                        </a:rPr>
                        <a:t>Wage ($/hour)</a:t>
                      </a:r>
                      <a:endParaRPr lang="en-US" sz="1600" b="1" i="0" u="none" strike="noStrike" dirty="0">
                        <a:solidFill>
                          <a:srgbClr val="000000"/>
                        </a:solidFill>
                        <a:effectLst/>
                        <a:latin typeface="Calibri"/>
                      </a:endParaRPr>
                    </a:p>
                  </a:txBody>
                  <a:tcPr marL="9527" marR="9527" marT="9521" marB="0" anchor="ctr"/>
                </a:tc>
                <a:tc>
                  <a:txBody>
                    <a:bodyPr/>
                    <a:lstStyle/>
                    <a:p>
                      <a:pPr algn="ctr" fontAlgn="ctr"/>
                      <a:r>
                        <a:rPr lang="en-US" sz="1600" b="1" u="none" strike="noStrike" dirty="0">
                          <a:effectLst/>
                        </a:rPr>
                        <a:t>Number of years of Education</a:t>
                      </a:r>
                      <a:endParaRPr lang="en-US" sz="1600" b="1" i="0" u="none" strike="noStrike" dirty="0">
                        <a:solidFill>
                          <a:srgbClr val="000000"/>
                        </a:solidFill>
                        <a:effectLst/>
                        <a:latin typeface="Calibri"/>
                      </a:endParaRPr>
                    </a:p>
                  </a:txBody>
                  <a:tcPr marL="9527" marR="9527" marT="9521" marB="0" anchor="ctr"/>
                </a:tc>
                <a:tc>
                  <a:txBody>
                    <a:bodyPr/>
                    <a:lstStyle/>
                    <a:p>
                      <a:pPr algn="ctr" fontAlgn="ctr"/>
                      <a:r>
                        <a:rPr lang="en-US" sz="1600" b="1" u="none" strike="noStrike" dirty="0">
                          <a:effectLst/>
                        </a:rPr>
                        <a:t>Gender</a:t>
                      </a:r>
                      <a:endParaRPr lang="en-US" sz="1600" b="1" i="0" u="none" strike="noStrike" dirty="0">
                        <a:solidFill>
                          <a:srgbClr val="000000"/>
                        </a:solidFill>
                        <a:effectLst/>
                        <a:latin typeface="Calibri"/>
                      </a:endParaRPr>
                    </a:p>
                  </a:txBody>
                  <a:tcPr marL="9527" marR="9527" marT="9521" marB="0" anchor="ctr"/>
                </a:tc>
              </a:tr>
              <a:tr h="253336">
                <a:tc>
                  <a:txBody>
                    <a:bodyPr/>
                    <a:lstStyle/>
                    <a:p>
                      <a:pPr algn="ctr" fontAlgn="t"/>
                      <a:r>
                        <a:rPr lang="en-US" sz="1600" u="none" strike="noStrike" dirty="0">
                          <a:effectLst/>
                        </a:rPr>
                        <a:t>15.25</a:t>
                      </a:r>
                      <a:endParaRPr lang="en-US" sz="1600" b="0" i="0" u="none" strike="noStrike" dirty="0">
                        <a:solidFill>
                          <a:srgbClr val="000000"/>
                        </a:solidFill>
                        <a:effectLst/>
                        <a:latin typeface="Times New Roman"/>
                      </a:endParaRPr>
                    </a:p>
                  </a:txBody>
                  <a:tcPr marL="9527" marR="9527" marT="9521" marB="0"/>
                </a:tc>
                <a:tc>
                  <a:txBody>
                    <a:bodyPr/>
                    <a:lstStyle/>
                    <a:p>
                      <a:pPr algn="ctr" fontAlgn="t"/>
                      <a:r>
                        <a:rPr lang="en-US" sz="1600" u="none" strike="noStrike" dirty="0">
                          <a:effectLst/>
                        </a:rPr>
                        <a:t>16</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dirty="0">
                          <a:effectLst/>
                        </a:rPr>
                        <a:t>14.65</a:t>
                      </a:r>
                      <a:endParaRPr lang="en-US" sz="1600" b="0" i="0" u="none" strike="noStrike" dirty="0">
                        <a:solidFill>
                          <a:srgbClr val="000000"/>
                        </a:solidFill>
                        <a:effectLst/>
                        <a:latin typeface="Times New Roman"/>
                      </a:endParaRPr>
                    </a:p>
                  </a:txBody>
                  <a:tcPr marL="9527" marR="9527" marT="9521" marB="0"/>
                </a:tc>
                <a:tc>
                  <a:txBody>
                    <a:bodyPr/>
                    <a:lstStyle/>
                    <a:p>
                      <a:pPr algn="ctr" fontAlgn="t"/>
                      <a:r>
                        <a:rPr lang="en-US" sz="1600" u="none" strike="noStrike" dirty="0">
                          <a:effectLst/>
                        </a:rPr>
                        <a:t>14</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a:effectLst/>
                        </a:rPr>
                        <a:t>Male</a:t>
                      </a:r>
                      <a:endParaRPr lang="en-US" sz="1600" b="0" i="0" u="none" strike="noStrike">
                        <a:solidFill>
                          <a:srgbClr val="000000"/>
                        </a:solidFill>
                        <a:effectLst/>
                        <a:latin typeface="Calibri"/>
                      </a:endParaRPr>
                    </a:p>
                  </a:txBody>
                  <a:tcPr marL="9527" marR="9527" marT="9521" marB="0" anchor="b"/>
                </a:tc>
              </a:tr>
              <a:tr h="253336">
                <a:tc>
                  <a:txBody>
                    <a:bodyPr/>
                    <a:lstStyle/>
                    <a:p>
                      <a:pPr algn="ctr" fontAlgn="t"/>
                      <a:r>
                        <a:rPr lang="en-US" sz="1600" u="none" strike="noStrike" dirty="0" smtClean="0">
                          <a:effectLst/>
                        </a:rPr>
                        <a:t>6.25</a:t>
                      </a:r>
                      <a:endParaRPr lang="en-US" sz="1600" b="0" i="0" u="none" strike="noStrike" dirty="0">
                        <a:solidFill>
                          <a:srgbClr val="000000"/>
                        </a:solidFill>
                        <a:effectLst/>
                        <a:latin typeface="Times New Roman"/>
                      </a:endParaRPr>
                    </a:p>
                  </a:txBody>
                  <a:tcPr marL="9527" marR="9527" marT="9521" marB="0"/>
                </a:tc>
                <a:tc>
                  <a:txBody>
                    <a:bodyPr/>
                    <a:lstStyle/>
                    <a:p>
                      <a:pPr algn="ctr" fontAlgn="t"/>
                      <a:r>
                        <a:rPr lang="en-US" sz="1600" u="none" strike="noStrike" dirty="0">
                          <a:effectLst/>
                        </a:rPr>
                        <a:t>14</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a:effectLst/>
                        </a:rPr>
                        <a:t>Male</a:t>
                      </a:r>
                      <a:endParaRPr lang="en-US" sz="1600" b="0" i="0" u="none" strike="noStrike">
                        <a:solidFill>
                          <a:srgbClr val="000000"/>
                        </a:solidFill>
                        <a:effectLst/>
                        <a:latin typeface="Calibri"/>
                      </a:endParaRPr>
                    </a:p>
                  </a:txBody>
                  <a:tcPr marL="9527" marR="9527" marT="9521" marB="0" anchor="b"/>
                </a:tc>
              </a:tr>
              <a:tr h="253336">
                <a:tc>
                  <a:txBody>
                    <a:bodyPr/>
                    <a:lstStyle/>
                    <a:p>
                      <a:pPr algn="ctr" fontAlgn="t"/>
                      <a:r>
                        <a:rPr lang="en-US" sz="1600" u="none" strike="noStrike" dirty="0">
                          <a:effectLst/>
                        </a:rPr>
                        <a:t>17.55</a:t>
                      </a:r>
                      <a:endParaRPr lang="en-US" sz="1600" b="0" i="0" u="none" strike="noStrike" dirty="0">
                        <a:solidFill>
                          <a:srgbClr val="000000"/>
                        </a:solidFill>
                        <a:effectLst/>
                        <a:latin typeface="Times New Roman"/>
                      </a:endParaRPr>
                    </a:p>
                  </a:txBody>
                  <a:tcPr marL="9527" marR="9527" marT="9521" marB="0"/>
                </a:tc>
                <a:tc>
                  <a:txBody>
                    <a:bodyPr/>
                    <a:lstStyle/>
                    <a:p>
                      <a:pPr algn="ctr" fontAlgn="t"/>
                      <a:r>
                        <a:rPr lang="en-US" sz="1600" u="none" strike="noStrike" dirty="0">
                          <a:effectLst/>
                        </a:rPr>
                        <a:t>12</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a:effectLst/>
                        </a:rPr>
                        <a:t>Female</a:t>
                      </a:r>
                      <a:endParaRPr lang="en-US" sz="1600" b="0" i="0" u="none" strike="noStrike">
                        <a:solidFill>
                          <a:srgbClr val="000000"/>
                        </a:solidFill>
                        <a:effectLst/>
                        <a:latin typeface="Calibri"/>
                      </a:endParaRPr>
                    </a:p>
                  </a:txBody>
                  <a:tcPr marL="9527" marR="9527" marT="9521" marB="0" anchor="b"/>
                </a:tc>
              </a:tr>
              <a:tr h="253336">
                <a:tc>
                  <a:txBody>
                    <a:bodyPr/>
                    <a:lstStyle/>
                    <a:p>
                      <a:pPr algn="ctr" fontAlgn="t"/>
                      <a:r>
                        <a:rPr lang="en-US" sz="1600" u="none" strike="noStrike" dirty="0">
                          <a:effectLst/>
                        </a:rPr>
                        <a:t>11.25</a:t>
                      </a:r>
                      <a:endParaRPr lang="en-US" sz="1600" b="0" i="0" u="none" strike="noStrike" dirty="0">
                        <a:solidFill>
                          <a:srgbClr val="000000"/>
                        </a:solidFill>
                        <a:effectLst/>
                        <a:latin typeface="Times New Roman"/>
                      </a:endParaRPr>
                    </a:p>
                  </a:txBody>
                  <a:tcPr marL="9527" marR="9527" marT="9521" marB="0"/>
                </a:tc>
                <a:tc>
                  <a:txBody>
                    <a:bodyPr/>
                    <a:lstStyle/>
                    <a:p>
                      <a:pPr algn="ctr" fontAlgn="t"/>
                      <a:r>
                        <a:rPr lang="en-US" sz="1600" u="none" strike="noStrike" dirty="0">
                          <a:effectLst/>
                        </a:rPr>
                        <a:t>12</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Female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a:effectLst/>
                        </a:rPr>
                        <a:t>21.25</a:t>
                      </a:r>
                      <a:endParaRPr lang="en-US" sz="1600" b="0" i="0" u="none" strike="noStrike">
                        <a:solidFill>
                          <a:srgbClr val="000000"/>
                        </a:solidFill>
                        <a:effectLst/>
                        <a:latin typeface="Times New Roman"/>
                      </a:endParaRPr>
                    </a:p>
                  </a:txBody>
                  <a:tcPr marL="9527" marR="9527" marT="9521" marB="0"/>
                </a:tc>
                <a:tc>
                  <a:txBody>
                    <a:bodyPr/>
                    <a:lstStyle/>
                    <a:p>
                      <a:pPr algn="ctr" fontAlgn="t"/>
                      <a:r>
                        <a:rPr lang="en-US" sz="1600" u="none" strike="noStrike" dirty="0">
                          <a:effectLst/>
                        </a:rPr>
                        <a:t>13</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a:effectLst/>
                        </a:rPr>
                        <a:t>25.65</a:t>
                      </a:r>
                      <a:endParaRPr lang="en-US" sz="1600" b="0" i="0" u="none" strike="noStrike">
                        <a:solidFill>
                          <a:srgbClr val="000000"/>
                        </a:solidFill>
                        <a:effectLst/>
                        <a:latin typeface="Times New Roman"/>
                      </a:endParaRPr>
                    </a:p>
                  </a:txBody>
                  <a:tcPr marL="9527" marR="9527" marT="9521" marB="0"/>
                </a:tc>
                <a:tc>
                  <a:txBody>
                    <a:bodyPr/>
                    <a:lstStyle/>
                    <a:p>
                      <a:pPr algn="ctr" fontAlgn="t"/>
                      <a:r>
                        <a:rPr lang="en-US" sz="1600" u="none" strike="noStrike" dirty="0">
                          <a:effectLst/>
                        </a:rPr>
                        <a:t>17</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Female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a:effectLst/>
                        </a:rPr>
                        <a:t>7.50</a:t>
                      </a:r>
                      <a:endParaRPr lang="en-US" sz="1600" b="0" i="0" u="none" strike="noStrike">
                        <a:solidFill>
                          <a:srgbClr val="000000"/>
                        </a:solidFill>
                        <a:effectLst/>
                        <a:latin typeface="Times New Roman"/>
                      </a:endParaRPr>
                    </a:p>
                  </a:txBody>
                  <a:tcPr marL="9527" marR="9527" marT="9521" marB="0"/>
                </a:tc>
                <a:tc>
                  <a:txBody>
                    <a:bodyPr/>
                    <a:lstStyle/>
                    <a:p>
                      <a:pPr algn="ctr" fontAlgn="t"/>
                      <a:r>
                        <a:rPr lang="en-US" sz="1600" u="none" strike="noStrike" dirty="0">
                          <a:effectLst/>
                        </a:rPr>
                        <a:t>12</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a:effectLst/>
                        </a:rPr>
                        <a:t>17.25</a:t>
                      </a:r>
                      <a:endParaRPr lang="en-US" sz="1600" b="0" i="0" u="none" strike="noStrike">
                        <a:solidFill>
                          <a:srgbClr val="000000"/>
                        </a:solidFill>
                        <a:effectLst/>
                        <a:latin typeface="Times New Roman"/>
                      </a:endParaRPr>
                    </a:p>
                  </a:txBody>
                  <a:tcPr marL="9527" marR="9527" marT="9521" marB="0"/>
                </a:tc>
                <a:tc>
                  <a:txBody>
                    <a:bodyPr/>
                    <a:lstStyle/>
                    <a:p>
                      <a:pPr algn="ctr" fontAlgn="t"/>
                      <a:r>
                        <a:rPr lang="en-US" sz="1600" u="none" strike="noStrike" dirty="0">
                          <a:effectLst/>
                        </a:rPr>
                        <a:t>14</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Female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a:effectLst/>
                        </a:rPr>
                        <a:t>13.35</a:t>
                      </a:r>
                      <a:endParaRPr lang="en-US" sz="1600" b="0" i="0" u="none" strike="noStrike">
                        <a:solidFill>
                          <a:srgbClr val="000000"/>
                        </a:solidFill>
                        <a:effectLst/>
                        <a:latin typeface="Times New Roman"/>
                      </a:endParaRPr>
                    </a:p>
                  </a:txBody>
                  <a:tcPr marL="9527" marR="9527" marT="9521" marB="0"/>
                </a:tc>
                <a:tc>
                  <a:txBody>
                    <a:bodyPr/>
                    <a:lstStyle/>
                    <a:p>
                      <a:pPr algn="ctr" fontAlgn="t"/>
                      <a:r>
                        <a:rPr lang="en-US" sz="1600" u="none" strike="noStrike" dirty="0">
                          <a:effectLst/>
                        </a:rPr>
                        <a:t>16</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a:effectLst/>
                        </a:rPr>
                        <a:t>13.45</a:t>
                      </a:r>
                      <a:endParaRPr lang="en-US" sz="1600" b="0" i="0" u="none" strike="noStrike">
                        <a:solidFill>
                          <a:srgbClr val="000000"/>
                        </a:solidFill>
                        <a:effectLst/>
                        <a:latin typeface="Times New Roman"/>
                      </a:endParaRPr>
                    </a:p>
                  </a:txBody>
                  <a:tcPr marL="9527" marR="9527" marT="9521" marB="0"/>
                </a:tc>
                <a:tc>
                  <a:txBody>
                    <a:bodyPr/>
                    <a:lstStyle/>
                    <a:p>
                      <a:pPr algn="ctr" fontAlgn="t"/>
                      <a:r>
                        <a:rPr lang="en-US" sz="1600" u="none" strike="noStrike" dirty="0">
                          <a:effectLst/>
                        </a:rPr>
                        <a:t>16</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a:effectLst/>
                        </a:rPr>
                        <a:t>14.84</a:t>
                      </a:r>
                      <a:endParaRPr lang="en-US" sz="1600" b="0" i="0" u="none" strike="noStrike">
                        <a:solidFill>
                          <a:srgbClr val="000000"/>
                        </a:solidFill>
                        <a:effectLst/>
                        <a:latin typeface="Times New Roman"/>
                      </a:endParaRPr>
                    </a:p>
                  </a:txBody>
                  <a:tcPr marL="9527" marR="9527" marT="9521" marB="0"/>
                </a:tc>
                <a:tc>
                  <a:txBody>
                    <a:bodyPr/>
                    <a:lstStyle/>
                    <a:p>
                      <a:pPr algn="ctr" fontAlgn="t"/>
                      <a:r>
                        <a:rPr lang="en-US" sz="1600" u="none" strike="noStrike" dirty="0">
                          <a:effectLst/>
                        </a:rPr>
                        <a:t>15</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a:effectLst/>
                        </a:rPr>
                        <a:t>18.29</a:t>
                      </a:r>
                      <a:endParaRPr lang="en-US" sz="1600" b="0" i="0" u="none" strike="noStrike">
                        <a:solidFill>
                          <a:srgbClr val="000000"/>
                        </a:solidFill>
                        <a:effectLst/>
                        <a:latin typeface="Times New Roman"/>
                      </a:endParaRPr>
                    </a:p>
                  </a:txBody>
                  <a:tcPr marL="9527" marR="9527" marT="9521" marB="0"/>
                </a:tc>
                <a:tc>
                  <a:txBody>
                    <a:bodyPr/>
                    <a:lstStyle/>
                    <a:p>
                      <a:pPr algn="ctr" fontAlgn="t"/>
                      <a:r>
                        <a:rPr lang="en-US" sz="1600" u="none" strike="noStrike" dirty="0">
                          <a:effectLst/>
                        </a:rPr>
                        <a:t>17</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a:effectLst/>
                        </a:rPr>
                        <a:t>19.58</a:t>
                      </a:r>
                      <a:endParaRPr lang="en-US" sz="1600" b="0" i="0" u="none" strike="noStrike">
                        <a:solidFill>
                          <a:srgbClr val="000000"/>
                        </a:solidFill>
                        <a:effectLst/>
                        <a:latin typeface="Times New Roman"/>
                      </a:endParaRPr>
                    </a:p>
                  </a:txBody>
                  <a:tcPr marL="9527" marR="9527" marT="9521" marB="0"/>
                </a:tc>
                <a:tc>
                  <a:txBody>
                    <a:bodyPr/>
                    <a:lstStyle/>
                    <a:p>
                      <a:pPr algn="ctr" fontAlgn="t"/>
                      <a:r>
                        <a:rPr lang="en-US" sz="1600" u="none" strike="noStrike" dirty="0">
                          <a:effectLst/>
                        </a:rPr>
                        <a:t>12</a:t>
                      </a:r>
                      <a:endParaRPr lang="en-US" sz="1600" b="0" i="0" u="none" strike="noStrike" dirty="0">
                        <a:solidFill>
                          <a:srgbClr val="000000"/>
                        </a:solidFill>
                        <a:effectLst/>
                        <a:latin typeface="Times New Roman"/>
                      </a:endParaRPr>
                    </a:p>
                  </a:txBody>
                  <a:tcPr marL="9527" marR="9527" marT="9521" marB="0"/>
                </a:tc>
                <a:tc>
                  <a:txBody>
                    <a:bodyPr/>
                    <a:lstStyle/>
                    <a:p>
                      <a:pPr algn="ctr" fontAlgn="b"/>
                      <a:r>
                        <a:rPr lang="en-US" sz="1600" u="none" strike="noStrike" dirty="0">
                          <a:effectLst/>
                        </a:rPr>
                        <a:t>Female</a:t>
                      </a:r>
                      <a:endParaRPr lang="en-US" sz="1600" b="0" i="0" u="none" strike="noStrike" dirty="0">
                        <a:solidFill>
                          <a:srgbClr val="000000"/>
                        </a:solidFill>
                        <a:effectLst/>
                        <a:latin typeface="Calibri"/>
                      </a:endParaRPr>
                    </a:p>
                  </a:txBody>
                  <a:tcPr marL="9527" marR="9527" marT="9521" marB="0" anchor="b"/>
                </a:tc>
              </a:tr>
              <a:tr h="253336">
                <a:tc>
                  <a:txBody>
                    <a:bodyPr/>
                    <a:lstStyle/>
                    <a:p>
                      <a:pPr algn="ctr" fontAlgn="t"/>
                      <a:r>
                        <a:rPr lang="en-US" sz="1600" u="none" strike="noStrike">
                          <a:effectLst/>
                        </a:rPr>
                        <a:t>24.50</a:t>
                      </a:r>
                      <a:endParaRPr lang="en-US" sz="1600" b="0" i="0" u="none" strike="noStrike">
                        <a:solidFill>
                          <a:srgbClr val="000000"/>
                        </a:solidFill>
                        <a:effectLst/>
                        <a:latin typeface="Times New Roman"/>
                      </a:endParaRPr>
                    </a:p>
                  </a:txBody>
                  <a:tcPr marL="9527" marR="9527" marT="9521" marB="0"/>
                </a:tc>
                <a:tc>
                  <a:txBody>
                    <a:bodyPr/>
                    <a:lstStyle/>
                    <a:p>
                      <a:pPr algn="ctr" fontAlgn="t"/>
                      <a:r>
                        <a:rPr lang="en-US" sz="1600" u="none" strike="noStrike">
                          <a:effectLst/>
                        </a:rPr>
                        <a:t>14</a:t>
                      </a:r>
                      <a:endParaRPr lang="en-US" sz="1600" b="0" i="0" u="none" strike="noStrike">
                        <a:solidFill>
                          <a:srgbClr val="000000"/>
                        </a:solidFill>
                        <a:effectLst/>
                        <a:latin typeface="Times New Roman"/>
                      </a:endParaRPr>
                    </a:p>
                  </a:txBody>
                  <a:tcPr marL="9527" marR="9527" marT="9521" marB="0"/>
                </a:tc>
                <a:tc>
                  <a:txBody>
                    <a:bodyPr/>
                    <a:lstStyle/>
                    <a:p>
                      <a:pPr algn="ctr" fontAlgn="b"/>
                      <a:r>
                        <a:rPr lang="en-US" sz="1600" u="none" strike="noStrike" dirty="0">
                          <a:effectLst/>
                        </a:rPr>
                        <a:t>Female</a:t>
                      </a:r>
                      <a:endParaRPr lang="en-US" sz="1600" b="0" i="0" u="none" strike="noStrike" dirty="0">
                        <a:solidFill>
                          <a:srgbClr val="000000"/>
                        </a:solidFill>
                        <a:effectLst/>
                        <a:latin typeface="Calibri"/>
                      </a:endParaRPr>
                    </a:p>
                  </a:txBody>
                  <a:tcPr marL="9527" marR="9527" marT="9521" marB="0" anchor="b"/>
                </a:tc>
              </a:tr>
            </a:tbl>
          </a:graphicData>
        </a:graphic>
      </p:graphicFrame>
      <p:sp>
        <p:nvSpPr>
          <p:cNvPr id="15434"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E8B6549D-EB25-4AF8-AD02-96DD5FFBD8F2}" type="slidenum">
              <a:rPr lang="en-US" smtClean="0"/>
              <a:pPr/>
              <a:t>14</a:t>
            </a:fld>
            <a:endParaRPr lang="en-US"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904875" y="273050"/>
            <a:ext cx="7772400" cy="779463"/>
          </a:xfrm>
        </p:spPr>
        <p:txBody>
          <a:bodyPr/>
          <a:lstStyle/>
          <a:p>
            <a:r>
              <a:rPr lang="en-US" sz="3600" smtClean="0">
                <a:solidFill>
                  <a:schemeClr val="tx1"/>
                </a:solidFill>
                <a:latin typeface="Times New Roman" pitchFamily="18" charset="0"/>
                <a:ea typeface="ＭＳ Ｐゴシック" pitchFamily="17" charset="-128"/>
                <a:cs typeface="Times New Roman" pitchFamily="18" charset="0"/>
              </a:rPr>
              <a:t>Solution.</a:t>
            </a:r>
          </a:p>
        </p:txBody>
      </p:sp>
      <p:sp>
        <p:nvSpPr>
          <p:cNvPr id="7" name="Text Placeholder 6"/>
          <p:cNvSpPr>
            <a:spLocks noGrp="1"/>
          </p:cNvSpPr>
          <p:nvPr>
            <p:ph type="body" idx="1"/>
          </p:nvPr>
        </p:nvSpPr>
        <p:spPr>
          <a:xfrm>
            <a:off x="914400" y="1052513"/>
            <a:ext cx="7772400" cy="1800225"/>
          </a:xfrm>
        </p:spPr>
        <p:txBody>
          <a:bodyPr/>
          <a:lstStyle/>
          <a:p>
            <a:pPr>
              <a:defRPr/>
            </a:pPr>
            <a:r>
              <a:rPr lang="en-US" sz="2200" b="0" dirty="0" smtClean="0">
                <a:solidFill>
                  <a:schemeClr val="tx1"/>
                </a:solidFill>
                <a:latin typeface="Times New Roman" pitchFamily="18" charset="0"/>
                <a:cs typeface="Times New Roman" pitchFamily="18" charset="0"/>
              </a:rPr>
              <a:t>Initially, we </a:t>
            </a:r>
            <a:r>
              <a:rPr lang="en-US" sz="2200" b="0" dirty="0">
                <a:solidFill>
                  <a:schemeClr val="tx1"/>
                </a:solidFill>
                <a:latin typeface="Times New Roman" pitchFamily="18" charset="0"/>
                <a:cs typeface="Times New Roman" pitchFamily="18" charset="0"/>
              </a:rPr>
              <a:t>have </a:t>
            </a:r>
            <a:r>
              <a:rPr lang="en-US" sz="2200" b="0" dirty="0" smtClean="0">
                <a:solidFill>
                  <a:schemeClr val="tx1"/>
                </a:solidFill>
                <a:latin typeface="Times New Roman" pitchFamily="18" charset="0"/>
                <a:cs typeface="Times New Roman" pitchFamily="18" charset="0"/>
              </a:rPr>
              <a:t>2 </a:t>
            </a:r>
            <a:r>
              <a:rPr lang="en-US" sz="2200" b="0" dirty="0">
                <a:solidFill>
                  <a:schemeClr val="tx1"/>
                </a:solidFill>
                <a:latin typeface="Times New Roman" pitchFamily="18" charset="0"/>
                <a:cs typeface="Times New Roman" pitchFamily="18" charset="0"/>
              </a:rPr>
              <a:t>independent variables: </a:t>
            </a:r>
            <a:r>
              <a:rPr lang="en-US" sz="2200" b="0" dirty="0" smtClean="0">
                <a:solidFill>
                  <a:schemeClr val="tx1"/>
                </a:solidFill>
                <a:latin typeface="Times New Roman" pitchFamily="18" charset="0"/>
                <a:cs typeface="Times New Roman" pitchFamily="18" charset="0"/>
              </a:rPr>
              <a:t>Number </a:t>
            </a:r>
            <a:r>
              <a:rPr lang="en-US" sz="2200" b="0" dirty="0">
                <a:solidFill>
                  <a:schemeClr val="tx1"/>
                </a:solidFill>
                <a:latin typeface="Times New Roman" pitchFamily="18" charset="0"/>
                <a:cs typeface="Times New Roman" pitchFamily="18" charset="0"/>
              </a:rPr>
              <a:t>of years of education is numeric </a:t>
            </a:r>
            <a:r>
              <a:rPr lang="en-US" sz="2200" b="0" dirty="0" smtClean="0">
                <a:solidFill>
                  <a:schemeClr val="tx1"/>
                </a:solidFill>
                <a:latin typeface="Times New Roman" pitchFamily="18" charset="0"/>
                <a:cs typeface="Times New Roman" pitchFamily="18" charset="0"/>
              </a:rPr>
              <a:t>data (Let’s call it variable “Education”).  Gender is categorical </a:t>
            </a:r>
            <a:r>
              <a:rPr lang="en-US" sz="2200" b="0" dirty="0">
                <a:solidFill>
                  <a:schemeClr val="tx1"/>
                </a:solidFill>
                <a:latin typeface="Times New Roman" pitchFamily="18" charset="0"/>
                <a:cs typeface="Times New Roman" pitchFamily="18" charset="0"/>
              </a:rPr>
              <a:t>data. First, we need to turn </a:t>
            </a:r>
            <a:r>
              <a:rPr lang="en-US" sz="2200" b="0" dirty="0" smtClean="0">
                <a:solidFill>
                  <a:schemeClr val="tx1"/>
                </a:solidFill>
                <a:latin typeface="Times New Roman" pitchFamily="18" charset="0"/>
                <a:cs typeface="Times New Roman" pitchFamily="18" charset="0"/>
              </a:rPr>
              <a:t>this categorical </a:t>
            </a:r>
            <a:r>
              <a:rPr lang="en-US" sz="2200" b="0" dirty="0">
                <a:solidFill>
                  <a:schemeClr val="tx1"/>
                </a:solidFill>
                <a:latin typeface="Times New Roman" pitchFamily="18" charset="0"/>
                <a:cs typeface="Times New Roman" pitchFamily="18" charset="0"/>
              </a:rPr>
              <a:t>data into dummy </a:t>
            </a:r>
            <a:r>
              <a:rPr lang="en-US" sz="2200" b="0" dirty="0" smtClean="0">
                <a:solidFill>
                  <a:schemeClr val="tx1"/>
                </a:solidFill>
                <a:latin typeface="Times New Roman" pitchFamily="18" charset="0"/>
                <a:cs typeface="Times New Roman" pitchFamily="18" charset="0"/>
              </a:rPr>
              <a:t>variable.</a:t>
            </a:r>
            <a:endParaRPr lang="en-US" sz="2200" b="0" dirty="0">
              <a:solidFill>
                <a:schemeClr val="tx1"/>
              </a:solidFill>
              <a:latin typeface="Times New Roman" pitchFamily="18" charset="0"/>
              <a:cs typeface="Times New Roman" pitchFamily="18" charset="0"/>
            </a:endParaRPr>
          </a:p>
          <a:p>
            <a:pPr>
              <a:defRPr/>
            </a:pPr>
            <a:endParaRPr lang="en-US" sz="2200" b="0" dirty="0">
              <a:solidFill>
                <a:schemeClr val="tx1"/>
              </a:solidFill>
              <a:latin typeface="Times New Roman" pitchFamily="18" charset="0"/>
              <a:cs typeface="Times New Roman" pitchFamily="18" charset="0"/>
            </a:endParaRPr>
          </a:p>
        </p:txBody>
      </p:sp>
      <p:sp>
        <p:nvSpPr>
          <p:cNvPr id="8" name="Text Placeholder 7"/>
          <p:cNvSpPr>
            <a:spLocks noGrp="1"/>
          </p:cNvSpPr>
          <p:nvPr>
            <p:ph type="body" sz="half" idx="3"/>
          </p:nvPr>
        </p:nvSpPr>
        <p:spPr>
          <a:xfrm>
            <a:off x="4427538" y="3033713"/>
            <a:ext cx="4259262" cy="935037"/>
          </a:xfrm>
        </p:spPr>
        <p:txBody>
          <a:bodyPr/>
          <a:lstStyle/>
          <a:p>
            <a:pPr>
              <a:defRPr/>
            </a:pPr>
            <a:endParaRPr lang="en-US" sz="2200" b="0" dirty="0" smtClean="0">
              <a:solidFill>
                <a:schemeClr val="tx1"/>
              </a:solidFill>
              <a:latin typeface="Times New Roman" pitchFamily="18" charset="0"/>
              <a:cs typeface="Times New Roman" pitchFamily="18" charset="0"/>
            </a:endParaRPr>
          </a:p>
          <a:p>
            <a:pPr>
              <a:defRPr/>
            </a:pPr>
            <a:endParaRPr lang="en-US" sz="2200" b="0" dirty="0" smtClean="0">
              <a:solidFill>
                <a:schemeClr val="tx1"/>
              </a:solidFill>
              <a:latin typeface="Times New Roman" pitchFamily="18" charset="0"/>
              <a:cs typeface="Times New Roman" pitchFamily="18" charset="0"/>
            </a:endParaRPr>
          </a:p>
          <a:p>
            <a:pPr>
              <a:defRPr/>
            </a:pPr>
            <a:endParaRPr lang="en-US" sz="2200" b="0" dirty="0">
              <a:solidFill>
                <a:schemeClr val="tx1"/>
              </a:solidFill>
              <a:latin typeface="Times New Roman" pitchFamily="18" charset="0"/>
              <a:cs typeface="Times New Roman" pitchFamily="18" charset="0"/>
            </a:endParaRPr>
          </a:p>
          <a:p>
            <a:pPr>
              <a:defRPr/>
            </a:pPr>
            <a:endParaRPr lang="en-US" dirty="0"/>
          </a:p>
        </p:txBody>
      </p:sp>
      <p:sp>
        <p:nvSpPr>
          <p:cNvPr id="16389" name="Content Placeholder 2"/>
          <p:cNvSpPr>
            <a:spLocks noGrp="1"/>
          </p:cNvSpPr>
          <p:nvPr>
            <p:ph sz="half" idx="2"/>
          </p:nvPr>
        </p:nvSpPr>
        <p:spPr>
          <a:xfrm>
            <a:off x="914400" y="2852738"/>
            <a:ext cx="7113588" cy="3281362"/>
          </a:xfrm>
        </p:spPr>
        <p:txBody>
          <a:bodyPr/>
          <a:lstStyle/>
          <a:p>
            <a:pPr marL="0" indent="0">
              <a:buFont typeface="Wingdings 2" pitchFamily="17" charset="2"/>
              <a:buNone/>
            </a:pPr>
            <a:r>
              <a:rPr lang="en-US" sz="2200" smtClean="0">
                <a:latin typeface="Times New Roman" pitchFamily="18" charset="0"/>
                <a:ea typeface="ＭＳ Ｐゴシック" pitchFamily="17" charset="-128"/>
                <a:cs typeface="Times New Roman" pitchFamily="18" charset="0"/>
              </a:rPr>
              <a:t>Gender can be converted into 1 dummy variable: Female</a:t>
            </a:r>
          </a:p>
          <a:p>
            <a:pPr marL="0" indent="0">
              <a:buFont typeface="Wingdings 2" pitchFamily="17" charset="2"/>
              <a:buNone/>
            </a:pPr>
            <a:endParaRPr lang="en-US" smtClean="0">
              <a:ea typeface="ＭＳ Ｐゴシック" pitchFamily="17" charset="-128"/>
            </a:endParaRPr>
          </a:p>
        </p:txBody>
      </p:sp>
      <p:graphicFrame>
        <p:nvGraphicFramePr>
          <p:cNvPr id="4" name="Table 3"/>
          <p:cNvGraphicFramePr>
            <a:graphicFrameLocks noGrp="1"/>
          </p:cNvGraphicFramePr>
          <p:nvPr/>
        </p:nvGraphicFramePr>
        <p:xfrm>
          <a:off x="1720850" y="3844925"/>
          <a:ext cx="1627188" cy="1997076"/>
        </p:xfrm>
        <a:graphic>
          <a:graphicData uri="http://schemas.openxmlformats.org/drawingml/2006/table">
            <a:tbl>
              <a:tblPr firstRow="1" bandRow="1">
                <a:tableStyleId>{5940675A-B579-460E-94D1-54222C63F5DA}</a:tableStyleId>
              </a:tblPr>
              <a:tblGrid>
                <a:gridCol w="1627188"/>
              </a:tblGrid>
              <a:tr h="665692">
                <a:tc>
                  <a:txBody>
                    <a:bodyPr/>
                    <a:lstStyle/>
                    <a:p>
                      <a:pPr algn="ctr"/>
                      <a:r>
                        <a:rPr lang="en-US" sz="2000" b="1" dirty="0" smtClean="0">
                          <a:latin typeface="Times New Roman" pitchFamily="18" charset="0"/>
                          <a:cs typeface="Times New Roman" pitchFamily="18" charset="0"/>
                        </a:rPr>
                        <a:t>Gender</a:t>
                      </a:r>
                      <a:endParaRPr lang="en-US" sz="2000" b="1" dirty="0">
                        <a:latin typeface="Times New Roman" pitchFamily="18" charset="0"/>
                        <a:cs typeface="Times New Roman" pitchFamily="18" charset="0"/>
                      </a:endParaRPr>
                    </a:p>
                  </a:txBody>
                  <a:tcPr marL="91477" marR="91477" marT="45735" marB="45735">
                    <a:solidFill>
                      <a:schemeClr val="bg2"/>
                    </a:solidFill>
                  </a:tcPr>
                </a:tc>
              </a:tr>
              <a:tr h="665692">
                <a:tc>
                  <a:txBody>
                    <a:bodyPr/>
                    <a:lstStyle/>
                    <a:p>
                      <a:pPr algn="ctr"/>
                      <a:r>
                        <a:rPr lang="en-US" sz="2000" dirty="0" smtClean="0">
                          <a:latin typeface="Times New Roman" pitchFamily="18" charset="0"/>
                          <a:cs typeface="Times New Roman" pitchFamily="18" charset="0"/>
                        </a:rPr>
                        <a:t>Female</a:t>
                      </a:r>
                    </a:p>
                  </a:txBody>
                  <a:tcPr marL="91477" marR="91477" marT="45735" marB="45735"/>
                </a:tc>
              </a:tr>
              <a:tr h="665692">
                <a:tc>
                  <a:txBody>
                    <a:bodyPr/>
                    <a:lstStyle/>
                    <a:p>
                      <a:pPr algn="ctr"/>
                      <a:r>
                        <a:rPr lang="en-US" sz="2000" dirty="0" smtClean="0">
                          <a:latin typeface="Times New Roman" pitchFamily="18" charset="0"/>
                          <a:cs typeface="Times New Roman" pitchFamily="18" charset="0"/>
                        </a:rPr>
                        <a:t>Male</a:t>
                      </a:r>
                      <a:endParaRPr lang="en-US" sz="2000" dirty="0">
                        <a:latin typeface="Times New Roman" pitchFamily="18" charset="0"/>
                        <a:cs typeface="Times New Roman" pitchFamily="18" charset="0"/>
                      </a:endParaRPr>
                    </a:p>
                  </a:txBody>
                  <a:tcPr marL="91477" marR="91477" marT="45735" marB="45735"/>
                </a:tc>
              </a:tr>
            </a:tbl>
          </a:graphicData>
        </a:graphic>
      </p:graphicFrame>
      <p:graphicFrame>
        <p:nvGraphicFramePr>
          <p:cNvPr id="5" name="Table 4"/>
          <p:cNvGraphicFramePr>
            <a:graphicFrameLocks noGrp="1"/>
          </p:cNvGraphicFramePr>
          <p:nvPr/>
        </p:nvGraphicFramePr>
        <p:xfrm>
          <a:off x="5400675" y="3844925"/>
          <a:ext cx="1584325" cy="1963737"/>
        </p:xfrm>
        <a:graphic>
          <a:graphicData uri="http://schemas.openxmlformats.org/drawingml/2006/table">
            <a:tbl>
              <a:tblPr firstRow="1" bandRow="1">
                <a:tableStyleId>{5940675A-B579-460E-94D1-54222C63F5DA}</a:tableStyleId>
              </a:tblPr>
              <a:tblGrid>
                <a:gridCol w="1584325"/>
              </a:tblGrid>
              <a:tr h="654579">
                <a:tc>
                  <a:txBody>
                    <a:bodyPr/>
                    <a:lstStyle/>
                    <a:p>
                      <a:pPr algn="ctr"/>
                      <a:r>
                        <a:rPr lang="en-US" sz="2000" b="1" dirty="0" smtClean="0">
                          <a:latin typeface="Times New Roman" pitchFamily="18" charset="0"/>
                          <a:cs typeface="Times New Roman" pitchFamily="18" charset="0"/>
                        </a:rPr>
                        <a:t>Female</a:t>
                      </a:r>
                      <a:endParaRPr lang="en-US" sz="2000" b="1" dirty="0">
                        <a:latin typeface="Times New Roman" pitchFamily="18" charset="0"/>
                        <a:cs typeface="Times New Roman" pitchFamily="18" charset="0"/>
                      </a:endParaRPr>
                    </a:p>
                  </a:txBody>
                  <a:tcPr marL="91449" marR="91449" marT="45727" marB="45727">
                    <a:solidFill>
                      <a:schemeClr val="bg2"/>
                    </a:solidFill>
                  </a:tcPr>
                </a:tc>
              </a:tr>
              <a:tr h="654579">
                <a:tc>
                  <a:txBody>
                    <a:bodyPr/>
                    <a:lstStyle/>
                    <a:p>
                      <a:pPr algn="ctr"/>
                      <a:r>
                        <a:rPr lang="en-US" sz="2000" dirty="0" smtClean="0">
                          <a:latin typeface="Times New Roman" pitchFamily="18" charset="0"/>
                          <a:cs typeface="Times New Roman" pitchFamily="18" charset="0"/>
                        </a:rPr>
                        <a:t>1</a:t>
                      </a:r>
                      <a:endParaRPr lang="en-US" sz="2000" dirty="0">
                        <a:latin typeface="Times New Roman" pitchFamily="18" charset="0"/>
                        <a:cs typeface="Times New Roman" pitchFamily="18" charset="0"/>
                      </a:endParaRPr>
                    </a:p>
                  </a:txBody>
                  <a:tcPr marL="91449" marR="91449" marT="45727" marB="45727"/>
                </a:tc>
              </a:tr>
              <a:tr h="654579">
                <a:tc>
                  <a:txBody>
                    <a:bodyPr/>
                    <a:lstStyle/>
                    <a:p>
                      <a:pPr algn="ctr"/>
                      <a:r>
                        <a:rPr lang="en-US" sz="2000" dirty="0" smtClean="0">
                          <a:latin typeface="Times New Roman" pitchFamily="18" charset="0"/>
                          <a:cs typeface="Times New Roman" pitchFamily="18" charset="0"/>
                        </a:rPr>
                        <a:t>0</a:t>
                      </a:r>
                      <a:endParaRPr lang="en-US" sz="2000" dirty="0">
                        <a:latin typeface="Times New Roman" pitchFamily="18" charset="0"/>
                        <a:cs typeface="Times New Roman" pitchFamily="18" charset="0"/>
                      </a:endParaRPr>
                    </a:p>
                  </a:txBody>
                  <a:tcPr marL="91449" marR="91449" marT="45727" marB="45727"/>
                </a:tc>
              </a:tr>
            </a:tbl>
          </a:graphicData>
        </a:graphic>
      </p:graphicFrame>
      <p:sp>
        <p:nvSpPr>
          <p:cNvPr id="6" name="Right Arrow 5"/>
          <p:cNvSpPr/>
          <p:nvPr/>
        </p:nvSpPr>
        <p:spPr>
          <a:xfrm>
            <a:off x="4031940" y="4401108"/>
            <a:ext cx="792088" cy="612068"/>
          </a:xfrm>
          <a:prstGeom prst="rightArrow">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413"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28C68614-DEB5-47E6-8BF9-385E4ADFD7E4}" type="slidenum">
              <a:rPr lang="en-US" smtClean="0"/>
              <a:pPr/>
              <a:t>15</a:t>
            </a:fld>
            <a:endParaRPr lang="en-US"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914400" y="274638"/>
            <a:ext cx="7772400" cy="561975"/>
          </a:xfrm>
        </p:spPr>
        <p:txBody>
          <a:bodyPr/>
          <a:lstStyle/>
          <a:p>
            <a:r>
              <a:rPr lang="en-US" smtClean="0">
                <a:solidFill>
                  <a:schemeClr val="tx1"/>
                </a:solidFill>
                <a:latin typeface="Times New Roman" pitchFamily="18" charset="0"/>
                <a:ea typeface="ＭＳ Ｐゴシック" pitchFamily="17" charset="-128"/>
                <a:cs typeface="Times New Roman" pitchFamily="18" charset="0"/>
              </a:rPr>
              <a:t>Solution.</a:t>
            </a:r>
            <a:endParaRPr lang="en-US" smtClean="0">
              <a:ea typeface="ＭＳ Ｐゴシック" pitchFamily="17" charset="-128"/>
            </a:endParaRPr>
          </a:p>
        </p:txBody>
      </p:sp>
      <mc:AlternateContent xmlns:mc="http://schemas.openxmlformats.org/markup-compatibility/2006" xmlns:a14="http://schemas.microsoft.com/office/drawing/2010/main">
        <mc:Choice Requires="a14">
          <p:sp>
            <p:nvSpPr>
              <p:cNvPr id="17411" name="Content Placeholder 2"/>
              <p:cNvSpPr>
                <a:spLocks noGrp="1"/>
              </p:cNvSpPr>
              <p:nvPr>
                <p:ph sz="quarter" idx="1"/>
              </p:nvPr>
            </p:nvSpPr>
            <p:spPr>
              <a:xfrm>
                <a:off x="914400" y="836613"/>
                <a:ext cx="7772400" cy="5183187"/>
              </a:xfrm>
            </p:spPr>
            <p:txBody>
              <a:bodyPr/>
              <a:lstStyle/>
              <a:p>
                <a:pPr marL="0" indent="0">
                  <a:buFont typeface="Wingdings 2" pitchFamily="17" charset="2"/>
                  <a:buNone/>
                </a:pPr>
                <a:r>
                  <a:rPr lang="en-US" dirty="0" smtClean="0">
                    <a:ea typeface="ＭＳ Ｐゴシック" pitchFamily="17" charset="-128"/>
                  </a:rPr>
                  <a:t>Excel function to convert categorical data into dummy variable:</a:t>
                </a:r>
              </a:p>
              <a:p>
                <a:pPr marL="0" indent="0">
                  <a:buFont typeface="Wingdings 2" pitchFamily="17" charset="2"/>
                  <a:buNone/>
                </a:pPr>
                <a:r>
                  <a:rPr lang="en-US" dirty="0" smtClean="0">
                    <a:ea typeface="ＭＳ Ｐゴシック" pitchFamily="17" charset="-128"/>
                  </a:rPr>
                  <a:t>=if(</a:t>
                </a:r>
                <a:r>
                  <a:rPr lang="en-US" dirty="0" err="1" smtClean="0">
                    <a:ea typeface="ＭＳ Ｐゴシック" pitchFamily="17" charset="-128"/>
                  </a:rPr>
                  <a:t>logical_test</a:t>
                </a:r>
                <a:r>
                  <a:rPr lang="en-US" dirty="0" smtClean="0">
                    <a:ea typeface="ＭＳ Ｐゴシック" pitchFamily="17" charset="-128"/>
                  </a:rPr>
                  <a:t>, [</a:t>
                </a:r>
                <a:r>
                  <a:rPr lang="en-US" dirty="0" err="1" smtClean="0">
                    <a:ea typeface="ＭＳ Ｐゴシック" pitchFamily="17" charset="-128"/>
                  </a:rPr>
                  <a:t>value_if_true</a:t>
                </a:r>
                <a:r>
                  <a:rPr lang="en-US" dirty="0" smtClean="0">
                    <a:ea typeface="ＭＳ Ｐゴシック" pitchFamily="17" charset="-128"/>
                  </a:rPr>
                  <a:t>], [</a:t>
                </a:r>
                <a:r>
                  <a:rPr lang="en-US" dirty="0" err="1" smtClean="0">
                    <a:ea typeface="ＭＳ Ｐゴシック" pitchFamily="17" charset="-128"/>
                  </a:rPr>
                  <a:t>value_if_false</a:t>
                </a:r>
                <a:r>
                  <a:rPr lang="en-US" dirty="0" smtClean="0">
                    <a:ea typeface="ＭＳ Ｐゴシック" pitchFamily="17" charset="-128"/>
                  </a:rPr>
                  <a:t>])</a:t>
                </a:r>
              </a:p>
              <a:p>
                <a:pPr marL="0" indent="0">
                  <a:buFont typeface="Wingdings 2" pitchFamily="17" charset="2"/>
                  <a:buNone/>
                </a:pPr>
                <a:r>
                  <a:rPr lang="en-US" dirty="0" smtClean="0">
                    <a:ea typeface="ＭＳ Ｐゴシック" pitchFamily="17" charset="-128"/>
                  </a:rPr>
                  <a:t>Example:</a:t>
                </a:r>
              </a:p>
              <a:p>
                <a:pPr marL="0" indent="0">
                  <a:buFont typeface="Wingdings 2" pitchFamily="17" charset="2"/>
                  <a:buNone/>
                </a:pPr>
                <a:endParaRPr lang="en-US" dirty="0" smtClean="0">
                  <a:ea typeface="ＭＳ Ｐゴシック" pitchFamily="17" charset="-128"/>
                </a:endParaRPr>
              </a:p>
              <a:p>
                <a:pPr marL="0" indent="0">
                  <a:buFont typeface="Wingdings 2" pitchFamily="17" charset="2"/>
                  <a:buNone/>
                </a:pPr>
                <a:endParaRPr lang="en-US" dirty="0" smtClean="0">
                  <a:ea typeface="ＭＳ Ｐゴシック" pitchFamily="17" charset="-128"/>
                </a:endParaRPr>
              </a:p>
              <a:p>
                <a:pPr marL="0" indent="0">
                  <a:buFont typeface="Wingdings 2" pitchFamily="17" charset="2"/>
                  <a:buNone/>
                </a:pPr>
                <a:endParaRPr lang="en-US" dirty="0" smtClean="0">
                  <a:ea typeface="ＭＳ Ｐゴシック" pitchFamily="17" charset="-128"/>
                </a:endParaRPr>
              </a:p>
              <a:p>
                <a:pPr marL="0" indent="0">
                  <a:buFont typeface="Wingdings 2" pitchFamily="17" charset="2"/>
                  <a:buNone/>
                </a:pPr>
                <a:r>
                  <a:rPr lang="en-US" dirty="0" smtClean="0">
                    <a:ea typeface="ＭＳ Ｐゴシック" pitchFamily="17" charset="-128"/>
                  </a:rPr>
                  <a:t>General multiple linear regression model (for population):</a:t>
                </a:r>
              </a:p>
              <a:p>
                <a:pPr marL="0" indent="0">
                  <a:buFont typeface="Wingdings 2" pitchFamily="17" charset="2"/>
                  <a:buNone/>
                </a:pPr>
                <a:r>
                  <a:rPr lang="en-US" b="1" dirty="0" smtClean="0">
                    <a:latin typeface="Times New Roman" pitchFamily="18" charset="0"/>
                    <a:ea typeface="ＭＳ Ｐゴシック" pitchFamily="17" charset="-128"/>
                    <a:cs typeface="Times New Roman" pitchFamily="18" charset="0"/>
                  </a:rPr>
                  <a:t>Wage</a:t>
                </a:r>
                <a:r>
                  <a:rPr lang="en-US" b="1" dirty="0" smtClean="0">
                    <a:ea typeface="ＭＳ Ｐゴシック" pitchFamily="17" charset="-128"/>
                  </a:rPr>
                  <a:t> = </a:t>
                </a:r>
                <a:r>
                  <a:rPr lang="el-GR" b="1" dirty="0" smtClean="0">
                    <a:latin typeface="Times New Roman" pitchFamily="18" charset="0"/>
                    <a:ea typeface="ＭＳ Ｐゴシック" pitchFamily="17" charset="-128"/>
                    <a:cs typeface="Times New Roman" pitchFamily="18" charset="0"/>
                  </a:rPr>
                  <a:t>β</a:t>
                </a:r>
                <a:r>
                  <a:rPr lang="en-US" b="1" baseline="-25000" dirty="0" smtClean="0">
                    <a:ea typeface="ＭＳ Ｐゴシック" pitchFamily="17" charset="-128"/>
                  </a:rPr>
                  <a:t>0</a:t>
                </a:r>
                <a:r>
                  <a:rPr lang="en-US" b="1" dirty="0" smtClean="0">
                    <a:ea typeface="ＭＳ Ｐゴシック" pitchFamily="17" charset="-128"/>
                  </a:rPr>
                  <a:t> + </a:t>
                </a:r>
                <a:r>
                  <a:rPr lang="el-GR" b="1" dirty="0" smtClean="0">
                    <a:latin typeface="Times New Roman" pitchFamily="18" charset="0"/>
                    <a:ea typeface="ＭＳ Ｐゴシック" pitchFamily="17" charset="-128"/>
                    <a:cs typeface="Times New Roman" pitchFamily="18" charset="0"/>
                  </a:rPr>
                  <a:t>β</a:t>
                </a:r>
                <a:r>
                  <a:rPr lang="en-US" b="1" baseline="-25000" dirty="0" smtClean="0">
                    <a:ea typeface="ＭＳ Ｐゴシック" pitchFamily="17" charset="-128"/>
                  </a:rPr>
                  <a:t>1</a:t>
                </a:r>
                <a:r>
                  <a:rPr lang="en-US" b="1" dirty="0" smtClean="0">
                    <a:ea typeface="ＭＳ Ｐゴシック" pitchFamily="17" charset="-128"/>
                  </a:rPr>
                  <a:t>*Education + </a:t>
                </a:r>
                <a:r>
                  <a:rPr lang="el-GR" b="1" dirty="0" smtClean="0">
                    <a:latin typeface="Times New Roman" pitchFamily="18" charset="0"/>
                    <a:ea typeface="ＭＳ Ｐゴシック" pitchFamily="17" charset="-128"/>
                    <a:cs typeface="Times New Roman" pitchFamily="18" charset="0"/>
                  </a:rPr>
                  <a:t>β</a:t>
                </a:r>
                <a:r>
                  <a:rPr lang="en-US" b="1" baseline="-25000" dirty="0" smtClean="0">
                    <a:ea typeface="ＭＳ Ｐゴシック" pitchFamily="17" charset="-128"/>
                  </a:rPr>
                  <a:t>2</a:t>
                </a:r>
                <a:r>
                  <a:rPr lang="en-US" b="1" dirty="0" smtClean="0">
                    <a:ea typeface="ＭＳ Ｐゴシック" pitchFamily="17" charset="-128"/>
                  </a:rPr>
                  <a:t>*Female + </a:t>
                </a:r>
                <a:r>
                  <a:rPr lang="el-GR" b="1" dirty="0" smtClean="0">
                    <a:latin typeface="Times New Roman" pitchFamily="18" charset="0"/>
                    <a:ea typeface="ＭＳ Ｐゴシック" pitchFamily="17" charset="-128"/>
                    <a:cs typeface="Times New Roman" pitchFamily="18" charset="0"/>
                  </a:rPr>
                  <a:t>ε</a:t>
                </a:r>
                <a:endParaRPr lang="en-US" dirty="0" smtClean="0">
                  <a:ea typeface="ＭＳ Ｐゴシック" pitchFamily="17" charset="-128"/>
                </a:endParaRPr>
              </a:p>
              <a:p>
                <a:pPr marL="0" indent="0">
                  <a:buFont typeface="Wingdings 2" pitchFamily="17" charset="2"/>
                  <a:buNone/>
                </a:pPr>
                <a:r>
                  <a:rPr lang="en-US" dirty="0" smtClean="0">
                    <a:ea typeface="ＭＳ Ｐゴシック" pitchFamily="17" charset="-128"/>
                  </a:rPr>
                  <a:t>Our </a:t>
                </a:r>
                <a:r>
                  <a:rPr lang="en-US" b="1" u="sng" dirty="0" smtClean="0">
                    <a:ea typeface="ＭＳ Ｐゴシック" pitchFamily="17" charset="-128"/>
                  </a:rPr>
                  <a:t>fitted</a:t>
                </a:r>
                <a:r>
                  <a:rPr lang="en-US" dirty="0" smtClean="0">
                    <a:ea typeface="ＭＳ Ｐゴシック" pitchFamily="17" charset="-128"/>
                  </a:rPr>
                  <a:t> linear model would look like this (estimates):</a:t>
                </a:r>
              </a:p>
              <a:p>
                <a:pPr marL="0" indent="0" algn="ctr">
                  <a:buFont typeface="Wingdings 2" pitchFamily="17" charset="2"/>
                  <a:buNone/>
                </a:pPr>
                <a14:m>
                  <m:oMath xmlns:m="http://schemas.openxmlformats.org/officeDocument/2006/math">
                    <m:acc>
                      <m:accPr>
                        <m:chr m:val="̂"/>
                        <m:ctrlPr>
                          <a:rPr lang="en-US" sz="2400" b="1" i="1" smtClean="0">
                            <a:latin typeface="Cambria Math" charset="0"/>
                            <a:ea typeface="ＭＳ Ｐゴシック" pitchFamily="17" charset="-128"/>
                          </a:rPr>
                        </m:ctrlPr>
                      </m:accPr>
                      <m:e>
                        <m:r>
                          <a:rPr lang="en-US" sz="2400" b="1" i="1" smtClean="0">
                            <a:latin typeface="Cambria Math"/>
                            <a:ea typeface="ＭＳ Ｐゴシック" pitchFamily="17" charset="-128"/>
                          </a:rPr>
                          <m:t>𝑾𝒂𝒈𝒆</m:t>
                        </m:r>
                      </m:e>
                    </m:acc>
                  </m:oMath>
                </a14:m>
                <a:r>
                  <a:rPr lang="en-US" sz="2400" b="1" dirty="0" smtClean="0">
                    <a:ea typeface="ＭＳ Ｐゴシック" pitchFamily="17" charset="-128"/>
                  </a:rPr>
                  <a:t> </a:t>
                </a:r>
                <a:r>
                  <a:rPr lang="en-US" b="1" dirty="0" smtClean="0">
                    <a:ea typeface="ＭＳ Ｐゴシック" pitchFamily="17" charset="-128"/>
                  </a:rPr>
                  <a:t>= b</a:t>
                </a:r>
                <a:r>
                  <a:rPr lang="en-US" b="1" baseline="-25000" dirty="0" smtClean="0">
                    <a:ea typeface="ＭＳ Ｐゴシック" pitchFamily="17" charset="-128"/>
                  </a:rPr>
                  <a:t>0</a:t>
                </a:r>
                <a:r>
                  <a:rPr lang="en-US" b="1" dirty="0" smtClean="0">
                    <a:ea typeface="ＭＳ Ｐゴシック" pitchFamily="17" charset="-128"/>
                  </a:rPr>
                  <a:t> + b</a:t>
                </a:r>
                <a:r>
                  <a:rPr lang="en-US" b="1" baseline="-25000" dirty="0" smtClean="0">
                    <a:ea typeface="ＭＳ Ｐゴシック" pitchFamily="17" charset="-128"/>
                  </a:rPr>
                  <a:t>1</a:t>
                </a:r>
                <a:r>
                  <a:rPr lang="en-US" b="1" dirty="0" smtClean="0">
                    <a:ea typeface="ＭＳ Ｐゴシック" pitchFamily="17" charset="-128"/>
                  </a:rPr>
                  <a:t>*Education + b</a:t>
                </a:r>
                <a:r>
                  <a:rPr lang="en-US" b="1" baseline="-25000" dirty="0" smtClean="0">
                    <a:ea typeface="ＭＳ Ｐゴシック" pitchFamily="17" charset="-128"/>
                  </a:rPr>
                  <a:t>2</a:t>
                </a:r>
                <a:r>
                  <a:rPr lang="en-US" b="1" dirty="0" smtClean="0">
                    <a:ea typeface="ＭＳ Ｐゴシック" pitchFamily="17" charset="-128"/>
                  </a:rPr>
                  <a:t>*Female</a:t>
                </a:r>
                <a:endParaRPr lang="en-US" dirty="0" smtClean="0">
                  <a:ea typeface="ＭＳ Ｐゴシック" pitchFamily="17" charset="-128"/>
                </a:endParaRPr>
              </a:p>
            </p:txBody>
          </p:sp>
        </mc:Choice>
        <mc:Fallback xmlns="">
          <p:sp>
            <p:nvSpPr>
              <p:cNvPr id="17411" name="Content Placeholder 2"/>
              <p:cNvSpPr>
                <a:spLocks noGrp="1" noRot="1" noChangeAspect="1" noMove="1" noResize="1" noEditPoints="1" noAdjustHandles="1" noChangeArrowheads="1" noChangeShapeType="1" noTextEdit="1"/>
              </p:cNvSpPr>
              <p:nvPr>
                <p:ph sz="quarter" idx="1"/>
              </p:nvPr>
            </p:nvSpPr>
            <p:spPr>
              <a:xfrm>
                <a:off x="914400" y="836613"/>
                <a:ext cx="7772400" cy="5183187"/>
              </a:xfrm>
              <a:blipFill rotWithShape="1">
                <a:blip r:embed="rId2"/>
                <a:stretch>
                  <a:fillRect l="-1333" t="-940" r="-1255"/>
                </a:stretch>
              </a:blipFill>
            </p:spPr>
            <p:txBody>
              <a:bodyPr/>
              <a:lstStyle/>
              <a:p>
                <a:r>
                  <a:rPr lang="en-US">
                    <a:noFill/>
                  </a:rPr>
                  <a:t> </a:t>
                </a:r>
              </a:p>
            </p:txBody>
          </p:sp>
        </mc:Fallback>
      </mc:AlternateContent>
      <p:graphicFrame>
        <p:nvGraphicFramePr>
          <p:cNvPr id="4" name="Table 3"/>
          <p:cNvGraphicFramePr>
            <a:graphicFrameLocks noGrp="1"/>
          </p:cNvGraphicFramePr>
          <p:nvPr/>
        </p:nvGraphicFramePr>
        <p:xfrm>
          <a:off x="2771775" y="1803400"/>
          <a:ext cx="4679950" cy="1654175"/>
        </p:xfrm>
        <a:graphic>
          <a:graphicData uri="http://schemas.openxmlformats.org/drawingml/2006/table">
            <a:tbl>
              <a:tblPr>
                <a:tableStyleId>{5C22544A-7EE6-4342-B048-85BDC9FD1C3A}</a:tableStyleId>
              </a:tblPr>
              <a:tblGrid>
                <a:gridCol w="355786"/>
                <a:gridCol w="770869"/>
                <a:gridCol w="2401307"/>
                <a:gridCol w="1151988"/>
              </a:tblGrid>
              <a:tr h="288068">
                <a:tc>
                  <a:txBody>
                    <a:bodyPr/>
                    <a:lstStyle/>
                    <a:p>
                      <a:pPr algn="l" fontAlgn="b"/>
                      <a:endParaRPr lang="en-US" sz="1600" b="0" i="0" u="none" strike="noStrike" dirty="0">
                        <a:solidFill>
                          <a:srgbClr val="000000"/>
                        </a:solidFill>
                        <a:effectLst/>
                        <a:latin typeface="Calibri"/>
                      </a:endParaRPr>
                    </a:p>
                  </a:txBody>
                  <a:tcPr marL="9524" marR="9524" marT="9526" marB="0" anchor="b">
                    <a:solidFill>
                      <a:schemeClr val="tx2">
                        <a:lumMod val="20000"/>
                        <a:lumOff val="80000"/>
                      </a:schemeClr>
                    </a:solidFill>
                  </a:tcPr>
                </a:tc>
                <a:tc>
                  <a:txBody>
                    <a:bodyPr/>
                    <a:lstStyle/>
                    <a:p>
                      <a:pPr algn="ctr" fontAlgn="b"/>
                      <a:r>
                        <a:rPr lang="en-US" sz="1600" u="none" strike="noStrike">
                          <a:effectLst/>
                        </a:rPr>
                        <a:t>C</a:t>
                      </a:r>
                      <a:endParaRPr lang="en-US" sz="1600" b="0" i="0" u="none" strike="noStrike">
                        <a:solidFill>
                          <a:srgbClr val="000000"/>
                        </a:solidFill>
                        <a:effectLst/>
                        <a:latin typeface="Calibri"/>
                      </a:endParaRPr>
                    </a:p>
                  </a:txBody>
                  <a:tcPr marL="9524" marR="9524" marT="9526" marB="0" anchor="b">
                    <a:solidFill>
                      <a:schemeClr val="tx2">
                        <a:lumMod val="20000"/>
                        <a:lumOff val="80000"/>
                      </a:schemeClr>
                    </a:solidFill>
                  </a:tcPr>
                </a:tc>
                <a:tc>
                  <a:txBody>
                    <a:bodyPr/>
                    <a:lstStyle/>
                    <a:p>
                      <a:pPr algn="ctr" fontAlgn="b"/>
                      <a:r>
                        <a:rPr lang="en-US" sz="1600" b="0" i="0" u="none" strike="noStrike" dirty="0" smtClean="0">
                          <a:solidFill>
                            <a:srgbClr val="000000"/>
                          </a:solidFill>
                          <a:effectLst/>
                          <a:latin typeface="Calibri"/>
                        </a:rPr>
                        <a:t>D</a:t>
                      </a:r>
                      <a:endParaRPr lang="en-US" sz="1600" b="0" i="0" u="none" strike="noStrike" dirty="0">
                        <a:solidFill>
                          <a:srgbClr val="000000"/>
                        </a:solidFill>
                        <a:effectLst/>
                        <a:latin typeface="Calibri"/>
                      </a:endParaRPr>
                    </a:p>
                  </a:txBody>
                  <a:tcPr marL="9524" marR="9524" marT="9526" marB="0" anchor="b">
                    <a:solidFill>
                      <a:schemeClr val="tx2">
                        <a:lumMod val="20000"/>
                        <a:lumOff val="80000"/>
                      </a:schemeClr>
                    </a:solidFill>
                  </a:tcPr>
                </a:tc>
                <a:tc>
                  <a:txBody>
                    <a:bodyPr/>
                    <a:lstStyle/>
                    <a:p>
                      <a:pPr algn="ctr" fontAlgn="b"/>
                      <a:r>
                        <a:rPr lang="en-US" sz="1600" u="none" strike="noStrike" dirty="0" smtClean="0">
                          <a:effectLst/>
                        </a:rPr>
                        <a:t>E</a:t>
                      </a:r>
                      <a:endParaRPr lang="en-US" sz="1600" b="0" i="0" u="none" strike="noStrike" dirty="0">
                        <a:solidFill>
                          <a:srgbClr val="000000"/>
                        </a:solidFill>
                        <a:effectLst/>
                        <a:latin typeface="Calibri"/>
                      </a:endParaRPr>
                    </a:p>
                  </a:txBody>
                  <a:tcPr marL="9524" marR="9524" marT="9526" marB="0" anchor="b">
                    <a:solidFill>
                      <a:schemeClr val="tx2">
                        <a:lumMod val="20000"/>
                        <a:lumOff val="80000"/>
                      </a:schemeClr>
                    </a:solidFill>
                  </a:tcPr>
                </a:tc>
              </a:tr>
              <a:tr h="379459">
                <a:tc>
                  <a:txBody>
                    <a:bodyPr/>
                    <a:lstStyle/>
                    <a:p>
                      <a:pPr algn="ctr" fontAlgn="b"/>
                      <a:r>
                        <a:rPr lang="en-US" sz="1600" u="none" strike="noStrike" dirty="0">
                          <a:effectLst/>
                        </a:rPr>
                        <a:t>1</a:t>
                      </a:r>
                      <a:endParaRPr lang="en-US" sz="1600" b="0" i="0" u="none" strike="noStrike" dirty="0">
                        <a:solidFill>
                          <a:srgbClr val="000000"/>
                        </a:solidFill>
                        <a:effectLst/>
                        <a:latin typeface="Calibri"/>
                      </a:endParaRPr>
                    </a:p>
                  </a:txBody>
                  <a:tcPr marL="9524" marR="9524" marT="9526" marB="0" anchor="b">
                    <a:solidFill>
                      <a:schemeClr val="tx2">
                        <a:lumMod val="20000"/>
                        <a:lumOff val="80000"/>
                      </a:schemeClr>
                    </a:solidFill>
                  </a:tcPr>
                </a:tc>
                <a:tc>
                  <a:txBody>
                    <a:bodyPr/>
                    <a:lstStyle/>
                    <a:p>
                      <a:pPr algn="ctr" fontAlgn="ctr"/>
                      <a:r>
                        <a:rPr lang="en-US" sz="1600" u="none" strike="noStrike" dirty="0">
                          <a:effectLst/>
                        </a:rPr>
                        <a:t>Female</a:t>
                      </a:r>
                      <a:endParaRPr lang="en-US" sz="1600" b="1" i="0" u="none" strike="noStrike" dirty="0">
                        <a:solidFill>
                          <a:srgbClr val="000000"/>
                        </a:solidFill>
                        <a:effectLst/>
                        <a:latin typeface="Calibri"/>
                      </a:endParaRPr>
                    </a:p>
                  </a:txBody>
                  <a:tcPr marL="9524" marR="9524" marT="9526" marB="0" anchor="ctr">
                    <a:solidFill>
                      <a:schemeClr val="tx2">
                        <a:lumMod val="20000"/>
                        <a:lumOff val="80000"/>
                      </a:schemeClr>
                    </a:solidFill>
                  </a:tcPr>
                </a:tc>
                <a:tc>
                  <a:txBody>
                    <a:bodyPr/>
                    <a:lstStyle/>
                    <a:p>
                      <a:pPr algn="ctr" fontAlgn="ctr"/>
                      <a:r>
                        <a:rPr lang="en-US" sz="1600" u="none" strike="noStrike" dirty="0" smtClean="0">
                          <a:effectLst/>
                        </a:rPr>
                        <a:t>Formula</a:t>
                      </a:r>
                      <a:r>
                        <a:rPr lang="en-US" sz="1600" u="none" strike="noStrike" dirty="0">
                          <a:effectLst/>
                        </a:rPr>
                        <a:t> </a:t>
                      </a:r>
                      <a:endParaRPr lang="en-US" sz="1600" b="1" i="0" u="none" strike="noStrike" dirty="0">
                        <a:solidFill>
                          <a:srgbClr val="000000"/>
                        </a:solidFill>
                        <a:effectLst/>
                        <a:latin typeface="Calibri"/>
                      </a:endParaRPr>
                    </a:p>
                  </a:txBody>
                  <a:tcPr marL="9524" marR="9524" marT="9526" marB="0" anchor="ctr">
                    <a:solidFill>
                      <a:schemeClr val="tx2">
                        <a:lumMod val="20000"/>
                        <a:lumOff val="80000"/>
                      </a:schemeClr>
                    </a:solidFill>
                  </a:tcPr>
                </a:tc>
                <a:tc>
                  <a:txBody>
                    <a:bodyPr/>
                    <a:lstStyle/>
                    <a:p>
                      <a:pPr algn="ctr" fontAlgn="ctr"/>
                      <a:r>
                        <a:rPr lang="en-US" sz="1600" u="none" strike="noStrike">
                          <a:effectLst/>
                        </a:rPr>
                        <a:t>Gender</a:t>
                      </a:r>
                      <a:endParaRPr lang="en-US" sz="1600" b="1" i="0" u="none" strike="noStrike">
                        <a:solidFill>
                          <a:srgbClr val="000000"/>
                        </a:solidFill>
                        <a:effectLst/>
                        <a:latin typeface="Calibri"/>
                      </a:endParaRPr>
                    </a:p>
                  </a:txBody>
                  <a:tcPr marL="9524" marR="9524" marT="9526" marB="0" anchor="ctr">
                    <a:solidFill>
                      <a:schemeClr val="tx2">
                        <a:lumMod val="20000"/>
                        <a:lumOff val="80000"/>
                      </a:schemeClr>
                    </a:solidFill>
                  </a:tcPr>
                </a:tc>
              </a:tr>
              <a:tr h="489380">
                <a:tc>
                  <a:txBody>
                    <a:bodyPr/>
                    <a:lstStyle/>
                    <a:p>
                      <a:pPr algn="ctr" fontAlgn="b"/>
                      <a:r>
                        <a:rPr lang="en-US" sz="1600" u="none" strike="noStrike" dirty="0">
                          <a:effectLst/>
                        </a:rPr>
                        <a:t>2</a:t>
                      </a:r>
                      <a:endParaRPr lang="en-US" sz="1600" b="0" i="0" u="none" strike="noStrike" dirty="0">
                        <a:solidFill>
                          <a:srgbClr val="000000"/>
                        </a:solidFill>
                        <a:effectLst/>
                        <a:latin typeface="Calibri"/>
                      </a:endParaRPr>
                    </a:p>
                  </a:txBody>
                  <a:tcPr marL="9524" marR="9524" marT="9526" marB="0" anchor="b">
                    <a:solidFill>
                      <a:schemeClr val="tx2">
                        <a:lumMod val="20000"/>
                        <a:lumOff val="80000"/>
                      </a:schemeClr>
                    </a:solidFill>
                  </a:tcPr>
                </a:tc>
                <a:tc>
                  <a:txBody>
                    <a:bodyPr/>
                    <a:lstStyle/>
                    <a:p>
                      <a:pPr algn="ctr" fontAlgn="t"/>
                      <a:r>
                        <a:rPr lang="en-US" sz="1600" u="none" strike="noStrike" dirty="0">
                          <a:effectLst/>
                        </a:rPr>
                        <a:t>0</a:t>
                      </a:r>
                      <a:endParaRPr lang="en-US" sz="1600" b="0" i="0" u="none" strike="noStrike" dirty="0">
                        <a:solidFill>
                          <a:srgbClr val="000000"/>
                        </a:solidFill>
                        <a:effectLst/>
                        <a:latin typeface="Times New Roman"/>
                      </a:endParaRPr>
                    </a:p>
                  </a:txBody>
                  <a:tcPr marL="9524" marR="9524" marT="9526" marB="0">
                    <a:solidFill>
                      <a:schemeClr val="tx2">
                        <a:lumMod val="20000"/>
                        <a:lumOff val="80000"/>
                      </a:schemeClr>
                    </a:solidFill>
                  </a:tcPr>
                </a:tc>
                <a:tc>
                  <a:txBody>
                    <a:bodyPr/>
                    <a:lstStyle/>
                    <a:p>
                      <a:pPr algn="l" fontAlgn="t"/>
                      <a:r>
                        <a:rPr lang="en-US" sz="1600" u="none" strike="noStrike" dirty="0">
                          <a:effectLst/>
                        </a:rPr>
                        <a:t> </a:t>
                      </a:r>
                      <a:r>
                        <a:rPr lang="en-US" sz="1600" u="none" strike="noStrike" dirty="0" smtClean="0">
                          <a:effectLst/>
                        </a:rPr>
                        <a:t>=if(E2 = “Female”, 1, 0)</a:t>
                      </a:r>
                      <a:endParaRPr lang="en-US" sz="1600" b="0" i="0" u="none" strike="noStrike" dirty="0">
                        <a:solidFill>
                          <a:srgbClr val="000000"/>
                        </a:solidFill>
                        <a:effectLst/>
                        <a:latin typeface="Times New Roman"/>
                      </a:endParaRPr>
                    </a:p>
                  </a:txBody>
                  <a:tcPr marL="9524" marR="9524" marT="9526" marB="0">
                    <a:solidFill>
                      <a:schemeClr val="tx2">
                        <a:lumMod val="20000"/>
                        <a:lumOff val="80000"/>
                      </a:schemeClr>
                    </a:solidFill>
                  </a:tcPr>
                </a:tc>
                <a:tc>
                  <a:txBody>
                    <a:bodyPr/>
                    <a:lstStyle/>
                    <a:p>
                      <a:pPr algn="ctr" fontAlgn="b"/>
                      <a:r>
                        <a:rPr lang="en-US" sz="1600" u="none" strike="noStrike" dirty="0">
                          <a:effectLst/>
                        </a:rPr>
                        <a:t>Male</a:t>
                      </a:r>
                      <a:endParaRPr lang="en-US" sz="1600" b="0" i="0" u="none" strike="noStrike" dirty="0">
                        <a:solidFill>
                          <a:srgbClr val="000000"/>
                        </a:solidFill>
                        <a:effectLst/>
                        <a:latin typeface="Calibri"/>
                      </a:endParaRPr>
                    </a:p>
                  </a:txBody>
                  <a:tcPr marL="9524" marR="9524" marT="9526" marB="0" anchor="b">
                    <a:solidFill>
                      <a:schemeClr val="tx2">
                        <a:lumMod val="20000"/>
                        <a:lumOff val="80000"/>
                      </a:schemeClr>
                    </a:solidFill>
                  </a:tcPr>
                </a:tc>
              </a:tr>
              <a:tr h="497268">
                <a:tc>
                  <a:txBody>
                    <a:bodyPr/>
                    <a:lstStyle/>
                    <a:p>
                      <a:pPr algn="ctr" fontAlgn="b"/>
                      <a:r>
                        <a:rPr lang="en-US" sz="1600" u="none" strike="noStrike" dirty="0">
                          <a:effectLst/>
                        </a:rPr>
                        <a:t>3</a:t>
                      </a:r>
                      <a:endParaRPr lang="en-US" sz="1600" b="0" i="0" u="none" strike="noStrike" dirty="0">
                        <a:solidFill>
                          <a:srgbClr val="000000"/>
                        </a:solidFill>
                        <a:effectLst/>
                        <a:latin typeface="Calibri"/>
                      </a:endParaRPr>
                    </a:p>
                  </a:txBody>
                  <a:tcPr marL="9524" marR="9524" marT="9526" marB="0" anchor="b">
                    <a:solidFill>
                      <a:schemeClr val="tx2">
                        <a:lumMod val="20000"/>
                        <a:lumOff val="80000"/>
                      </a:schemeClr>
                    </a:solidFill>
                  </a:tcPr>
                </a:tc>
                <a:tc>
                  <a:txBody>
                    <a:bodyPr/>
                    <a:lstStyle/>
                    <a:p>
                      <a:pPr algn="ctr" fontAlgn="t"/>
                      <a:r>
                        <a:rPr lang="en-US" sz="1600" b="0" i="0" u="none" strike="noStrike" dirty="0" smtClean="0">
                          <a:solidFill>
                            <a:schemeClr val="dk1"/>
                          </a:solidFill>
                          <a:effectLst/>
                          <a:latin typeface="+mn-lt"/>
                        </a:rPr>
                        <a:t>1</a:t>
                      </a:r>
                      <a:endParaRPr lang="en-US" sz="1600" b="0" i="0" u="none" strike="noStrike" dirty="0">
                        <a:solidFill>
                          <a:srgbClr val="000000"/>
                        </a:solidFill>
                        <a:effectLst/>
                        <a:latin typeface="Times New Roman"/>
                      </a:endParaRPr>
                    </a:p>
                  </a:txBody>
                  <a:tcPr marL="9524" marR="9524" marT="9526" marB="0">
                    <a:solidFill>
                      <a:schemeClr val="tx2">
                        <a:lumMod val="20000"/>
                        <a:lumOff val="80000"/>
                      </a:schemeClr>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600" u="none" strike="noStrike" dirty="0">
                          <a:effectLst/>
                        </a:rPr>
                        <a:t> </a:t>
                      </a:r>
                      <a:r>
                        <a:rPr lang="en-US" sz="1600" u="none" strike="noStrike" dirty="0" smtClean="0">
                          <a:effectLst/>
                        </a:rPr>
                        <a:t>=if(E3 = “Female”, 1, 0)</a:t>
                      </a:r>
                      <a:endParaRPr lang="en-US" sz="1600" b="0" i="0" u="none" strike="noStrike" dirty="0" smtClean="0">
                        <a:solidFill>
                          <a:srgbClr val="000000"/>
                        </a:solidFill>
                        <a:effectLst/>
                        <a:latin typeface="Times New Roman"/>
                      </a:endParaRPr>
                    </a:p>
                    <a:p>
                      <a:pPr algn="l" fontAlgn="t"/>
                      <a:endParaRPr lang="en-US" sz="1600" b="0" i="0" u="none" strike="noStrike" dirty="0">
                        <a:solidFill>
                          <a:srgbClr val="000000"/>
                        </a:solidFill>
                        <a:effectLst/>
                        <a:latin typeface="Times New Roman"/>
                      </a:endParaRPr>
                    </a:p>
                  </a:txBody>
                  <a:tcPr marL="9524" marR="9524" marT="9526" marB="0">
                    <a:solidFill>
                      <a:schemeClr val="tx2">
                        <a:lumMod val="20000"/>
                        <a:lumOff val="80000"/>
                      </a:schemeClr>
                    </a:solidFill>
                  </a:tcPr>
                </a:tc>
                <a:tc>
                  <a:txBody>
                    <a:bodyPr/>
                    <a:lstStyle/>
                    <a:p>
                      <a:pPr algn="ctr" fontAlgn="b"/>
                      <a:r>
                        <a:rPr lang="en-US" sz="1600" u="none" strike="noStrike" dirty="0" smtClean="0">
                          <a:effectLst/>
                        </a:rPr>
                        <a:t>Female</a:t>
                      </a:r>
                      <a:endParaRPr lang="en-US" sz="1600" b="0" i="0" u="none" strike="noStrike" dirty="0">
                        <a:solidFill>
                          <a:srgbClr val="000000"/>
                        </a:solidFill>
                        <a:effectLst/>
                        <a:latin typeface="Calibri"/>
                      </a:endParaRPr>
                    </a:p>
                  </a:txBody>
                  <a:tcPr marL="9524" marR="9524" marT="9526" marB="0" anchor="b">
                    <a:solidFill>
                      <a:schemeClr val="tx2">
                        <a:lumMod val="20000"/>
                        <a:lumOff val="80000"/>
                      </a:schemeClr>
                    </a:solidFill>
                  </a:tcPr>
                </a:tc>
              </a:tr>
            </a:tbl>
          </a:graphicData>
        </a:graphic>
      </p:graphicFrame>
      <p:sp>
        <p:nvSpPr>
          <p:cNvPr id="17439"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F1897D07-A219-4C59-A501-033593968007}" type="slidenum">
              <a:rPr lang="en-US" smtClean="0"/>
              <a:pPr/>
              <a:t>16</a:t>
            </a:fld>
            <a:endParaRPr lang="en-US"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solidFill>
                  <a:schemeClr val="tx1"/>
                </a:solidFill>
                <a:latin typeface="Times New Roman" pitchFamily="18" charset="0"/>
                <a:ea typeface="ＭＳ Ｐゴシック" pitchFamily="17" charset="-128"/>
                <a:cs typeface="Times New Roman" pitchFamily="18" charset="0"/>
              </a:rPr>
              <a:t>Solution.</a:t>
            </a:r>
            <a:endParaRPr lang="en-US" smtClean="0">
              <a:ea typeface="ＭＳ Ｐゴシック" pitchFamily="17" charset="-128"/>
            </a:endParaRPr>
          </a:p>
        </p:txBody>
      </p:sp>
      <p:sp>
        <p:nvSpPr>
          <p:cNvPr id="18435" name="TextBox 4"/>
          <p:cNvSpPr txBox="1">
            <a:spLocks noChangeArrowheads="1"/>
          </p:cNvSpPr>
          <p:nvPr/>
        </p:nvSpPr>
        <p:spPr bwMode="auto">
          <a:xfrm>
            <a:off x="1079500" y="1700213"/>
            <a:ext cx="7237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17" charset="-128"/>
              </a:defRPr>
            </a:lvl1pPr>
            <a:lvl2pPr marL="742950" indent="-285750" eaLnBrk="0" hangingPunct="0">
              <a:defRPr>
                <a:solidFill>
                  <a:schemeClr val="tx1"/>
                </a:solidFill>
                <a:latin typeface="Arial" charset="0"/>
                <a:ea typeface="ＭＳ Ｐゴシック" pitchFamily="17" charset="-128"/>
              </a:defRPr>
            </a:lvl2pPr>
            <a:lvl3pPr marL="1143000" indent="-228600" eaLnBrk="0" hangingPunct="0">
              <a:defRPr>
                <a:solidFill>
                  <a:schemeClr val="tx1"/>
                </a:solidFill>
                <a:latin typeface="Arial" charset="0"/>
                <a:ea typeface="ＭＳ Ｐゴシック" pitchFamily="17" charset="-128"/>
              </a:defRPr>
            </a:lvl3pPr>
            <a:lvl4pPr marL="1600200" indent="-228600" eaLnBrk="0" hangingPunct="0">
              <a:defRPr>
                <a:solidFill>
                  <a:schemeClr val="tx1"/>
                </a:solidFill>
                <a:latin typeface="Arial" charset="0"/>
                <a:ea typeface="ＭＳ Ｐゴシック" pitchFamily="17" charset="-128"/>
              </a:defRPr>
            </a:lvl4pPr>
            <a:lvl5pPr marL="2057400" indent="-228600" eaLnBrk="0" hangingPunct="0">
              <a:defRPr>
                <a:solidFill>
                  <a:schemeClr val="tx1"/>
                </a:solidFill>
                <a:latin typeface="Arial" charset="0"/>
                <a:ea typeface="ＭＳ Ｐゴシック" pitchFamily="17"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17"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17"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17"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17" charset="-128"/>
              </a:defRPr>
            </a:lvl9pPr>
          </a:lstStyle>
          <a:p>
            <a:pPr eaLnBrk="1" hangingPunct="1"/>
            <a:r>
              <a:rPr lang="en-US"/>
              <a:t>Excel output from Data Analysis      Regression:</a:t>
            </a:r>
          </a:p>
        </p:txBody>
      </p:sp>
      <p:cxnSp>
        <p:nvCxnSpPr>
          <p:cNvPr id="7" name="Straight Arrow Connector 6"/>
          <p:cNvCxnSpPr/>
          <p:nvPr/>
        </p:nvCxnSpPr>
        <p:spPr>
          <a:xfrm>
            <a:off x="4535488" y="1885950"/>
            <a:ext cx="16192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9" name="Content Placeholder 8"/>
          <p:cNvGraphicFramePr>
            <a:graphicFrameLocks noGrp="1"/>
          </p:cNvGraphicFramePr>
          <p:nvPr>
            <p:ph sz="quarter" idx="1"/>
          </p:nvPr>
        </p:nvGraphicFramePr>
        <p:xfrm>
          <a:off x="827088" y="2762250"/>
          <a:ext cx="7632701" cy="3222628"/>
        </p:xfrm>
        <a:graphic>
          <a:graphicData uri="http://schemas.openxmlformats.org/drawingml/2006/table">
            <a:tbl>
              <a:tblPr>
                <a:tableStyleId>{5C22544A-7EE6-4342-B048-85BDC9FD1C3A}</a:tableStyleId>
              </a:tblPr>
              <a:tblGrid>
                <a:gridCol w="1116103"/>
                <a:gridCol w="1116103"/>
                <a:gridCol w="1283770"/>
                <a:gridCol w="830264"/>
                <a:gridCol w="830264"/>
                <a:gridCol w="1412102"/>
                <a:gridCol w="1044095"/>
              </a:tblGrid>
              <a:tr h="331741">
                <a:tc>
                  <a:txBody>
                    <a:bodyPr/>
                    <a:lstStyle/>
                    <a:p>
                      <a:pPr algn="l" fontAlgn="b"/>
                      <a:r>
                        <a:rPr lang="en-US" sz="1500" u="none" strike="noStrike" dirty="0">
                          <a:effectLst/>
                          <a:latin typeface="Times New Roman" pitchFamily="18" charset="0"/>
                          <a:cs typeface="Times New Roman" pitchFamily="18" charset="0"/>
                        </a:rPr>
                        <a:t>ANOVA</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r>
              <a:tr h="315944">
                <a:tc>
                  <a:txBody>
                    <a:bodyPr/>
                    <a:lstStyle/>
                    <a:p>
                      <a:pPr algn="ctr" fontAlgn="b"/>
                      <a:r>
                        <a:rPr lang="en-US" sz="1500" u="none" strike="noStrike" dirty="0">
                          <a:effectLst/>
                          <a:latin typeface="Times New Roman" pitchFamily="18" charset="0"/>
                          <a:cs typeface="Times New Roman" pitchFamily="18" charset="0"/>
                        </a:rPr>
                        <a:t> </a:t>
                      </a:r>
                      <a:endParaRPr lang="en-US" sz="1500" b="0" i="1"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a:effectLst/>
                          <a:latin typeface="Times New Roman" pitchFamily="18" charset="0"/>
                          <a:cs typeface="Times New Roman" pitchFamily="18" charset="0"/>
                        </a:rPr>
                        <a:t>df</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a:effectLst/>
                          <a:latin typeface="Times New Roman" pitchFamily="18" charset="0"/>
                          <a:cs typeface="Times New Roman" pitchFamily="18" charset="0"/>
                        </a:rPr>
                        <a:t>SS</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a:effectLst/>
                          <a:latin typeface="Times New Roman" pitchFamily="18" charset="0"/>
                          <a:cs typeface="Times New Roman" pitchFamily="18" charset="0"/>
                        </a:rPr>
                        <a:t>MS</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a:effectLst/>
                          <a:latin typeface="Times New Roman" pitchFamily="18" charset="0"/>
                          <a:cs typeface="Times New Roman" pitchFamily="18" charset="0"/>
                        </a:rPr>
                        <a:t>F</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a:effectLst/>
                          <a:latin typeface="Times New Roman" pitchFamily="18" charset="0"/>
                          <a:cs typeface="Times New Roman" pitchFamily="18" charset="0"/>
                        </a:rPr>
                        <a:t>Significance F</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r>
              <a:tr h="315944">
                <a:tc>
                  <a:txBody>
                    <a:bodyPr/>
                    <a:lstStyle/>
                    <a:p>
                      <a:pPr algn="l" fontAlgn="b"/>
                      <a:r>
                        <a:rPr lang="en-US" sz="1500" u="none" strike="noStrike" dirty="0">
                          <a:effectLst/>
                          <a:latin typeface="Times New Roman" pitchFamily="18" charset="0"/>
                          <a:cs typeface="Times New Roman" pitchFamily="18" charset="0"/>
                        </a:rPr>
                        <a:t>Regression</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2</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189.514</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94.757</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4.890</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0.028</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r>
              <a:tr h="315944">
                <a:tc>
                  <a:txBody>
                    <a:bodyPr/>
                    <a:lstStyle/>
                    <a:p>
                      <a:pPr algn="l" fontAlgn="b"/>
                      <a:r>
                        <a:rPr lang="en-US" sz="1500" u="none" strike="noStrike" dirty="0">
                          <a:effectLst/>
                          <a:latin typeface="Times New Roman" pitchFamily="18" charset="0"/>
                          <a:cs typeface="Times New Roman" pitchFamily="18" charset="0"/>
                        </a:rPr>
                        <a:t>Residual</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12</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232.552</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19.379</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r>
              <a:tr h="331741">
                <a:tc>
                  <a:txBody>
                    <a:bodyPr/>
                    <a:lstStyle/>
                    <a:p>
                      <a:pPr algn="l" fontAlgn="b"/>
                      <a:r>
                        <a:rPr lang="en-US" sz="1500" u="none" strike="noStrike" dirty="0">
                          <a:effectLst/>
                          <a:latin typeface="Times New Roman" pitchFamily="18" charset="0"/>
                          <a:cs typeface="Times New Roman" pitchFamily="18" charset="0"/>
                        </a:rPr>
                        <a:t>Total</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dirty="0">
                          <a:effectLst/>
                          <a:latin typeface="Times New Roman" pitchFamily="18" charset="0"/>
                          <a:cs typeface="Times New Roman" pitchFamily="18" charset="0"/>
                        </a:rPr>
                        <a:t>14</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422.066</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r>
                        <a:rPr lang="en-US" sz="1500" u="none" strike="noStrike">
                          <a:effectLst/>
                          <a:latin typeface="Times New Roman" pitchFamily="18" charset="0"/>
                          <a:cs typeface="Times New Roman" pitchFamily="18" charset="0"/>
                        </a:rPr>
                        <a:t> </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r>
                        <a:rPr lang="en-US" sz="1500" u="none" strike="noStrike">
                          <a:effectLst/>
                          <a:latin typeface="Times New Roman" pitchFamily="18" charset="0"/>
                          <a:cs typeface="Times New Roman" pitchFamily="18" charset="0"/>
                        </a:rPr>
                        <a:t> </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r>
                        <a:rPr lang="en-US" sz="1500" u="none" strike="noStrike">
                          <a:effectLst/>
                          <a:latin typeface="Times New Roman" pitchFamily="18" charset="0"/>
                          <a:cs typeface="Times New Roman" pitchFamily="18" charset="0"/>
                        </a:rPr>
                        <a:t> </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r>
              <a:tr h="331741">
                <a:tc>
                  <a:txBody>
                    <a:bodyPr/>
                    <a:lstStyle/>
                    <a:p>
                      <a:pPr algn="l" fontAlgn="b"/>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l" fontAlgn="b"/>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r>
              <a:tr h="315944">
                <a:tc>
                  <a:txBody>
                    <a:bodyPr/>
                    <a:lstStyle/>
                    <a:p>
                      <a:pPr algn="ctr" fontAlgn="b"/>
                      <a:r>
                        <a:rPr lang="en-US" sz="1500" u="none" strike="noStrike">
                          <a:effectLst/>
                          <a:latin typeface="Times New Roman" pitchFamily="18" charset="0"/>
                          <a:cs typeface="Times New Roman" pitchFamily="18" charset="0"/>
                        </a:rPr>
                        <a:t> </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dirty="0">
                          <a:effectLst/>
                          <a:latin typeface="Times New Roman" pitchFamily="18" charset="0"/>
                          <a:cs typeface="Times New Roman" pitchFamily="18" charset="0"/>
                        </a:rPr>
                        <a:t>Coefficients</a:t>
                      </a:r>
                      <a:endParaRPr lang="en-US" sz="1500" b="0" i="1"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a:effectLst/>
                          <a:latin typeface="Times New Roman" pitchFamily="18" charset="0"/>
                          <a:cs typeface="Times New Roman" pitchFamily="18" charset="0"/>
                        </a:rPr>
                        <a:t>Standard Error</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a:effectLst/>
                          <a:latin typeface="Times New Roman" pitchFamily="18" charset="0"/>
                          <a:cs typeface="Times New Roman" pitchFamily="18" charset="0"/>
                        </a:rPr>
                        <a:t>t Stat</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a:effectLst/>
                          <a:latin typeface="Times New Roman" pitchFamily="18" charset="0"/>
                          <a:cs typeface="Times New Roman" pitchFamily="18" charset="0"/>
                        </a:rPr>
                        <a:t>P-value</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a:effectLst/>
                          <a:latin typeface="Times New Roman" pitchFamily="18" charset="0"/>
                          <a:cs typeface="Times New Roman" pitchFamily="18" charset="0"/>
                        </a:rPr>
                        <a:t>Lower 95%</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ctr" fontAlgn="b"/>
                      <a:r>
                        <a:rPr lang="en-US" sz="1500" u="none" strike="noStrike">
                          <a:effectLst/>
                          <a:latin typeface="Times New Roman" pitchFamily="18" charset="0"/>
                          <a:cs typeface="Times New Roman" pitchFamily="18" charset="0"/>
                        </a:rPr>
                        <a:t>Upper 95%</a:t>
                      </a:r>
                      <a:endParaRPr lang="en-US" sz="1500" b="0" i="1"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r>
              <a:tr h="315944">
                <a:tc>
                  <a:txBody>
                    <a:bodyPr/>
                    <a:lstStyle/>
                    <a:p>
                      <a:pPr algn="l" fontAlgn="b"/>
                      <a:r>
                        <a:rPr lang="en-US" sz="1500" u="none" strike="noStrike">
                          <a:effectLst/>
                          <a:latin typeface="Times New Roman" pitchFamily="18" charset="0"/>
                          <a:cs typeface="Times New Roman" pitchFamily="18" charset="0"/>
                        </a:rPr>
                        <a:t>Intercept</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dirty="0">
                          <a:effectLst/>
                          <a:latin typeface="Times New Roman" pitchFamily="18" charset="0"/>
                          <a:cs typeface="Times New Roman" pitchFamily="18" charset="0"/>
                        </a:rPr>
                        <a:t>-7.205</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rgbClr val="FFFF00"/>
                    </a:solidFill>
                  </a:tcPr>
                </a:tc>
                <a:tc>
                  <a:txBody>
                    <a:bodyPr/>
                    <a:lstStyle/>
                    <a:p>
                      <a:pPr algn="r" fontAlgn="b"/>
                      <a:r>
                        <a:rPr lang="en-US" sz="1500" u="none" strike="noStrike" dirty="0">
                          <a:effectLst/>
                          <a:latin typeface="Times New Roman" pitchFamily="18" charset="0"/>
                          <a:cs typeface="Times New Roman" pitchFamily="18" charset="0"/>
                        </a:rPr>
                        <a:t>10.258</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-0.702</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0.496</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-29.556</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15.146</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r>
              <a:tr h="315944">
                <a:tc>
                  <a:txBody>
                    <a:bodyPr/>
                    <a:lstStyle/>
                    <a:p>
                      <a:pPr algn="l" fontAlgn="b"/>
                      <a:r>
                        <a:rPr lang="en-US" sz="1500" u="none" strike="noStrike">
                          <a:effectLst/>
                          <a:latin typeface="Times New Roman" pitchFamily="18" charset="0"/>
                          <a:cs typeface="Times New Roman" pitchFamily="18" charset="0"/>
                        </a:rPr>
                        <a:t>Education</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dirty="0">
                          <a:effectLst/>
                          <a:latin typeface="Times New Roman" pitchFamily="18" charset="0"/>
                          <a:cs typeface="Times New Roman" pitchFamily="18" charset="0"/>
                        </a:rPr>
                        <a:t>1.426</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rgbClr val="FFFF00"/>
                    </a:solidFill>
                  </a:tcPr>
                </a:tc>
                <a:tc>
                  <a:txBody>
                    <a:bodyPr/>
                    <a:lstStyle/>
                    <a:p>
                      <a:pPr algn="r" fontAlgn="b"/>
                      <a:r>
                        <a:rPr lang="en-US" sz="1500" u="none" strike="noStrike" dirty="0">
                          <a:effectLst/>
                          <a:latin typeface="Times New Roman" pitchFamily="18" charset="0"/>
                          <a:cs typeface="Times New Roman" pitchFamily="18" charset="0"/>
                        </a:rPr>
                        <a:t>0.687</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dirty="0">
                          <a:effectLst/>
                          <a:latin typeface="Times New Roman" pitchFamily="18" charset="0"/>
                          <a:cs typeface="Times New Roman" pitchFamily="18" charset="0"/>
                        </a:rPr>
                        <a:t>2.076</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0.060</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-0.071</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a:effectLst/>
                          <a:latin typeface="Times New Roman" pitchFamily="18" charset="0"/>
                          <a:cs typeface="Times New Roman" pitchFamily="18" charset="0"/>
                        </a:rPr>
                        <a:t>2.923</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r>
              <a:tr h="331741">
                <a:tc>
                  <a:txBody>
                    <a:bodyPr/>
                    <a:lstStyle/>
                    <a:p>
                      <a:pPr algn="l" fontAlgn="b"/>
                      <a:r>
                        <a:rPr lang="en-US" sz="1500" u="none" strike="noStrike">
                          <a:effectLst/>
                          <a:latin typeface="Times New Roman" pitchFamily="18" charset="0"/>
                          <a:cs typeface="Times New Roman" pitchFamily="18" charset="0"/>
                        </a:rPr>
                        <a:t>Female</a:t>
                      </a:r>
                      <a:endParaRPr lang="en-US" sz="1500" b="0" i="0" u="none" strike="noStrike">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dirty="0">
                          <a:effectLst/>
                          <a:latin typeface="Times New Roman" pitchFamily="18" charset="0"/>
                          <a:cs typeface="Times New Roman" pitchFamily="18" charset="0"/>
                        </a:rPr>
                        <a:t>7.249</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rgbClr val="FFFF00"/>
                    </a:solidFill>
                  </a:tcPr>
                </a:tc>
                <a:tc>
                  <a:txBody>
                    <a:bodyPr/>
                    <a:lstStyle/>
                    <a:p>
                      <a:pPr algn="r" fontAlgn="b"/>
                      <a:r>
                        <a:rPr lang="en-US" sz="1500" u="none" strike="noStrike" dirty="0">
                          <a:effectLst/>
                          <a:latin typeface="Times New Roman" pitchFamily="18" charset="0"/>
                          <a:cs typeface="Times New Roman" pitchFamily="18" charset="0"/>
                        </a:rPr>
                        <a:t>2.481</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dirty="0">
                          <a:effectLst/>
                          <a:latin typeface="Times New Roman" pitchFamily="18" charset="0"/>
                          <a:cs typeface="Times New Roman" pitchFamily="18" charset="0"/>
                        </a:rPr>
                        <a:t>2.922</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dirty="0">
                          <a:effectLst/>
                          <a:latin typeface="Times New Roman" pitchFamily="18" charset="0"/>
                          <a:cs typeface="Times New Roman" pitchFamily="18" charset="0"/>
                        </a:rPr>
                        <a:t>0.013</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dirty="0">
                          <a:effectLst/>
                          <a:latin typeface="Times New Roman" pitchFamily="18" charset="0"/>
                          <a:cs typeface="Times New Roman" pitchFamily="18" charset="0"/>
                        </a:rPr>
                        <a:t>1.844</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c>
                  <a:txBody>
                    <a:bodyPr/>
                    <a:lstStyle/>
                    <a:p>
                      <a:pPr algn="r" fontAlgn="b"/>
                      <a:r>
                        <a:rPr lang="en-US" sz="1500" u="none" strike="noStrike" dirty="0">
                          <a:effectLst/>
                          <a:latin typeface="Times New Roman" pitchFamily="18" charset="0"/>
                          <a:cs typeface="Times New Roman" pitchFamily="18" charset="0"/>
                        </a:rPr>
                        <a:t>12.654</a:t>
                      </a:r>
                      <a:endParaRPr lang="en-US" sz="1500" b="0" i="0" u="none" strike="noStrike" dirty="0">
                        <a:solidFill>
                          <a:srgbClr val="000000"/>
                        </a:solidFill>
                        <a:effectLst/>
                        <a:latin typeface="Times New Roman" pitchFamily="18" charset="0"/>
                        <a:cs typeface="Times New Roman" pitchFamily="18" charset="0"/>
                      </a:endParaRPr>
                    </a:p>
                  </a:txBody>
                  <a:tcPr marL="9525" marR="9525" marT="9524" marB="0" anchor="b">
                    <a:solidFill>
                      <a:schemeClr val="bg1">
                        <a:lumMod val="95000"/>
                      </a:schemeClr>
                    </a:solidFill>
                  </a:tcPr>
                </a:tc>
              </a:tr>
            </a:tbl>
          </a:graphicData>
        </a:graphic>
      </p:graphicFrame>
      <p:sp>
        <p:nvSpPr>
          <p:cNvPr id="18527"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A9A460F5-3198-4FE4-BD79-420875017EEB}" type="slidenum">
              <a:rPr lang="en-US" smtClean="0"/>
              <a:pPr/>
              <a:t>17</a:t>
            </a:fld>
            <a:endParaRPr lang="en-US"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914400" y="274638"/>
            <a:ext cx="7772400" cy="885825"/>
          </a:xfrm>
        </p:spPr>
        <p:txBody>
          <a:bodyPr/>
          <a:lstStyle/>
          <a:p>
            <a:r>
              <a:rPr lang="en-US" sz="3600" dirty="0" smtClean="0">
                <a:solidFill>
                  <a:schemeClr val="tx1"/>
                </a:solidFill>
                <a:ea typeface="ＭＳ Ｐゴシック" pitchFamily="17" charset="-128"/>
              </a:rPr>
              <a:t>Fit Model and interpretations</a:t>
            </a:r>
          </a:p>
        </p:txBody>
      </p:sp>
      <mc:AlternateContent xmlns:mc="http://schemas.openxmlformats.org/markup-compatibility/2006" xmlns:a14="http://schemas.microsoft.com/office/drawing/2010/main">
        <mc:Choice Requires="a14">
          <p:sp>
            <p:nvSpPr>
              <p:cNvPr id="19459" name="Content Placeholder 2"/>
              <p:cNvSpPr>
                <a:spLocks noGrp="1"/>
              </p:cNvSpPr>
              <p:nvPr>
                <p:ph sz="quarter" idx="1"/>
              </p:nvPr>
            </p:nvSpPr>
            <p:spPr/>
            <p:txBody>
              <a:bodyPr/>
              <a:lstStyle/>
              <a:p>
                <a:pPr marL="0" indent="0" algn="ctr">
                  <a:buFont typeface="Wingdings 2" pitchFamily="17" charset="2"/>
                  <a:buNone/>
                </a:pPr>
                <a14:m>
                  <m:oMath xmlns:m="http://schemas.openxmlformats.org/officeDocument/2006/math">
                    <m:acc>
                      <m:accPr>
                        <m:chr m:val="̂"/>
                        <m:ctrlPr>
                          <a:rPr lang="en-US" b="1" i="1" dirty="0" smtClean="0">
                            <a:latin typeface="Cambria Math" charset="0"/>
                            <a:ea typeface="ＭＳ Ｐゴシック" pitchFamily="17" charset="-128"/>
                          </a:rPr>
                        </m:ctrlPr>
                      </m:accPr>
                      <m:e>
                        <m:r>
                          <a:rPr lang="en-US" b="1" i="1" dirty="0" smtClean="0">
                            <a:latin typeface="Cambria Math"/>
                            <a:ea typeface="ＭＳ Ｐゴシック" pitchFamily="17" charset="-128"/>
                          </a:rPr>
                          <m:t>𝑾𝒂𝒈𝒆</m:t>
                        </m:r>
                      </m:e>
                    </m:acc>
                  </m:oMath>
                </a14:m>
                <a:r>
                  <a:rPr lang="en-US" b="1" dirty="0" smtClean="0">
                    <a:ea typeface="ＭＳ Ｐゴシック" pitchFamily="17" charset="-128"/>
                  </a:rPr>
                  <a:t> = -7.205 + 1.426*Education + 7.249*Female </a:t>
                </a:r>
              </a:p>
              <a:p>
                <a:pPr marL="0" indent="0">
                  <a:buFont typeface="Wingdings 2" pitchFamily="17" charset="2"/>
                  <a:buNone/>
                </a:pPr>
                <a:endParaRPr lang="en-US" dirty="0" smtClean="0">
                  <a:ea typeface="ＭＳ Ｐゴシック" pitchFamily="17" charset="-128"/>
                </a:endParaRPr>
              </a:p>
              <a:p>
                <a:pPr marL="0" indent="0">
                  <a:buFont typeface="Wingdings 2" pitchFamily="17" charset="2"/>
                  <a:buNone/>
                </a:pPr>
                <a:r>
                  <a:rPr lang="en-US" dirty="0" smtClean="0">
                    <a:latin typeface="Times New Roman" pitchFamily="18" charset="0"/>
                    <a:ea typeface="ＭＳ Ｐゴシック" pitchFamily="17" charset="-128"/>
                    <a:cs typeface="Times New Roman" pitchFamily="18" charset="0"/>
                  </a:rPr>
                  <a:t>β</a:t>
                </a:r>
                <a:r>
                  <a:rPr lang="en-US" baseline="-25000" dirty="0" smtClean="0">
                    <a:ea typeface="ＭＳ Ｐゴシック" pitchFamily="17" charset="-128"/>
                  </a:rPr>
                  <a:t>1</a:t>
                </a:r>
                <a:r>
                  <a:rPr lang="en-US" dirty="0" smtClean="0">
                    <a:ea typeface="ＭＳ Ｐゴシック" pitchFamily="17" charset="-128"/>
                  </a:rPr>
                  <a:t>: For 1 year change in education, employee wage changes by $1.426 per hour on average, while holding all other variables constant (ceteris paribus).</a:t>
                </a:r>
              </a:p>
              <a:p>
                <a:pPr marL="0" indent="0">
                  <a:buFont typeface="Wingdings 2" pitchFamily="17" charset="2"/>
                  <a:buNone/>
                </a:pPr>
                <a:r>
                  <a:rPr lang="en-US" dirty="0" smtClean="0">
                    <a:latin typeface="Times New Roman" pitchFamily="18" charset="0"/>
                    <a:ea typeface="ＭＳ Ｐゴシック" pitchFamily="17" charset="-128"/>
                    <a:cs typeface="Times New Roman" pitchFamily="18" charset="0"/>
                  </a:rPr>
                  <a:t>β</a:t>
                </a:r>
                <a:r>
                  <a:rPr lang="en-US" baseline="-25000" dirty="0" smtClean="0">
                    <a:ea typeface="ＭＳ Ｐゴシック" pitchFamily="17" charset="-128"/>
                  </a:rPr>
                  <a:t>2</a:t>
                </a:r>
                <a:r>
                  <a:rPr lang="en-US" dirty="0" smtClean="0">
                    <a:ea typeface="ＭＳ Ｐゴシック" pitchFamily="17" charset="-128"/>
                  </a:rPr>
                  <a:t>: If education is held constant, on average female workers earn $7.249 more per hour than male workers.</a:t>
                </a:r>
              </a:p>
              <a:p>
                <a:pPr marL="0" indent="0">
                  <a:buFont typeface="Wingdings 2" pitchFamily="17" charset="2"/>
                  <a:buNone/>
                </a:pPr>
                <a:r>
                  <a:rPr lang="en-US" dirty="0" smtClean="0">
                    <a:latin typeface="Times New Roman" pitchFamily="18" charset="0"/>
                    <a:ea typeface="ＭＳ Ｐゴシック" pitchFamily="17" charset="-128"/>
                    <a:cs typeface="Times New Roman" pitchFamily="18" charset="0"/>
                  </a:rPr>
                  <a:t>β</a:t>
                </a:r>
                <a:r>
                  <a:rPr lang="en-US" baseline="-25000" dirty="0" smtClean="0">
                    <a:ea typeface="ＭＳ Ｐゴシック" pitchFamily="17" charset="-128"/>
                  </a:rPr>
                  <a:t>0</a:t>
                </a:r>
                <a:r>
                  <a:rPr lang="en-US" dirty="0" smtClean="0">
                    <a:ea typeface="ＭＳ Ｐゴシック" pitchFamily="17" charset="-128"/>
                  </a:rPr>
                  <a:t>: intercept does not have intrinsic meaning for this exercise.</a:t>
                </a:r>
              </a:p>
            </p:txBody>
          </p:sp>
        </mc:Choice>
        <mc:Fallback xmlns="">
          <p:sp>
            <p:nvSpPr>
              <p:cNvPr id="19459"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1412" t="-1200"/>
                </a:stretch>
              </a:blipFill>
            </p:spPr>
            <p:txBody>
              <a:bodyPr/>
              <a:lstStyle/>
              <a:p>
                <a:r>
                  <a:rPr lang="en-US">
                    <a:noFill/>
                  </a:rPr>
                  <a:t> </a:t>
                </a:r>
              </a:p>
            </p:txBody>
          </p:sp>
        </mc:Fallback>
      </mc:AlternateContent>
      <p:sp>
        <p:nvSpPr>
          <p:cNvPr id="4" name="Rectangle 3"/>
          <p:cNvSpPr/>
          <p:nvPr/>
        </p:nvSpPr>
        <p:spPr>
          <a:xfrm>
            <a:off x="1258888" y="1447800"/>
            <a:ext cx="7058025" cy="612775"/>
          </a:xfrm>
          <a:prstGeom prst="rect">
            <a:avLst/>
          </a:prstGeom>
          <a:no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461" name="Slide Number Placeholder 1"/>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8D2F8289-2698-4DC4-A1CA-0AF63213CB8B}" type="slidenum">
              <a:rPr lang="en-US" smtClean="0"/>
              <a:pPr/>
              <a:t>18</a:t>
            </a:fld>
            <a:endParaRPr lang="en-US"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smtClean="0">
                <a:solidFill>
                  <a:schemeClr val="tx1"/>
                </a:solidFill>
                <a:ea typeface="ＭＳ Ｐゴシック" pitchFamily="17" charset="-128"/>
              </a:rPr>
              <a:t>Assumptions check</a:t>
            </a:r>
          </a:p>
        </p:txBody>
      </p:sp>
      <p:sp>
        <p:nvSpPr>
          <p:cNvPr id="20483" name="Content Placeholder 2"/>
          <p:cNvSpPr>
            <a:spLocks noGrp="1"/>
          </p:cNvSpPr>
          <p:nvPr>
            <p:ph sz="quarter" idx="1"/>
          </p:nvPr>
        </p:nvSpPr>
        <p:spPr>
          <a:xfrm>
            <a:off x="914400" y="1447800"/>
            <a:ext cx="7772400" cy="5113338"/>
          </a:xfrm>
        </p:spPr>
        <p:txBody>
          <a:bodyPr/>
          <a:lstStyle/>
          <a:p>
            <a:r>
              <a:rPr lang="en-US" b="1" smtClean="0">
                <a:ea typeface="ＭＳ Ｐゴシック" pitchFamily="17" charset="-128"/>
              </a:rPr>
              <a:t>Normality. </a:t>
            </a:r>
            <a:r>
              <a:rPr lang="en-US" smtClean="0">
                <a:ea typeface="ＭＳ Ｐゴシック" pitchFamily="17" charset="-128"/>
              </a:rPr>
              <a:t>This assumption can be seen from Normal Probability Plot. If the plot follows straight line (or close enough) we can conclude that this assumption is not violated.</a:t>
            </a:r>
          </a:p>
          <a:p>
            <a:endParaRPr lang="en-US" smtClean="0">
              <a:ea typeface="ＭＳ Ｐゴシック" pitchFamily="17" charset="-128"/>
            </a:endParaRPr>
          </a:p>
          <a:p>
            <a:endParaRPr lang="en-US" smtClean="0">
              <a:ea typeface="ＭＳ Ｐゴシック" pitchFamily="17" charset="-128"/>
            </a:endParaRPr>
          </a:p>
          <a:p>
            <a:endParaRPr lang="en-US" smtClean="0">
              <a:ea typeface="ＭＳ Ｐゴシック" pitchFamily="17" charset="-128"/>
            </a:endParaRPr>
          </a:p>
          <a:p>
            <a:endParaRPr lang="en-US" smtClean="0">
              <a:ea typeface="ＭＳ Ｐゴシック" pitchFamily="17" charset="-128"/>
            </a:endParaRPr>
          </a:p>
          <a:p>
            <a:endParaRPr lang="en-US" smtClean="0">
              <a:ea typeface="ＭＳ Ｐゴシック" pitchFamily="17" charset="-128"/>
            </a:endParaRPr>
          </a:p>
          <a:p>
            <a:r>
              <a:rPr lang="en-US" b="1" smtClean="0">
                <a:ea typeface="ＭＳ Ｐゴシック" pitchFamily="17" charset="-128"/>
              </a:rPr>
              <a:t>Linearity. </a:t>
            </a:r>
            <a:r>
              <a:rPr lang="en-US" smtClean="0">
                <a:ea typeface="ＭＳ Ｐゴシック" pitchFamily="17" charset="-128"/>
              </a:rPr>
              <a:t>Linearity can be assumed if scatterplots of dependent variable vs independent variable shows linear relationship (no need to check for dummies).</a:t>
            </a:r>
          </a:p>
        </p:txBody>
      </p:sp>
      <p:graphicFrame>
        <p:nvGraphicFramePr>
          <p:cNvPr id="4" name="Chart 3"/>
          <p:cNvGraphicFramePr>
            <a:graphicFrameLocks/>
          </p:cNvGraphicFramePr>
          <p:nvPr/>
        </p:nvGraphicFramePr>
        <p:xfrm>
          <a:off x="3599892" y="2744924"/>
          <a:ext cx="4573730" cy="2268252"/>
        </p:xfrm>
        <a:graphic>
          <a:graphicData uri="http://schemas.openxmlformats.org/drawingml/2006/chart">
            <c:chart xmlns:c="http://schemas.openxmlformats.org/drawingml/2006/chart" xmlns:r="http://schemas.openxmlformats.org/officeDocument/2006/relationships" r:id="rId2"/>
          </a:graphicData>
        </a:graphic>
      </p:graphicFrame>
      <p:sp>
        <p:nvSpPr>
          <p:cNvPr id="20485" name="Slide Number Placeholder 4"/>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D8CE2C3A-F691-43D7-93B4-1B04C06AEE78}" type="slidenum">
              <a:rPr lang="en-US" smtClean="0"/>
              <a:pPr/>
              <a:t>19</a:t>
            </a:fld>
            <a:endParaRPr lang="en-US"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914400" y="274638"/>
            <a:ext cx="7772400" cy="741362"/>
          </a:xfrm>
        </p:spPr>
        <p:txBody>
          <a:bodyPr/>
          <a:lstStyle/>
          <a:p>
            <a:r>
              <a:rPr lang="en-US" smtClean="0">
                <a:solidFill>
                  <a:schemeClr val="tx1"/>
                </a:solidFill>
                <a:ea typeface="ＭＳ Ｐゴシック" pitchFamily="17" charset="-128"/>
              </a:rPr>
              <a:t>Assumptions check</a:t>
            </a:r>
            <a:endParaRPr lang="en-US" smtClean="0">
              <a:ea typeface="ＭＳ Ｐゴシック" pitchFamily="17" charset="-128"/>
            </a:endParaRPr>
          </a:p>
        </p:txBody>
      </p:sp>
      <p:sp>
        <p:nvSpPr>
          <p:cNvPr id="21507" name="Content Placeholder 2"/>
          <p:cNvSpPr>
            <a:spLocks noGrp="1"/>
          </p:cNvSpPr>
          <p:nvPr>
            <p:ph sz="quarter" idx="1"/>
          </p:nvPr>
        </p:nvSpPr>
        <p:spPr>
          <a:xfrm>
            <a:off x="914400" y="1447800"/>
            <a:ext cx="7772400" cy="4968875"/>
          </a:xfrm>
        </p:spPr>
        <p:txBody>
          <a:bodyPr/>
          <a:lstStyle/>
          <a:p>
            <a:r>
              <a:rPr lang="en-US" b="1" dirty="0" smtClean="0">
                <a:ea typeface="ＭＳ Ｐゴシック" pitchFamily="17" charset="-128"/>
              </a:rPr>
              <a:t>No </a:t>
            </a:r>
            <a:r>
              <a:rPr lang="en-US" b="1" dirty="0" err="1" smtClean="0">
                <a:ea typeface="ＭＳ Ｐゴシック" pitchFamily="17" charset="-128"/>
              </a:rPr>
              <a:t>Multicollinearity</a:t>
            </a:r>
            <a:r>
              <a:rPr lang="en-US" b="1" dirty="0" smtClean="0">
                <a:ea typeface="ＭＳ Ｐゴシック" pitchFamily="17" charset="-128"/>
              </a:rPr>
              <a:t>. </a:t>
            </a:r>
            <a:r>
              <a:rPr lang="en-US" sz="2400" dirty="0" smtClean="0">
                <a:ea typeface="ＭＳ Ｐゴシック" pitchFamily="17" charset="-128"/>
              </a:rPr>
              <a:t>Correlation matrix will show how strong the relationship is between independent variables. We prefer the ones which have weak relationships. </a:t>
            </a:r>
          </a:p>
          <a:p>
            <a:r>
              <a:rPr lang="en-US" altLang="en-US" b="1" dirty="0" smtClean="0">
                <a:ea typeface="ＭＳ Ｐゴシック" pitchFamily="17" charset="-128"/>
              </a:rPr>
              <a:t>Homoscedasticity. </a:t>
            </a:r>
            <a:r>
              <a:rPr lang="en-US" altLang="en-US" sz="2400" dirty="0" smtClean="0">
                <a:ea typeface="ＭＳ Ｐゴシック" pitchFamily="17" charset="-128"/>
              </a:rPr>
              <a:t>It can be seen from Residual plots. This example shows unequal variance (heteroscedasticity).  Red arrows show how the variance is decreasing along the x axis.</a:t>
            </a:r>
            <a:endParaRPr lang="en-US" sz="2400" b="1" dirty="0" smtClean="0">
              <a:ea typeface="ＭＳ Ｐゴシック" pitchFamily="17" charset="-128"/>
            </a:endParaRPr>
          </a:p>
        </p:txBody>
      </p:sp>
      <p:graphicFrame>
        <p:nvGraphicFramePr>
          <p:cNvPr id="4" name="Chart 3"/>
          <p:cNvGraphicFramePr>
            <a:graphicFrameLocks/>
          </p:cNvGraphicFramePr>
          <p:nvPr/>
        </p:nvGraphicFramePr>
        <p:xfrm>
          <a:off x="1475656" y="3897052"/>
          <a:ext cx="4896544" cy="2520280"/>
        </p:xfrm>
        <a:graphic>
          <a:graphicData uri="http://schemas.openxmlformats.org/drawingml/2006/chart">
            <c:chart xmlns:c="http://schemas.openxmlformats.org/drawingml/2006/chart" xmlns:r="http://schemas.openxmlformats.org/officeDocument/2006/relationships" r:id="rId2"/>
          </a:graphicData>
        </a:graphic>
      </p:graphicFrame>
      <p:sp>
        <p:nvSpPr>
          <p:cNvPr id="21509" name="Slide Number Placeholder 4"/>
          <p:cNvSpPr>
            <a:spLocks noGrp="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p>
            <a:fld id="{F15499F0-354E-426A-869F-20360E4319A9}" type="slidenum">
              <a:rPr lang="en-US" smtClean="0"/>
              <a:pPr/>
              <a:t>20</a:t>
            </a:fld>
            <a:endParaRPr lang="en-US" smtClean="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Override1.xml.rels><?xml version="1.0" encoding="UTF-8" standalone="yes"?>
<Relationships xmlns="http://schemas.openxmlformats.org/package/2006/relationships"><Relationship Id="rId1" Type="http://schemas.openxmlformats.org/officeDocument/2006/relationships/image" Target="../media/image1.jpeg"/></Relationships>
</file>

<file path=ppt/theme/_rels/themeOverrid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ＭＳ ゴシック"/>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ヒラギノ明朝 Pro W3"/>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ＭＳ ゴシック"/>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ヒラギノ明朝 Pro W3"/>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Override>
</file>

<file path=ppt/theme/themeOverride2.xml><?xml version="1.0" encoding="utf-8"?>
<a:themeOverride xmlns:a="http://schemas.openxmlformats.org/drawingml/2006/main">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ＭＳ ゴシック"/>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ヒラギノ明朝 Pro W3"/>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Override>
</file>

<file path=docProps/app.xml><?xml version="1.0" encoding="utf-8"?>
<Properties xmlns="http://schemas.openxmlformats.org/officeDocument/2006/extended-properties" xmlns:vt="http://schemas.openxmlformats.org/officeDocument/2006/docPropsVTypes">
  <Template>Equity.thmx</Template>
  <TotalTime>3194</TotalTime>
  <Words>1153</Words>
  <Application>Microsoft Macintosh PowerPoint</Application>
  <PresentationFormat>On-screen Show (4:3)</PresentationFormat>
  <Paragraphs>261</Paragraphs>
  <Slides>20</Slides>
  <Notes>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33" baseType="lpstr">
      <vt:lpstr>Arial</vt:lpstr>
      <vt:lpstr>Book Antiqua</vt:lpstr>
      <vt:lpstr>Calibri</vt:lpstr>
      <vt:lpstr>Cambria Math</vt:lpstr>
      <vt:lpstr>Franklin Gothic Book</vt:lpstr>
      <vt:lpstr>Monotype Sorts</vt:lpstr>
      <vt:lpstr>ＭＳ Ｐゴシック</vt:lpstr>
      <vt:lpstr>Perpetua</vt:lpstr>
      <vt:lpstr>Symbol</vt:lpstr>
      <vt:lpstr>Times New Roman</vt:lpstr>
      <vt:lpstr>Wingdings 2</vt:lpstr>
      <vt:lpstr>Equity</vt:lpstr>
      <vt:lpstr>Equation</vt:lpstr>
      <vt:lpstr>Multiple Linear Regression (I)</vt:lpstr>
      <vt:lpstr>Multiple Linear Regression</vt:lpstr>
      <vt:lpstr>Regression Modeling</vt:lpstr>
      <vt:lpstr>Multiple Regression Modeling</vt:lpstr>
      <vt:lpstr>Real life applications</vt:lpstr>
      <vt:lpstr>The General Multiple Linear Model</vt:lpstr>
      <vt:lpstr>PowerPoint Presentation</vt:lpstr>
      <vt:lpstr>Least Squares Method</vt:lpstr>
      <vt:lpstr>Assumptions of Multiple Linear Regression (How to diagnose)</vt:lpstr>
      <vt:lpstr>Some Problems with R-squared</vt:lpstr>
      <vt:lpstr>Adjusted R-squared</vt:lpstr>
      <vt:lpstr>Categorical Data as Independent variables</vt:lpstr>
      <vt:lpstr>Categorical Data as Independent variables</vt:lpstr>
      <vt:lpstr>Example</vt:lpstr>
      <vt:lpstr>Solution.</vt:lpstr>
      <vt:lpstr>Solution.</vt:lpstr>
      <vt:lpstr>Solution.</vt:lpstr>
      <vt:lpstr>Fit Model and interpretations</vt:lpstr>
      <vt:lpstr>Assumptions check</vt:lpstr>
      <vt:lpstr>Assumptions check</vt:lpstr>
    </vt:vector>
  </TitlesOfParts>
  <Company>Iowa State University</Company>
  <LinksUpToDate>false</LinksUpToDate>
  <SharedDoc>false</SharedDoc>
  <HyperlinksChanged>false</HyperlinksChanged>
  <AppVersion>15.0031</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Regression</dc:title>
  <dc:creator>Elizabeth Page</dc:creator>
  <cp:lastModifiedBy>Microsoft Office User</cp:lastModifiedBy>
  <cp:revision>76</cp:revision>
  <dcterms:created xsi:type="dcterms:W3CDTF">2010-04-15T14:41:11Z</dcterms:created>
  <dcterms:modified xsi:type="dcterms:W3CDTF">2020-03-01T15:28:33Z</dcterms:modified>
</cp:coreProperties>
</file>