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sldIdLst>
    <p:sldId id="276" r:id="rId2"/>
    <p:sldId id="277" r:id="rId3"/>
    <p:sldId id="270" r:id="rId4"/>
    <p:sldId id="278" r:id="rId5"/>
    <p:sldId id="279" r:id="rId6"/>
    <p:sldId id="258" r:id="rId7"/>
    <p:sldId id="280" r:id="rId8"/>
    <p:sldId id="259" r:id="rId9"/>
    <p:sldId id="285" r:id="rId10"/>
    <p:sldId id="261" r:id="rId11"/>
    <p:sldId id="260" r:id="rId12"/>
    <p:sldId id="262" r:id="rId13"/>
    <p:sldId id="273" r:id="rId14"/>
    <p:sldId id="263" r:id="rId15"/>
    <p:sldId id="275" r:id="rId16"/>
    <p:sldId id="274" r:id="rId17"/>
    <p:sldId id="281" r:id="rId18"/>
    <p:sldId id="282" r:id="rId19"/>
    <p:sldId id="283" r:id="rId20"/>
    <p:sldId id="286" r:id="rId21"/>
    <p:sldId id="284" r:id="rId22"/>
    <p:sldId id="269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A913E-B263-4117-9CF8-0F8D7DCE12BB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3B024-EEC8-4A77-BFE3-9448C6C5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24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0632F5-1793-4E5E-B1C6-4A9A3651D1F1}" type="datetime1">
              <a:rPr lang="en-US" smtClean="0"/>
              <a:t>2/7/2020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F13371-AD88-44E1-A76C-F379E3CE2A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70DEB4-5DD0-412C-92F8-0A445A15A90E}" type="datetime1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F13371-AD88-44E1-A76C-F379E3CE2A3F}" type="slidenum">
              <a:rPr lang="en-US" smtClean="0"/>
              <a:pPr/>
              <a:t>‹#›</a:t>
            </a:fld>
            <a:r>
              <a:rPr lang="en-US" smtClean="0"/>
              <a:t> of 14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2AB333-EF5D-4A9A-878D-D282F54D017A}" type="datetime1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F13371-AD88-44E1-A76C-F379E3CE2A3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5F40EC-3BCD-4728-9A1A-CB29DAC03E71}" type="datetime1">
              <a:rPr lang="en-US" smtClean="0"/>
              <a:t>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F13371-AD88-44E1-A76C-F379E3CE2A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E2F45B1-4C84-4F65-BD69-A193548CE850}" type="datetime1">
              <a:rPr lang="en-US" smtClean="0"/>
              <a:t>2/7/2020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F13371-AD88-44E1-A76C-F379E3CE2A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2797DD-FF16-4C3D-97FD-EFC6DDE25DAD}" type="datetime1">
              <a:rPr lang="en-US" smtClean="0"/>
              <a:t>2/7/2020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F13371-AD88-44E1-A76C-F379E3CE2A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D2DF6B-AEC9-4767-BC98-35B3962FC0B8}" type="datetime1">
              <a:rPr lang="en-US" smtClean="0"/>
              <a:t>2/7/2020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F13371-AD88-44E1-A76C-F379E3CE2A3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A2DFAAC-796D-4471-B0C5-7D02B0ED2925}" type="datetime1">
              <a:rPr lang="en-US" smtClean="0"/>
              <a:t>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F13371-AD88-44E1-A76C-F379E3CE2A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06F05C-EED6-47E7-B20D-1DCE51337DBB}" type="datetime1">
              <a:rPr lang="en-US" smtClean="0"/>
              <a:t>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F13371-AD88-44E1-A76C-F379E3CE2A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E9DAC6C-31BD-4CB2-BA35-E7E9E62CB1F3}" type="datetime1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F13371-AD88-44E1-A76C-F379E3CE2A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0368120-52CF-4E86-9295-330AEF10F43E}" type="datetime1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7F13371-AD88-44E1-A76C-F379E3CE2A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4E29999-6F28-4138-AB5F-10E273C2A67B}" type="datetime1">
              <a:rPr lang="en-US" smtClean="0"/>
              <a:t>2/7/2020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07F13371-AD88-44E1-A76C-F379E3CE2A3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Week 17:  Two-Way ANOVA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pPr/>
              <a:t>1</a:t>
            </a:fld>
            <a:r>
              <a:rPr lang="en-US" smtClean="0"/>
              <a:t> of 14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260" y="2133600"/>
            <a:ext cx="4357435" cy="3124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021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6800" y="338328"/>
            <a:ext cx="7620000" cy="1033272"/>
          </a:xfrm>
        </p:spPr>
        <p:txBody>
          <a:bodyPr/>
          <a:lstStyle/>
          <a:p>
            <a:r>
              <a:rPr lang="en-US" dirty="0" smtClean="0"/>
              <a:t>Learning Objectives of this topic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1828800"/>
            <a:ext cx="7408333" cy="4297363"/>
          </a:xfrm>
        </p:spPr>
        <p:txBody>
          <a:bodyPr/>
          <a:lstStyle/>
          <a:p>
            <a:r>
              <a:rPr lang="en-US" dirty="0" smtClean="0"/>
              <a:t>State hypotheses;</a:t>
            </a:r>
          </a:p>
          <a:p>
            <a:r>
              <a:rPr lang="en-US" dirty="0" smtClean="0"/>
              <a:t>Distinguish between main and interaction effects;</a:t>
            </a:r>
          </a:p>
          <a:p>
            <a:r>
              <a:rPr lang="en-US" dirty="0" smtClean="0"/>
              <a:t>Know difference between ANOVA with and without replications;</a:t>
            </a:r>
          </a:p>
          <a:p>
            <a:r>
              <a:rPr lang="en-US" dirty="0" smtClean="0"/>
              <a:t>Interpret test results.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pPr/>
              <a:t>2</a:t>
            </a:fld>
            <a:r>
              <a:rPr lang="en-US" smtClean="0"/>
              <a:t> of 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69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Two-Way ANOVA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7714488" cy="48006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In a </a:t>
            </a:r>
            <a:r>
              <a:rPr lang="en-US" sz="2800" b="1" dirty="0">
                <a:solidFill>
                  <a:schemeClr val="tx1"/>
                </a:solidFill>
              </a:rPr>
              <a:t>Two-way ANOVA,</a:t>
            </a:r>
            <a:r>
              <a:rPr lang="en-US" sz="2800" dirty="0">
                <a:solidFill>
                  <a:schemeClr val="tx1"/>
                </a:solidFill>
              </a:rPr>
              <a:t> the effects of two </a:t>
            </a:r>
            <a:r>
              <a:rPr lang="en-US" sz="2800" dirty="0" smtClean="0">
                <a:solidFill>
                  <a:schemeClr val="tx1"/>
                </a:solidFill>
              </a:rPr>
              <a:t>categorical factors </a:t>
            </a:r>
            <a:r>
              <a:rPr lang="en-US" sz="2800" dirty="0">
                <a:solidFill>
                  <a:schemeClr val="tx1"/>
                </a:solidFill>
              </a:rPr>
              <a:t>can be investigated </a:t>
            </a:r>
            <a:r>
              <a:rPr lang="en-US" sz="2800" i="1" dirty="0">
                <a:solidFill>
                  <a:schemeClr val="tx1"/>
                </a:solidFill>
              </a:rPr>
              <a:t>simultaneously. </a:t>
            </a:r>
            <a:endParaRPr lang="en-US" sz="2800" i="1" dirty="0" smtClean="0">
              <a:solidFill>
                <a:schemeClr val="tx1"/>
              </a:solidFill>
            </a:endParaRPr>
          </a:p>
          <a:p>
            <a:r>
              <a:rPr lang="en-US" sz="2800" i="1" dirty="0" smtClean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Two-way ANOVA permits the investigation of the effects of either factor alone (e.g. the effect of brand of car on the gas mileage, and the effect of the </a:t>
            </a:r>
            <a:r>
              <a:rPr lang="en-US" sz="2800" dirty="0" smtClean="0">
                <a:solidFill>
                  <a:schemeClr val="tx1"/>
                </a:solidFill>
              </a:rPr>
              <a:t>condition </a:t>
            </a:r>
            <a:r>
              <a:rPr lang="en-US" sz="2800" dirty="0">
                <a:solidFill>
                  <a:schemeClr val="tx1"/>
                </a:solidFill>
              </a:rPr>
              <a:t>on the gas mileage) and also the </a:t>
            </a:r>
            <a:r>
              <a:rPr lang="en-US" sz="2800" i="1" dirty="0">
                <a:solidFill>
                  <a:schemeClr val="tx1"/>
                </a:solidFill>
              </a:rPr>
              <a:t>two factors together </a:t>
            </a:r>
            <a:r>
              <a:rPr lang="en-US" sz="2800" dirty="0">
                <a:solidFill>
                  <a:schemeClr val="tx1"/>
                </a:solidFill>
              </a:rPr>
              <a:t>(e.g. the combined effect of the model of the car and the effect of </a:t>
            </a:r>
            <a:r>
              <a:rPr lang="en-US" sz="2800" dirty="0" smtClean="0">
                <a:solidFill>
                  <a:schemeClr val="tx1"/>
                </a:solidFill>
              </a:rPr>
              <a:t>condition </a:t>
            </a:r>
            <a:r>
              <a:rPr lang="en-US" sz="2800" dirty="0">
                <a:solidFill>
                  <a:schemeClr val="tx1"/>
                </a:solidFill>
              </a:rPr>
              <a:t>on gas mileage).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63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 smtClean="0"/>
              <a:t>Few publications using Two-way ANOVA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8019288" cy="5638800"/>
          </a:xfrm>
        </p:spPr>
        <p:txBody>
          <a:bodyPr>
            <a:normAutofit/>
          </a:bodyPr>
          <a:lstStyle/>
          <a:p>
            <a:r>
              <a:rPr lang="en-US" sz="2000" dirty="0"/>
              <a:t>The effects of camera lenses and dental specialties on the perception of smile </a:t>
            </a:r>
            <a:r>
              <a:rPr lang="en-US" sz="2000" dirty="0" smtClean="0"/>
              <a:t>esthetics (</a:t>
            </a:r>
            <a:r>
              <a:rPr lang="en-US" sz="2000" dirty="0" err="1" smtClean="0"/>
              <a:t>Sajjadi</a:t>
            </a:r>
            <a:r>
              <a:rPr lang="en-US" sz="2000" dirty="0" smtClean="0"/>
              <a:t> et al, 2016)</a:t>
            </a:r>
          </a:p>
          <a:p>
            <a:pPr marL="82296" indent="0">
              <a:buNone/>
            </a:pPr>
            <a:endParaRPr lang="en-US" sz="2000" dirty="0" smtClean="0"/>
          </a:p>
          <a:p>
            <a:r>
              <a:rPr lang="en-US" sz="2000" dirty="0"/>
              <a:t>A comparison between psychological and economic factors affecting individual investor’s decision-making </a:t>
            </a:r>
            <a:r>
              <a:rPr lang="en-US" sz="2000" dirty="0" smtClean="0"/>
              <a:t>behavior (</a:t>
            </a:r>
            <a:r>
              <a:rPr lang="en-US" sz="2000" dirty="0" err="1" smtClean="0"/>
              <a:t>Sarwar</a:t>
            </a:r>
            <a:r>
              <a:rPr lang="en-US" sz="2000" dirty="0"/>
              <a:t> </a:t>
            </a:r>
            <a:r>
              <a:rPr lang="en-US" sz="2000" dirty="0" smtClean="0"/>
              <a:t>&amp; </a:t>
            </a:r>
            <a:r>
              <a:rPr lang="en-US" sz="2000" dirty="0" err="1" smtClean="0"/>
              <a:t>Afaf</a:t>
            </a:r>
            <a:r>
              <a:rPr lang="en-US" sz="2000" dirty="0" smtClean="0"/>
              <a:t>, 2016)</a:t>
            </a:r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dirty="0" smtClean="0"/>
          </a:p>
          <a:p>
            <a:r>
              <a:rPr lang="en-US" sz="2000" dirty="0"/>
              <a:t>Impact of Attendance on Performance of </a:t>
            </a:r>
            <a:r>
              <a:rPr lang="en-US" sz="2000" dirty="0" smtClean="0"/>
              <a:t>Students</a:t>
            </a:r>
          </a:p>
          <a:p>
            <a:pPr marL="82296" indent="0">
              <a:buNone/>
            </a:pPr>
            <a:r>
              <a:rPr lang="en-US" sz="2000" dirty="0" smtClean="0"/>
              <a:t> </a:t>
            </a:r>
            <a:r>
              <a:rPr lang="en-US" sz="2000" dirty="0"/>
              <a:t>Using </a:t>
            </a:r>
            <a:r>
              <a:rPr lang="en-US" sz="2000" dirty="0" smtClean="0"/>
              <a:t>ANOVA (</a:t>
            </a:r>
            <a:r>
              <a:rPr lang="en-US" sz="2000" dirty="0" err="1" smtClean="0"/>
              <a:t>Kaur</a:t>
            </a:r>
            <a:r>
              <a:rPr lang="en-US" sz="2000" dirty="0" smtClean="0"/>
              <a:t> et al, 2010)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pPr/>
              <a:t>4</a:t>
            </a:fld>
            <a:r>
              <a:rPr lang="en-US" smtClean="0"/>
              <a:t> of 14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327748"/>
            <a:ext cx="240631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881086"/>
            <a:ext cx="3320716" cy="858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981831"/>
            <a:ext cx="1203158" cy="2723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280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868362"/>
          </a:xfrm>
        </p:spPr>
        <p:txBody>
          <a:bodyPr/>
          <a:lstStyle/>
          <a:p>
            <a:r>
              <a:rPr lang="en-US" dirty="0" smtClean="0"/>
              <a:t>Logic of Two-Way ANOVA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pPr/>
              <a:t>5</a:t>
            </a:fld>
            <a:r>
              <a:rPr lang="en-US" smtClean="0"/>
              <a:t> of 14</a:t>
            </a:r>
            <a:endParaRPr lang="en-US" dirty="0"/>
          </a:p>
        </p:txBody>
      </p:sp>
      <p:cxnSp>
        <p:nvCxnSpPr>
          <p:cNvPr id="6" name="Straight Connector 5"/>
          <p:cNvCxnSpPr>
            <a:stCxn id="14" idx="2"/>
            <a:endCxn id="9" idx="0"/>
          </p:cNvCxnSpPr>
          <p:nvPr/>
        </p:nvCxnSpPr>
        <p:spPr>
          <a:xfrm flipH="1">
            <a:off x="3622167" y="1875556"/>
            <a:ext cx="1603629" cy="4595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14" idx="2"/>
            <a:endCxn id="10" idx="0"/>
          </p:cNvCxnSpPr>
          <p:nvPr/>
        </p:nvCxnSpPr>
        <p:spPr>
          <a:xfrm>
            <a:off x="5225796" y="1875556"/>
            <a:ext cx="2203704" cy="386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83967" y="2335137"/>
            <a:ext cx="16764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SS between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6629400" y="2261985"/>
            <a:ext cx="16002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 smtClean="0"/>
              <a:t>SSwithin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5250180" y="3657600"/>
            <a:ext cx="16764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SS interaction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3314700" y="3657600"/>
            <a:ext cx="16764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SS </a:t>
            </a:r>
            <a:r>
              <a:rPr lang="en-US" sz="2000" dirty="0" err="1" smtClean="0"/>
              <a:t>factorB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1295400" y="3703320"/>
            <a:ext cx="16764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SS </a:t>
            </a:r>
            <a:r>
              <a:rPr lang="en-US" sz="2000" dirty="0" err="1" smtClean="0"/>
              <a:t>factorA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4241292" y="1475446"/>
            <a:ext cx="196900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82296" indent="0" algn="ctr">
              <a:buNone/>
            </a:pPr>
            <a:r>
              <a:rPr lang="en-US" sz="2000" b="1" dirty="0" err="1"/>
              <a:t>SSTotal</a:t>
            </a:r>
            <a:endParaRPr lang="en-US" sz="2000" b="1" dirty="0"/>
          </a:p>
        </p:txBody>
      </p:sp>
      <p:cxnSp>
        <p:nvCxnSpPr>
          <p:cNvPr id="19" name="Straight Connector 18"/>
          <p:cNvCxnSpPr>
            <a:stCxn id="11" idx="0"/>
            <a:endCxn id="9" idx="2"/>
          </p:cNvCxnSpPr>
          <p:nvPr/>
        </p:nvCxnSpPr>
        <p:spPr>
          <a:xfrm flipH="1" flipV="1">
            <a:off x="3622167" y="2735247"/>
            <a:ext cx="2466213" cy="9223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2"/>
            <a:endCxn id="12" idx="0"/>
          </p:cNvCxnSpPr>
          <p:nvPr/>
        </p:nvCxnSpPr>
        <p:spPr>
          <a:xfrm>
            <a:off x="3622167" y="2735247"/>
            <a:ext cx="530733" cy="9223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9" idx="2"/>
            <a:endCxn id="13" idx="0"/>
          </p:cNvCxnSpPr>
          <p:nvPr/>
        </p:nvCxnSpPr>
        <p:spPr>
          <a:xfrm flipH="1">
            <a:off x="2133600" y="2735247"/>
            <a:ext cx="1488567" cy="968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645" y="4690872"/>
            <a:ext cx="1767155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883" y="4695788"/>
            <a:ext cx="1804818" cy="1170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730" y="4648389"/>
            <a:ext cx="2180702" cy="1217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5708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Two-Way ANOVA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We need to test for the </a:t>
            </a:r>
            <a:r>
              <a:rPr lang="en-US" sz="2400" i="1" dirty="0" smtClean="0"/>
              <a:t>independent</a:t>
            </a:r>
            <a:r>
              <a:rPr lang="en-US" sz="2400" dirty="0" smtClean="0"/>
              <a:t> and </a:t>
            </a:r>
            <a:r>
              <a:rPr lang="en-US" sz="2400" i="1" dirty="0" smtClean="0"/>
              <a:t>combined</a:t>
            </a:r>
            <a:r>
              <a:rPr lang="en-US" sz="2400" dirty="0" smtClean="0"/>
              <a:t> effects of multiple factors on performance. We do this with an ANOVA that asks:</a:t>
            </a:r>
          </a:p>
          <a:p>
            <a:pPr lvl="1">
              <a:buNone/>
            </a:pPr>
            <a:r>
              <a:rPr lang="en-US" sz="2400" dirty="0" smtClean="0"/>
              <a:t>(</a:t>
            </a:r>
            <a:r>
              <a:rPr lang="en-US" sz="2400" dirty="0" err="1" smtClean="0"/>
              <a:t>i</a:t>
            </a:r>
            <a:r>
              <a:rPr lang="en-US" sz="2400" dirty="0" smtClean="0"/>
              <a:t>) how different from each other are the means for levels of Factor A?</a:t>
            </a:r>
          </a:p>
          <a:p>
            <a:pPr lvl="1">
              <a:buNone/>
            </a:pPr>
            <a:r>
              <a:rPr lang="en-US" sz="2400" dirty="0" smtClean="0"/>
              <a:t>(ii) how different from each other are the means for levels of Factor B?</a:t>
            </a:r>
          </a:p>
          <a:p>
            <a:pPr lvl="1">
              <a:buNone/>
            </a:pPr>
            <a:r>
              <a:rPr lang="en-US" sz="2400" dirty="0" smtClean="0"/>
              <a:t>(iii) how different from each other are the means for the factorial </a:t>
            </a:r>
            <a:r>
              <a:rPr lang="en-US" sz="2400" i="1" dirty="0" smtClean="0"/>
              <a:t>combinations</a:t>
            </a:r>
            <a:r>
              <a:rPr lang="en-US" sz="2400" dirty="0" smtClean="0"/>
              <a:t> produced by A and B together?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2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44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Assumptions for Two-Way ANOVA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524000"/>
            <a:ext cx="7790688" cy="4724400"/>
          </a:xfrm>
        </p:spPr>
        <p:txBody>
          <a:bodyPr>
            <a:normAutofit/>
          </a:bodyPr>
          <a:lstStyle/>
          <a:p>
            <a:pPr marL="596646" indent="-514350">
              <a:buFont typeface="+mj-lt"/>
              <a:buAutoNum type="arabicPeriod"/>
            </a:pPr>
            <a:r>
              <a:rPr lang="en-US" sz="3000" dirty="0" smtClean="0"/>
              <a:t>Observations within each sample are independent.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3000" dirty="0" smtClean="0"/>
              <a:t>Populations are approximately normally distributed.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3000" dirty="0" smtClean="0"/>
              <a:t>Populations have equal variances (homogeneity of variance).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3000" dirty="0" smtClean="0"/>
              <a:t>The groups must have the same sample size.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pPr/>
              <a:t>7</a:t>
            </a:fld>
            <a:r>
              <a:rPr lang="en-US" smtClean="0"/>
              <a:t> of 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512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Two-Way ANOVA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7848600" cy="4191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 first two of those questions are questions about </a:t>
            </a:r>
            <a:r>
              <a:rPr lang="en-US" b="1" i="1" dirty="0" smtClean="0"/>
              <a:t>main effects</a:t>
            </a:r>
            <a:r>
              <a:rPr lang="en-US" b="1" dirty="0" smtClean="0"/>
              <a:t> </a:t>
            </a:r>
            <a:r>
              <a:rPr lang="en-US" dirty="0" smtClean="0"/>
              <a:t>of the respective independent variables.</a:t>
            </a:r>
          </a:p>
          <a:p>
            <a:pPr algn="just"/>
            <a:r>
              <a:rPr lang="en-US" dirty="0" smtClean="0"/>
              <a:t>The third question is about the </a:t>
            </a:r>
            <a:r>
              <a:rPr lang="en-US" b="1" i="1" dirty="0" smtClean="0"/>
              <a:t>interaction</a:t>
            </a:r>
            <a:r>
              <a:rPr lang="en-US" b="1" dirty="0" smtClean="0"/>
              <a:t> effect</a:t>
            </a:r>
            <a:r>
              <a:rPr lang="en-US" dirty="0" smtClean="0"/>
              <a:t>, the effect of the two variables considered simultaneously. </a:t>
            </a:r>
            <a:r>
              <a:rPr lang="en-US" dirty="0"/>
              <a:t>Two factors A and B are said to </a:t>
            </a:r>
            <a:r>
              <a:rPr lang="en-US" b="1" dirty="0"/>
              <a:t>interact </a:t>
            </a:r>
            <a:r>
              <a:rPr lang="en-US" dirty="0"/>
              <a:t>if the difference in mean </a:t>
            </a:r>
            <a:r>
              <a:rPr lang="en-US" dirty="0" smtClean="0"/>
              <a:t>responses for </a:t>
            </a:r>
            <a:r>
              <a:rPr lang="en-US" dirty="0"/>
              <a:t>two levels of one factor is not constant </a:t>
            </a:r>
            <a:r>
              <a:rPr lang="en-US" dirty="0" smtClean="0"/>
              <a:t> across  levels </a:t>
            </a:r>
            <a:r>
              <a:rPr lang="en-US" dirty="0"/>
              <a:t>of the second factor.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5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pPr/>
              <a:t>9</a:t>
            </a:fld>
            <a:r>
              <a:rPr lang="en-US" smtClean="0"/>
              <a:t> of 14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8726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44562"/>
          </a:xfrm>
        </p:spPr>
        <p:txBody>
          <a:bodyPr/>
          <a:lstStyle/>
          <a:p>
            <a:pPr algn="ctr"/>
            <a:r>
              <a:rPr lang="en-US" dirty="0" smtClean="0"/>
              <a:t>Two-Way ANOVA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t>10</a:t>
            </a:fld>
            <a:endParaRPr lang="en-US"/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1143000" y="1667593"/>
            <a:ext cx="7642225" cy="4089400"/>
            <a:chOff x="160" y="1077"/>
            <a:chExt cx="4814" cy="2576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4581" y="2340"/>
              <a:ext cx="3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/>
                <a:t>Cells</a:t>
              </a: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 flipH="1">
              <a:off x="3358" y="2446"/>
              <a:ext cx="1216" cy="233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H="1" flipV="1">
              <a:off x="2341" y="2040"/>
              <a:ext cx="2233" cy="406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290" y="1793"/>
              <a:ext cx="252" cy="291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1290" y="3362"/>
              <a:ext cx="252" cy="291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1290" y="2218"/>
              <a:ext cx="252" cy="29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290" y="2633"/>
              <a:ext cx="252" cy="29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1387" y="2842"/>
              <a:ext cx="114" cy="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674" y="1793"/>
              <a:ext cx="252" cy="291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1674" y="3362"/>
              <a:ext cx="252" cy="291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1674" y="2218"/>
              <a:ext cx="252" cy="29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1674" y="2633"/>
              <a:ext cx="252" cy="29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804" y="2839"/>
              <a:ext cx="114" cy="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2046" y="1793"/>
              <a:ext cx="252" cy="291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2046" y="3362"/>
              <a:ext cx="252" cy="291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2046" y="2218"/>
              <a:ext cx="252" cy="29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2046" y="2633"/>
              <a:ext cx="252" cy="29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2212" y="2839"/>
              <a:ext cx="114" cy="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3066" y="1793"/>
              <a:ext cx="252" cy="291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3066" y="3362"/>
              <a:ext cx="252" cy="291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3066" y="2218"/>
              <a:ext cx="252" cy="29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3066" y="2633"/>
              <a:ext cx="252" cy="29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3232" y="2839"/>
              <a:ext cx="114" cy="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1290" y="1077"/>
              <a:ext cx="2310" cy="231"/>
            </a:xfrm>
            <a:prstGeom prst="rect">
              <a:avLst/>
            </a:prstGeom>
            <a:solidFill>
              <a:srgbClr val="A2C1FE"/>
            </a:solidFill>
            <a:ln w="25399">
              <a:solidFill>
                <a:srgbClr val="41414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414141"/>
                  </a:solidFill>
                </a:rPr>
                <a:t>Column </a:t>
              </a:r>
              <a:r>
                <a:rPr lang="en-US" sz="1800" b="1" dirty="0" smtClean="0">
                  <a:solidFill>
                    <a:srgbClr val="414141"/>
                  </a:solidFill>
                </a:rPr>
                <a:t>Treatment or Factor B</a:t>
              </a:r>
              <a:endParaRPr lang="en-US" sz="1800" b="1" dirty="0">
                <a:solidFill>
                  <a:srgbClr val="414141"/>
                </a:solidFill>
              </a:endParaRPr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1386" y="1333"/>
              <a:ext cx="0" cy="404"/>
            </a:xfrm>
            <a:prstGeom prst="line">
              <a:avLst/>
            </a:prstGeom>
            <a:noFill/>
            <a:ln w="25399">
              <a:solidFill>
                <a:srgbClr val="41414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1806" y="1345"/>
              <a:ext cx="0" cy="392"/>
            </a:xfrm>
            <a:prstGeom prst="line">
              <a:avLst/>
            </a:prstGeom>
            <a:noFill/>
            <a:ln w="25399">
              <a:solidFill>
                <a:srgbClr val="41414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>
              <a:off x="2166" y="1345"/>
              <a:ext cx="0" cy="392"/>
            </a:xfrm>
            <a:prstGeom prst="line">
              <a:avLst/>
            </a:prstGeom>
            <a:noFill/>
            <a:ln w="25399">
              <a:solidFill>
                <a:srgbClr val="41414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3186" y="1339"/>
              <a:ext cx="0" cy="398"/>
            </a:xfrm>
            <a:prstGeom prst="line">
              <a:avLst/>
            </a:prstGeom>
            <a:noFill/>
            <a:ln w="25399">
              <a:solidFill>
                <a:srgbClr val="41414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2694" y="1345"/>
              <a:ext cx="0" cy="392"/>
            </a:xfrm>
            <a:prstGeom prst="line">
              <a:avLst/>
            </a:prstGeom>
            <a:noFill/>
            <a:ln w="25399">
              <a:solidFill>
                <a:srgbClr val="41414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35"/>
            <p:cNvSpPr>
              <a:spLocks noChangeArrowheads="1"/>
            </p:cNvSpPr>
            <p:nvPr/>
          </p:nvSpPr>
          <p:spPr bwMode="auto">
            <a:xfrm>
              <a:off x="160" y="1845"/>
              <a:ext cx="718" cy="1708"/>
            </a:xfrm>
            <a:prstGeom prst="rect">
              <a:avLst/>
            </a:prstGeom>
            <a:solidFill>
              <a:srgbClr val="A2C1FE"/>
            </a:solidFill>
            <a:ln w="12699">
              <a:solidFill>
                <a:srgbClr val="41414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algn="ctr"/>
              <a:r>
                <a:rPr lang="en-US" sz="1800" b="1" dirty="0"/>
                <a:t>Row</a:t>
              </a:r>
            </a:p>
            <a:p>
              <a:pPr algn="ctr"/>
              <a:r>
                <a:rPr lang="en-US" sz="1800" b="1" dirty="0" smtClean="0"/>
                <a:t>Treatment</a:t>
              </a:r>
            </a:p>
            <a:p>
              <a:pPr algn="ctr"/>
              <a:r>
                <a:rPr lang="en-US" b="1" dirty="0" smtClean="0"/>
                <a:t>Or</a:t>
              </a:r>
            </a:p>
            <a:p>
              <a:pPr algn="ctr"/>
              <a:r>
                <a:rPr lang="en-US" sz="1800" b="1" dirty="0" smtClean="0"/>
                <a:t>Factor A</a:t>
              </a:r>
              <a:endParaRPr lang="en-US" sz="1800" b="1" dirty="0"/>
            </a:p>
          </p:txBody>
        </p:sp>
        <p:sp>
          <p:nvSpPr>
            <p:cNvPr id="36" name="Line 36"/>
            <p:cNvSpPr>
              <a:spLocks noChangeShapeType="1"/>
            </p:cNvSpPr>
            <p:nvPr/>
          </p:nvSpPr>
          <p:spPr bwMode="auto">
            <a:xfrm>
              <a:off x="890" y="1997"/>
              <a:ext cx="332" cy="0"/>
            </a:xfrm>
            <a:prstGeom prst="line">
              <a:avLst/>
            </a:prstGeom>
            <a:noFill/>
            <a:ln w="25399">
              <a:solidFill>
                <a:srgbClr val="41414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890" y="2387"/>
              <a:ext cx="332" cy="0"/>
            </a:xfrm>
            <a:prstGeom prst="line">
              <a:avLst/>
            </a:prstGeom>
            <a:noFill/>
            <a:ln w="25399">
              <a:solidFill>
                <a:srgbClr val="41414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>
              <a:off x="896" y="2819"/>
              <a:ext cx="332" cy="0"/>
            </a:xfrm>
            <a:prstGeom prst="line">
              <a:avLst/>
            </a:prstGeom>
            <a:noFill/>
            <a:ln w="25399">
              <a:solidFill>
                <a:srgbClr val="41414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39"/>
            <p:cNvSpPr>
              <a:spLocks noChangeShapeType="1"/>
            </p:cNvSpPr>
            <p:nvPr/>
          </p:nvSpPr>
          <p:spPr bwMode="auto">
            <a:xfrm>
              <a:off x="896" y="3443"/>
              <a:ext cx="332" cy="0"/>
            </a:xfrm>
            <a:prstGeom prst="line">
              <a:avLst/>
            </a:prstGeom>
            <a:noFill/>
            <a:ln w="25399">
              <a:solidFill>
                <a:srgbClr val="41414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Rectangle 40"/>
            <p:cNvSpPr>
              <a:spLocks noChangeArrowheads="1"/>
            </p:cNvSpPr>
            <p:nvPr/>
          </p:nvSpPr>
          <p:spPr bwMode="auto">
            <a:xfrm>
              <a:off x="2571" y="1863"/>
              <a:ext cx="15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</p:txBody>
        </p:sp>
        <p:sp>
          <p:nvSpPr>
            <p:cNvPr id="41" name="Rectangle 41"/>
            <p:cNvSpPr>
              <a:spLocks noChangeArrowheads="1"/>
            </p:cNvSpPr>
            <p:nvPr/>
          </p:nvSpPr>
          <p:spPr bwMode="auto">
            <a:xfrm>
              <a:off x="2571" y="2259"/>
              <a:ext cx="15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</p:txBody>
        </p:sp>
        <p:sp>
          <p:nvSpPr>
            <p:cNvPr id="42" name="Rectangle 42"/>
            <p:cNvSpPr>
              <a:spLocks noChangeArrowheads="1"/>
            </p:cNvSpPr>
            <p:nvPr/>
          </p:nvSpPr>
          <p:spPr bwMode="auto">
            <a:xfrm>
              <a:off x="2571" y="2655"/>
              <a:ext cx="15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</p:txBody>
        </p:sp>
        <p:sp>
          <p:nvSpPr>
            <p:cNvPr id="43" name="Rectangle 43"/>
            <p:cNvSpPr>
              <a:spLocks noChangeArrowheads="1"/>
            </p:cNvSpPr>
            <p:nvPr/>
          </p:nvSpPr>
          <p:spPr bwMode="auto">
            <a:xfrm>
              <a:off x="2571" y="3039"/>
              <a:ext cx="15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</p:txBody>
        </p:sp>
        <p:sp>
          <p:nvSpPr>
            <p:cNvPr id="44" name="Rectangle 44"/>
            <p:cNvSpPr>
              <a:spLocks noChangeArrowheads="1"/>
            </p:cNvSpPr>
            <p:nvPr/>
          </p:nvSpPr>
          <p:spPr bwMode="auto">
            <a:xfrm>
              <a:off x="2571" y="3375"/>
              <a:ext cx="15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>
                  <a:solidFill>
                    <a:schemeClr val="bg2"/>
                  </a:solidFill>
                </a:rPr>
                <a:t>.</a:t>
              </a:r>
            </a:p>
          </p:txBody>
        </p:sp>
        <p:sp>
          <p:nvSpPr>
            <p:cNvPr id="45" name="Line 45"/>
            <p:cNvSpPr>
              <a:spLocks noChangeShapeType="1"/>
            </p:cNvSpPr>
            <p:nvPr/>
          </p:nvSpPr>
          <p:spPr bwMode="auto">
            <a:xfrm>
              <a:off x="896" y="3155"/>
              <a:ext cx="332" cy="0"/>
            </a:xfrm>
            <a:prstGeom prst="line">
              <a:avLst/>
            </a:prstGeom>
            <a:noFill/>
            <a:ln w="25399">
              <a:solidFill>
                <a:srgbClr val="41414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804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Two-Way ANOVA</a:t>
            </a:r>
            <a:endParaRPr lang="en-US" dirty="0"/>
          </a:p>
        </p:txBody>
      </p:sp>
      <p:sp>
        <p:nvSpPr>
          <p:cNvPr id="18" name="Text Box 51"/>
          <p:cNvSpPr txBox="1">
            <a:spLocks noGrp="1" noChangeArrowheads="1"/>
          </p:cNvSpPr>
          <p:nvPr>
            <p:ph idx="1"/>
          </p:nvPr>
        </p:nvSpPr>
        <p:spPr bwMode="auto">
          <a:xfrm>
            <a:off x="457200" y="1828800"/>
            <a:ext cx="1847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indent="0">
              <a:buNone/>
            </a:pPr>
            <a:endParaRPr lang="en-GB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4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93889"/>
              </p:ext>
            </p:extLst>
          </p:nvPr>
        </p:nvGraphicFramePr>
        <p:xfrm>
          <a:off x="1372393" y="3780504"/>
          <a:ext cx="3253023" cy="2103439"/>
        </p:xfrm>
        <a:graphic>
          <a:graphicData uri="http://schemas.openxmlformats.org/drawingml/2006/table">
            <a:tbl>
              <a:tblPr/>
              <a:tblGrid>
                <a:gridCol w="1142207"/>
                <a:gridCol w="1025882"/>
                <a:gridCol w="1084934"/>
              </a:tblGrid>
              <a:tr h="700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Level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Level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3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Level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Group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Group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0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Level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Group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Group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Text Box 25"/>
          <p:cNvSpPr txBox="1">
            <a:spLocks noChangeArrowheads="1"/>
          </p:cNvSpPr>
          <p:nvPr/>
        </p:nvSpPr>
        <p:spPr bwMode="auto">
          <a:xfrm>
            <a:off x="1600199" y="2521198"/>
            <a:ext cx="2447925" cy="537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en-GB" sz="2000" b="1" dirty="0" smtClean="0">
                <a:solidFill>
                  <a:srgbClr val="CC3300"/>
                </a:solidFill>
              </a:rPr>
              <a:t>2 </a:t>
            </a:r>
            <a:r>
              <a:rPr lang="en-GB" sz="2000" b="1" dirty="0">
                <a:solidFill>
                  <a:srgbClr val="CC3300"/>
                </a:solidFill>
              </a:rPr>
              <a:t>x 2 </a:t>
            </a:r>
            <a:r>
              <a:rPr lang="en-GB" sz="2000" b="1" dirty="0" smtClean="0">
                <a:solidFill>
                  <a:srgbClr val="CC3300"/>
                </a:solidFill>
              </a:rPr>
              <a:t>ANOVA without replication</a:t>
            </a:r>
            <a:endParaRPr lang="en-GB" sz="2000" b="1" dirty="0">
              <a:solidFill>
                <a:srgbClr val="CC3300"/>
              </a:solidFill>
            </a:endParaRPr>
          </a:p>
        </p:txBody>
      </p:sp>
      <p:graphicFrame>
        <p:nvGraphicFramePr>
          <p:cNvPr id="6" name="Group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726973"/>
              </p:ext>
            </p:extLst>
          </p:nvPr>
        </p:nvGraphicFramePr>
        <p:xfrm>
          <a:off x="5817109" y="3687096"/>
          <a:ext cx="3124200" cy="2103439"/>
        </p:xfrm>
        <a:graphic>
          <a:graphicData uri="http://schemas.openxmlformats.org/drawingml/2006/table">
            <a:tbl>
              <a:tblPr/>
              <a:tblGrid>
                <a:gridCol w="1079504"/>
                <a:gridCol w="1026521"/>
                <a:gridCol w="1018175"/>
              </a:tblGrid>
              <a:tr h="700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Level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Level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3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Level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Subj.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1,2...r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Subj.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1,2...r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0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Level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Subj.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1,2...r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Subj.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1,2...r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49"/>
          <p:cNvSpPr txBox="1">
            <a:spLocks noChangeArrowheads="1"/>
          </p:cNvSpPr>
          <p:nvPr/>
        </p:nvSpPr>
        <p:spPr bwMode="auto">
          <a:xfrm>
            <a:off x="6997700" y="908050"/>
            <a:ext cx="1223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8" name="Text Box 50"/>
          <p:cNvSpPr txBox="1">
            <a:spLocks noChangeArrowheads="1"/>
          </p:cNvSpPr>
          <p:nvPr/>
        </p:nvSpPr>
        <p:spPr bwMode="auto">
          <a:xfrm>
            <a:off x="6629400" y="3200400"/>
            <a:ext cx="12636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b="1" dirty="0"/>
              <a:t>Factor </a:t>
            </a:r>
            <a:r>
              <a:rPr lang="en-GB" b="1" dirty="0" smtClean="0"/>
              <a:t>B</a:t>
            </a:r>
            <a:endParaRPr lang="en-GB" b="1" dirty="0"/>
          </a:p>
        </p:txBody>
      </p:sp>
      <p:sp>
        <p:nvSpPr>
          <p:cNvPr id="9" name="Text Box 51"/>
          <p:cNvSpPr txBox="1">
            <a:spLocks noChangeArrowheads="1"/>
          </p:cNvSpPr>
          <p:nvPr/>
        </p:nvSpPr>
        <p:spPr bwMode="auto">
          <a:xfrm>
            <a:off x="4724400" y="4650943"/>
            <a:ext cx="96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b="1" dirty="0"/>
              <a:t>Factor </a:t>
            </a:r>
            <a:r>
              <a:rPr lang="en-GB" b="1" dirty="0" smtClean="0"/>
              <a:t>A</a:t>
            </a:r>
            <a:endParaRPr lang="en-GB" b="1" dirty="0"/>
          </a:p>
        </p:txBody>
      </p:sp>
      <p:sp>
        <p:nvSpPr>
          <p:cNvPr id="10" name="Text Box 52"/>
          <p:cNvSpPr txBox="1">
            <a:spLocks noChangeArrowheads="1"/>
          </p:cNvSpPr>
          <p:nvPr/>
        </p:nvSpPr>
        <p:spPr bwMode="auto">
          <a:xfrm>
            <a:off x="2520296" y="3200400"/>
            <a:ext cx="9600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b="1" dirty="0"/>
              <a:t>Factor </a:t>
            </a:r>
            <a:r>
              <a:rPr lang="en-GB" b="1" dirty="0" smtClean="0"/>
              <a:t>B</a:t>
            </a:r>
            <a:endParaRPr lang="en-GB" b="1" dirty="0"/>
          </a:p>
        </p:txBody>
      </p:sp>
      <p:sp>
        <p:nvSpPr>
          <p:cNvPr id="19" name="Text Box 51"/>
          <p:cNvSpPr txBox="1">
            <a:spLocks noChangeArrowheads="1"/>
          </p:cNvSpPr>
          <p:nvPr/>
        </p:nvSpPr>
        <p:spPr bwMode="auto">
          <a:xfrm>
            <a:off x="224257" y="4656766"/>
            <a:ext cx="969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b="1" dirty="0"/>
              <a:t>Factor </a:t>
            </a:r>
            <a:r>
              <a:rPr lang="en-GB" b="1" dirty="0" smtClean="0"/>
              <a:t>A</a:t>
            </a:r>
            <a:endParaRPr lang="en-GB" b="1" dirty="0"/>
          </a:p>
        </p:txBody>
      </p:sp>
      <p:sp>
        <p:nvSpPr>
          <p:cNvPr id="21" name="Text Box 26"/>
          <p:cNvSpPr txBox="1">
            <a:spLocks noChangeArrowheads="1"/>
          </p:cNvSpPr>
          <p:nvPr/>
        </p:nvSpPr>
        <p:spPr bwMode="auto">
          <a:xfrm>
            <a:off x="5486400" y="2366682"/>
            <a:ext cx="32766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chemeClr val="hlink"/>
                </a:solidFill>
              </a:rPr>
              <a:t>2 x 2 </a:t>
            </a:r>
            <a:r>
              <a:rPr lang="en-GB" sz="2000" b="1" dirty="0" smtClean="0">
                <a:solidFill>
                  <a:schemeClr val="hlink"/>
                </a:solidFill>
              </a:rPr>
              <a:t>ANOVA with replication</a:t>
            </a:r>
            <a:endParaRPr lang="en-GB" sz="2000" b="1" dirty="0">
              <a:solidFill>
                <a:schemeClr val="hlin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43400" y="6248400"/>
            <a:ext cx="2133600" cy="36933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</a:t>
            </a:r>
            <a:r>
              <a:rPr lang="en-US" dirty="0" smtClean="0"/>
              <a:t>reatment</a:t>
            </a:r>
            <a:endParaRPr lang="en-US" dirty="0"/>
          </a:p>
        </p:txBody>
      </p:sp>
      <p:cxnSp>
        <p:nvCxnSpPr>
          <p:cNvPr id="13" name="Straight Arrow Connector 12"/>
          <p:cNvCxnSpPr>
            <a:stCxn id="11" idx="0"/>
          </p:cNvCxnSpPr>
          <p:nvPr/>
        </p:nvCxnSpPr>
        <p:spPr>
          <a:xfrm flipH="1" flipV="1">
            <a:off x="4343400" y="5715000"/>
            <a:ext cx="1066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486400" y="5440245"/>
            <a:ext cx="1638300" cy="808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53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Two-Way ANOVA</a:t>
            </a:r>
            <a:endParaRPr lang="en-US" dirty="0"/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5400" y="3505200"/>
            <a:ext cx="7499350" cy="2490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66800" y="2286000"/>
            <a:ext cx="723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There are three hypotheses associated with Two-Way </a:t>
            </a:r>
            <a:r>
              <a:rPr lang="en-US" sz="2400" dirty="0" err="1" smtClean="0"/>
              <a:t>Anova</a:t>
            </a:r>
            <a:r>
              <a:rPr lang="en-US" sz="2400" dirty="0" smtClean="0"/>
              <a:t>  </a:t>
            </a:r>
            <a:r>
              <a:rPr lang="en-US" sz="2400" b="1" u="sng" dirty="0" smtClean="0"/>
              <a:t>with replication</a:t>
            </a:r>
            <a:r>
              <a:rPr lang="en-US" sz="2400" dirty="0" smtClean="0"/>
              <a:t>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1448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Two-Way ANOVA</a:t>
            </a:r>
            <a:endParaRPr lang="en-US" dirty="0"/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1857" y="3116997"/>
            <a:ext cx="7499350" cy="2490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43000" y="2286000"/>
            <a:ext cx="716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There are two hypotheses associated with Two-Way </a:t>
            </a:r>
            <a:r>
              <a:rPr lang="en-US" sz="2400" dirty="0" err="1" smtClean="0"/>
              <a:t>Anova</a:t>
            </a:r>
            <a:r>
              <a:rPr lang="en-US" sz="2400" dirty="0" smtClean="0"/>
              <a:t>  </a:t>
            </a:r>
            <a:r>
              <a:rPr lang="en-US" sz="2400" b="1" u="sng" dirty="0" smtClean="0"/>
              <a:t>without replication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251857" y="4849586"/>
            <a:ext cx="5943600" cy="6096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1366157" y="4925786"/>
            <a:ext cx="5715000" cy="4572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58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543800" cy="12954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Two-Way ANOVA </a:t>
            </a:r>
            <a:r>
              <a:rPr lang="en-US" sz="3200" u="sng" dirty="0" smtClean="0"/>
              <a:t>with</a:t>
            </a:r>
            <a:r>
              <a:rPr lang="en-US" sz="3200" dirty="0" smtClean="0"/>
              <a:t> replication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3205999"/>
              </p:ext>
            </p:extLst>
          </p:nvPr>
        </p:nvGraphicFramePr>
        <p:xfrm>
          <a:off x="1066799" y="2209800"/>
          <a:ext cx="7772400" cy="402882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68781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Source</a:t>
                      </a:r>
                      <a:endParaRPr lang="en-US" sz="2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Sum of Squares</a:t>
                      </a:r>
                      <a:endParaRPr lang="en-US" sz="2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df</a:t>
                      </a:r>
                      <a:endParaRPr lang="en-US" sz="2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Mean</a:t>
                      </a:r>
                      <a:r>
                        <a:rPr lang="en-US" sz="2000" baseline="0" dirty="0" smtClean="0"/>
                        <a:t> Square</a:t>
                      </a:r>
                      <a:endParaRPr lang="en-US" sz="2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F</a:t>
                      </a:r>
                      <a:endParaRPr lang="en-US" sz="2000" dirty="0"/>
                    </a:p>
                  </a:txBody>
                  <a:tcPr anchor="ctr" anchorCtr="1"/>
                </a:tc>
              </a:tr>
              <a:tr h="687814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Factor 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SSA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a-1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MSA = SSA/df</a:t>
                      </a:r>
                      <a:r>
                        <a:rPr lang="en-US" sz="2000" baseline="-25000" dirty="0" smtClean="0"/>
                        <a:t>A</a:t>
                      </a:r>
                      <a:endParaRPr lang="en-US" sz="20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MSA/MSE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4525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Factor B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SSB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b-1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MSB = SSB/df</a:t>
                      </a:r>
                      <a:r>
                        <a:rPr lang="en-US" sz="2000" baseline="-25000" dirty="0" smtClean="0"/>
                        <a:t>B</a:t>
                      </a:r>
                      <a:endParaRPr lang="en-US" sz="20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MSB/MSE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87814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Interaction</a:t>
                      </a:r>
                      <a:r>
                        <a:rPr lang="en-US" sz="2000" baseline="0" dirty="0" smtClean="0"/>
                        <a:t> (</a:t>
                      </a:r>
                      <a:r>
                        <a:rPr lang="en-US" sz="2000" dirty="0" smtClean="0"/>
                        <a:t>AB)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SSAB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(a-1)(b-1)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MSAB = SSAB/df</a:t>
                      </a:r>
                      <a:r>
                        <a:rPr lang="en-US" sz="2000" baseline="-25000" dirty="0" smtClean="0"/>
                        <a:t>AB</a:t>
                      </a:r>
                      <a:endParaRPr lang="en-US" sz="20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MSAB/MSE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1477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Error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SSE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/>
                        <a:t>ab</a:t>
                      </a:r>
                      <a:r>
                        <a:rPr lang="en-US" sz="2000" dirty="0" smtClean="0"/>
                        <a:t>(r-1)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MSE = SSE/df</a:t>
                      </a:r>
                      <a:r>
                        <a:rPr lang="en-US" sz="2000" baseline="-25000" dirty="0" smtClean="0"/>
                        <a:t>E</a:t>
                      </a:r>
                      <a:endParaRPr lang="en-US" sz="20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</a:tr>
              <a:tr h="523624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Total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TSS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abr-1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21186" y="6368534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dirty="0" smtClean="0"/>
              <a:t> - replications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95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Two-Way ANOVA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43000" y="2209800"/>
            <a:ext cx="7408333" cy="3916363"/>
          </a:xfrm>
        </p:spPr>
        <p:txBody>
          <a:bodyPr>
            <a:normAutofit fontScale="92500"/>
          </a:bodyPr>
          <a:lstStyle/>
          <a:p>
            <a:pPr marL="82296" indent="0" algn="ctr">
              <a:buNone/>
            </a:pPr>
            <a:r>
              <a:rPr lang="en-US" sz="3000" b="1" dirty="0" smtClean="0"/>
              <a:t>Making conclusions based on test results.</a:t>
            </a:r>
          </a:p>
          <a:p>
            <a:pPr marL="82296" indent="0">
              <a:buNone/>
            </a:pPr>
            <a:r>
              <a:rPr lang="en-US" sz="3000" dirty="0" smtClean="0"/>
              <a:t>Start from interaction effect:</a:t>
            </a:r>
          </a:p>
          <a:p>
            <a:pPr marL="82296" indent="0">
              <a:buNone/>
            </a:pPr>
            <a:r>
              <a:rPr lang="en-US" sz="3000" dirty="0" smtClean="0"/>
              <a:t>1.  If there is significant interaction, do not make conclusions on main effects. Because some part of significance of Factor A might be due to dependence on Factor B.</a:t>
            </a:r>
          </a:p>
          <a:p>
            <a:pPr marL="82296" indent="0">
              <a:buNone/>
            </a:pPr>
            <a:r>
              <a:rPr lang="en-US" sz="3000" dirty="0" smtClean="0"/>
              <a:t>2. If there is no interaction, then one can make conclusions on main effects.</a:t>
            </a:r>
            <a:endParaRPr lang="en-US" sz="3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pPr/>
              <a:t>15</a:t>
            </a:fld>
            <a:r>
              <a:rPr lang="en-US" smtClean="0"/>
              <a:t> of 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23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3200" dirty="0"/>
              <a:t>Two-Way </a:t>
            </a:r>
            <a:r>
              <a:rPr lang="en-US" sz="3200" dirty="0" smtClean="0"/>
              <a:t>ANOVA </a:t>
            </a:r>
            <a:r>
              <a:rPr lang="en-US" sz="3200" u="sng" dirty="0" smtClean="0"/>
              <a:t>without</a:t>
            </a:r>
            <a:r>
              <a:rPr lang="en-US" sz="3200" dirty="0" smtClean="0"/>
              <a:t> </a:t>
            </a:r>
            <a:r>
              <a:rPr lang="en-US" sz="3200" dirty="0"/>
              <a:t>replication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857060"/>
              </p:ext>
            </p:extLst>
          </p:nvPr>
        </p:nvGraphicFramePr>
        <p:xfrm>
          <a:off x="1219200" y="2057400"/>
          <a:ext cx="7696199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866"/>
                <a:gridCol w="1672626"/>
                <a:gridCol w="1508540"/>
                <a:gridCol w="1572058"/>
                <a:gridCol w="1609109"/>
              </a:tblGrid>
              <a:tr h="9971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Source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Sum of Squares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df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Mean Square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F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</a:tr>
              <a:tr h="7554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>
                          <a:effectLst/>
                        </a:rPr>
                        <a:t>Factor 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SSA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a-1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MSA = </a:t>
                      </a:r>
                      <a:r>
                        <a:rPr lang="en-US" sz="2000" u="none" strike="noStrike" dirty="0" smtClean="0">
                          <a:effectLst/>
                        </a:rPr>
                        <a:t>SSA/df</a:t>
                      </a:r>
                      <a:r>
                        <a:rPr lang="en-US" sz="2000" u="none" strike="noStrike" baseline="-25000" dirty="0" smtClean="0">
                          <a:effectLst/>
                        </a:rPr>
                        <a:t>A</a:t>
                      </a:r>
                      <a:endParaRPr lang="en-US" sz="20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MSA/MSE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</a:tr>
              <a:tr h="685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>
                          <a:effectLst/>
                        </a:rPr>
                        <a:t>Factor 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SSB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b-1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MSB = </a:t>
                      </a:r>
                      <a:r>
                        <a:rPr lang="en-US" sz="2000" u="none" strike="noStrike" dirty="0" smtClean="0">
                          <a:effectLst/>
                        </a:rPr>
                        <a:t>SSB/df</a:t>
                      </a:r>
                      <a:r>
                        <a:rPr lang="en-US" sz="2000" u="none" strike="noStrike" baseline="-25000" dirty="0" smtClean="0">
                          <a:effectLst/>
                        </a:rPr>
                        <a:t>B</a:t>
                      </a:r>
                      <a:endParaRPr lang="en-US" sz="20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MSB/MSE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</a:tr>
              <a:tr h="65602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>
                          <a:effectLst/>
                        </a:rPr>
                        <a:t>Error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SSE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(a-1)(b-1)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effectLst/>
                        </a:rPr>
                        <a:t>MSE = </a:t>
                      </a:r>
                      <a:r>
                        <a:rPr lang="en-US" sz="2000" u="none" strike="noStrike" dirty="0" smtClean="0">
                          <a:effectLst/>
                        </a:rPr>
                        <a:t>SSE/df</a:t>
                      </a:r>
                      <a:r>
                        <a:rPr lang="en-US" sz="2000" u="none" strike="noStrike" baseline="-25000" dirty="0" smtClean="0">
                          <a:effectLst/>
                        </a:rPr>
                        <a:t>E</a:t>
                      </a:r>
                      <a:endParaRPr lang="en-US" sz="20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/>
                </a:tc>
              </a:tr>
              <a:tr h="63937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>
                          <a:effectLst/>
                        </a:rPr>
                        <a:t>Total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TSS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ab-1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ndar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pPr/>
              <a:t>16</a:t>
            </a:fld>
            <a:r>
              <a:rPr lang="en-US" smtClean="0"/>
              <a:t> of 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05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133600"/>
            <a:ext cx="7498080" cy="4364738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The Effect of a Limited Time Offer on Purchase </a:t>
            </a:r>
            <a:r>
              <a:rPr lang="en-US" sz="2000" b="1" dirty="0" smtClean="0"/>
              <a:t>Intent</a:t>
            </a:r>
          </a:p>
          <a:p>
            <a:pPr marL="82296" indent="0">
              <a:buNone/>
            </a:pPr>
            <a:r>
              <a:rPr lang="en-US" sz="2000" dirty="0" smtClean="0"/>
              <a:t> </a:t>
            </a:r>
            <a:r>
              <a:rPr lang="en-US" sz="2000" dirty="0"/>
              <a:t>Starbucks’ Pumpkin Spice Latte (PSL) is the company’s most popular seasonal item. Why is this? Is it the unique flavor? Or could it be because it is available for only a limited time each year? To investigate this, some students surveyed </a:t>
            </a:r>
            <a:r>
              <a:rPr lang="en-US" sz="2000" dirty="0" smtClean="0"/>
              <a:t>12 </a:t>
            </a:r>
            <a:r>
              <a:rPr lang="en-US" sz="2000" dirty="0"/>
              <a:t>Starbucks consumers about their intent to purchase a PSL when it is offered in the fall. </a:t>
            </a:r>
            <a:r>
              <a:rPr lang="en-US" sz="2000" dirty="0" smtClean="0"/>
              <a:t> </a:t>
            </a:r>
            <a:r>
              <a:rPr lang="en-US" sz="2000" dirty="0"/>
              <a:t>Half of the surveys included the upcoming PSL advertisement. The other half included the same advertisement with the additional words “Limited Time Offer” above the image of the drink</a:t>
            </a:r>
            <a:r>
              <a:rPr lang="en-US" sz="2000" dirty="0" smtClean="0"/>
              <a:t>.</a:t>
            </a:r>
          </a:p>
          <a:p>
            <a:pPr marL="82296" indent="0">
              <a:buNone/>
            </a:pPr>
            <a:r>
              <a:rPr lang="en-US" sz="2000" dirty="0"/>
              <a:t>Because purchase intent may depend on how frequently a consumer visits Starbucks, the students included a survey question about this. The question was used to classify each customer as either a “light” or “heavy” consumer of Starbucks. The students then analyzed these data using a two-way ANOVA.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pPr/>
              <a:t>17</a:t>
            </a:fld>
            <a:r>
              <a:rPr lang="en-US" smtClean="0"/>
              <a:t> of 14</a:t>
            </a:r>
            <a:endParaRPr lang="en-US" dirty="0"/>
          </a:p>
        </p:txBody>
      </p:sp>
      <p:pic>
        <p:nvPicPr>
          <p:cNvPr id="6" name="Content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-3048"/>
            <a:ext cx="1886096" cy="1981200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-3048"/>
            <a:ext cx="1863417" cy="1981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0301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76200"/>
            <a:ext cx="7498080" cy="71596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Table. Purchase Intent Study</a:t>
            </a:r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801336"/>
              </p:ext>
            </p:extLst>
          </p:nvPr>
        </p:nvGraphicFramePr>
        <p:xfrm>
          <a:off x="2266950" y="2209800"/>
          <a:ext cx="51435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752600"/>
                <a:gridCol w="1447800"/>
              </a:tblGrid>
              <a:tr h="592483">
                <a:tc>
                  <a:txBody>
                    <a:bodyPr/>
                    <a:lstStyle/>
                    <a:p>
                      <a:pPr marL="0" algn="l" rtl="0" eaLnBrk="1" latinLnBrk="0" hangingPunct="1"/>
                      <a:endParaRPr kumimoji="0" lang="en-US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Consumer Status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91231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/>
                        <a:t>Advertisement</a:t>
                      </a:r>
                      <a:endParaRPr lang="en-US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Light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Heavy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92686"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Regular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</a:tr>
              <a:tr h="3810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</a:tr>
              <a:tr h="304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</a:tr>
              <a:tr h="396240"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Added wording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</a:tr>
              <a:tr h="36576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810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pPr/>
              <a:t>18</a:t>
            </a:fld>
            <a:r>
              <a:rPr lang="en-US" smtClean="0"/>
              <a:t> of 14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49853"/>
              </p:ext>
            </p:extLst>
          </p:nvPr>
        </p:nvGraphicFramePr>
        <p:xfrm>
          <a:off x="457200" y="1600200"/>
          <a:ext cx="8610600" cy="407670"/>
        </p:xfrm>
        <a:graphic>
          <a:graphicData uri="http://schemas.openxmlformats.org/drawingml/2006/table">
            <a:tbl>
              <a:tblPr/>
              <a:tblGrid>
                <a:gridCol w="8610600"/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Very Unlikely        1          2          3          4            5           6          7       Very Likely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66675" marB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066800" y="818675"/>
            <a:ext cx="754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Based on the given promotion, how likely are you to purchase the Pumpkin Spice Latte in the near future?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108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 lnSpcReduction="10000"/>
          </a:bodyPr>
          <a:lstStyle/>
          <a:p>
            <a:r>
              <a:rPr lang="en-US" sz="2400" b="1" i="1" dirty="0"/>
              <a:t>Hypotheses: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1) Factor A </a:t>
            </a:r>
            <a:r>
              <a:rPr lang="en-US" sz="2400" dirty="0" smtClean="0">
                <a:solidFill>
                  <a:srgbClr val="00B050"/>
                </a:solidFill>
              </a:rPr>
              <a:t>(Advertisement)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400" dirty="0"/>
              <a:t>H</a:t>
            </a:r>
            <a:r>
              <a:rPr lang="en-US" sz="2400" baseline="-25000" dirty="0"/>
              <a:t>0</a:t>
            </a:r>
            <a:r>
              <a:rPr lang="en-US" sz="2400" dirty="0"/>
              <a:t>: </a:t>
            </a:r>
            <a:r>
              <a:rPr lang="en-US" sz="2400" dirty="0" smtClean="0"/>
              <a:t> Advertisement type has no effect on purchase intent.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Ha</a:t>
            </a:r>
            <a:r>
              <a:rPr lang="en-US" sz="2400" dirty="0" smtClean="0"/>
              <a:t>: </a:t>
            </a:r>
            <a:r>
              <a:rPr lang="en-US" sz="2400" dirty="0"/>
              <a:t>Advertisement type has </a:t>
            </a:r>
            <a:r>
              <a:rPr lang="en-US" sz="2400" dirty="0" smtClean="0"/>
              <a:t>significant </a:t>
            </a:r>
            <a:r>
              <a:rPr lang="en-US" sz="2400" dirty="0"/>
              <a:t>effect on purchase intent</a:t>
            </a:r>
            <a:r>
              <a:rPr lang="en-US" sz="2400" dirty="0" smtClean="0"/>
              <a:t>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2) Factor B </a:t>
            </a:r>
            <a:r>
              <a:rPr lang="en-US" sz="24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(Consumer Status)</a:t>
            </a:r>
            <a:endParaRPr lang="en-US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/>
              <a:t>H</a:t>
            </a:r>
            <a:r>
              <a:rPr lang="en-US" sz="2400" baseline="-25000" dirty="0"/>
              <a:t>0</a:t>
            </a:r>
            <a:r>
              <a:rPr lang="en-US" sz="2400" dirty="0"/>
              <a:t>: </a:t>
            </a:r>
            <a:r>
              <a:rPr lang="en-US" sz="2400" dirty="0" smtClean="0"/>
              <a:t>Consumer status has no effect on purchase intent.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Ha: </a:t>
            </a:r>
            <a:r>
              <a:rPr lang="en-US" sz="2400" dirty="0" smtClean="0"/>
              <a:t>Consumer status has significant effect on purchase intent.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3">
                    <a:lumMod val="75000"/>
                  </a:schemeClr>
                </a:solidFill>
              </a:rPr>
              <a:t>3) 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Factor AB (Interaction)</a:t>
            </a:r>
          </a:p>
          <a:p>
            <a:pPr marL="0" indent="0">
              <a:buNone/>
            </a:pPr>
            <a:r>
              <a:rPr lang="en-US" sz="2400" dirty="0"/>
              <a:t>H</a:t>
            </a:r>
            <a:r>
              <a:rPr lang="en-US" sz="2400" baseline="-25000" dirty="0"/>
              <a:t>0</a:t>
            </a:r>
            <a:r>
              <a:rPr lang="en-US" sz="2400" dirty="0"/>
              <a:t>: There is no interaction between </a:t>
            </a:r>
            <a:r>
              <a:rPr lang="en-US" sz="2400" dirty="0" smtClean="0"/>
              <a:t>Advertisement </a:t>
            </a:r>
            <a:r>
              <a:rPr lang="en-US" sz="2400" dirty="0"/>
              <a:t>and </a:t>
            </a:r>
            <a:r>
              <a:rPr lang="en-US" sz="2400" dirty="0" smtClean="0"/>
              <a:t>Consumer Status.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Ha: There </a:t>
            </a:r>
            <a:r>
              <a:rPr lang="en-US" sz="2400" u="sng" dirty="0"/>
              <a:t>is</a:t>
            </a:r>
            <a:r>
              <a:rPr lang="en-US" sz="2400" dirty="0"/>
              <a:t> an interaction between Advertisement and Consumer Status.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pPr/>
              <a:t>19</a:t>
            </a:fld>
            <a:r>
              <a:rPr lang="en-US" smtClean="0"/>
              <a:t> of 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80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pPr/>
              <a:t>20</a:t>
            </a:fld>
            <a:r>
              <a:rPr lang="en-US" smtClean="0"/>
              <a:t> of 14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690" y="1295400"/>
            <a:ext cx="7970737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9498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Output (</a:t>
            </a:r>
            <a:r>
              <a:rPr lang="el-GR" dirty="0" smtClean="0">
                <a:latin typeface="Times New Roman"/>
                <a:cs typeface="Times New Roman"/>
              </a:rPr>
              <a:t>α</a:t>
            </a:r>
            <a:r>
              <a:rPr lang="en-US" dirty="0" smtClean="0">
                <a:latin typeface="Times New Roman"/>
                <a:cs typeface="Times New Roman"/>
              </a:rPr>
              <a:t> = 0.05)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pPr/>
              <a:t>21</a:t>
            </a:fld>
            <a:r>
              <a:rPr lang="en-US" smtClean="0"/>
              <a:t> of 14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1399244"/>
              </p:ext>
            </p:extLst>
          </p:nvPr>
        </p:nvGraphicFramePr>
        <p:xfrm>
          <a:off x="1066802" y="1828798"/>
          <a:ext cx="7772399" cy="41578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598"/>
                <a:gridCol w="932291"/>
                <a:gridCol w="865102"/>
                <a:gridCol w="865102"/>
                <a:gridCol w="865102"/>
                <a:gridCol w="865102"/>
                <a:gridCol w="865102"/>
              </a:tblGrid>
              <a:tr h="60802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ANOVA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57907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Source of Variation</a:t>
                      </a:r>
                      <a:endParaRPr lang="en-US" sz="18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SS</a:t>
                      </a:r>
                      <a:endParaRPr lang="en-US" sz="18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df</a:t>
                      </a:r>
                      <a:endParaRPr lang="en-US" sz="18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MS</a:t>
                      </a:r>
                      <a:endParaRPr lang="en-US" sz="18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F</a:t>
                      </a:r>
                      <a:endParaRPr lang="en-US" sz="18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P-value</a:t>
                      </a:r>
                      <a:endParaRPr lang="en-US" sz="18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F crit</a:t>
                      </a:r>
                      <a:endParaRPr lang="en-US" sz="18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60231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 smtClean="0">
                          <a:effectLst/>
                        </a:rPr>
                        <a:t>Sample (Advertisement)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smtClean="0">
                          <a:effectLst/>
                        </a:rPr>
                        <a:t>0.040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smtClean="0">
                          <a:effectLst/>
                        </a:rPr>
                        <a:t>5.318</a:t>
                      </a:r>
                    </a:p>
                  </a:txBody>
                  <a:tcPr marL="9525" marR="9525" marT="9525" marB="0" anchor="b"/>
                </a:tc>
              </a:tr>
              <a:tr h="60231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 smtClean="0">
                          <a:effectLst/>
                        </a:rPr>
                        <a:t>Columns (Con.  Status)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smtClean="0">
                          <a:effectLst/>
                        </a:rPr>
                        <a:t>1.333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smtClean="0">
                          <a:effectLst/>
                        </a:rPr>
                        <a:t>1.333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smtClean="0">
                          <a:effectLst/>
                        </a:rPr>
                        <a:t>2.667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smtClean="0">
                          <a:effectLst/>
                        </a:rPr>
                        <a:t>0.141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smtClean="0">
                          <a:effectLst/>
                        </a:rPr>
                        <a:t>5.318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57907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Interaction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smtClean="0">
                          <a:effectLst/>
                        </a:rPr>
                        <a:t>0.333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smtClean="0">
                          <a:effectLst/>
                        </a:rPr>
                        <a:t>0.333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smtClean="0">
                          <a:effectLst/>
                        </a:rPr>
                        <a:t>0.667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smtClean="0">
                          <a:effectLst/>
                        </a:rPr>
                        <a:t>0.439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smtClean="0">
                          <a:effectLst/>
                        </a:rPr>
                        <a:t>5.318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57907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Within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0.5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60802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Total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 smtClean="0">
                          <a:effectLst/>
                        </a:rPr>
                        <a:t>8.667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785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Two-Way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i="1" dirty="0" smtClean="0"/>
              <a:t>Conclusions.</a:t>
            </a:r>
          </a:p>
          <a:p>
            <a:r>
              <a:rPr lang="en-US" sz="2400" dirty="0" smtClean="0"/>
              <a:t>Based on test results from Excel, we conclude with 95% confidence (</a:t>
            </a:r>
            <a:r>
              <a:rPr lang="el-GR" sz="2400" dirty="0" smtClean="0"/>
              <a:t>α</a:t>
            </a:r>
            <a:r>
              <a:rPr lang="en-US" sz="2400" dirty="0" smtClean="0"/>
              <a:t> = 0.05) that:</a:t>
            </a:r>
          </a:p>
          <a:p>
            <a:r>
              <a:rPr lang="en-US" sz="2400" dirty="0" smtClean="0"/>
              <a:t>There is no interaction between Advertisement and Consumer Status, which means effect of Advertisement does not vary by levels of Consumer status. </a:t>
            </a:r>
          </a:p>
          <a:p>
            <a:r>
              <a:rPr lang="en-US" sz="2400" dirty="0"/>
              <a:t>Advertisement type has significant effect on purchase intent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Consumer status has no effect on purchase intent.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371-AD88-44E1-A76C-F379E3CE2A3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5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746</TotalTime>
  <Words>1135</Words>
  <Application>Microsoft Office PowerPoint</Application>
  <PresentationFormat>On-screen Show (4:3)</PresentationFormat>
  <Paragraphs>268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Solstice</vt:lpstr>
      <vt:lpstr>Week 17:  Two-Way ANOVA</vt:lpstr>
      <vt:lpstr>Learning Objectives of this topic</vt:lpstr>
      <vt:lpstr>Two-Way ANOVA</vt:lpstr>
      <vt:lpstr>Few publications using Two-way ANOVA</vt:lpstr>
      <vt:lpstr>Logic of Two-Way ANOVA</vt:lpstr>
      <vt:lpstr>Two-Way ANOVA</vt:lpstr>
      <vt:lpstr>Assumptions for Two-Way ANOVA</vt:lpstr>
      <vt:lpstr>Two-Way ANOVA</vt:lpstr>
      <vt:lpstr>PowerPoint Presentation</vt:lpstr>
      <vt:lpstr>Two-Way ANOVA</vt:lpstr>
      <vt:lpstr>Two-Way ANOVA</vt:lpstr>
      <vt:lpstr>Two-Way ANOVA</vt:lpstr>
      <vt:lpstr>Two-Way ANOVA</vt:lpstr>
      <vt:lpstr>Two-Way ANOVA with replication</vt:lpstr>
      <vt:lpstr>Two-Way ANOVA</vt:lpstr>
      <vt:lpstr>Two-Way ANOVA without replication</vt:lpstr>
      <vt:lpstr>PowerPoint Presentation</vt:lpstr>
      <vt:lpstr>Table. Purchase Intent Study</vt:lpstr>
      <vt:lpstr>PowerPoint Presentation</vt:lpstr>
      <vt:lpstr>PowerPoint Presentation</vt:lpstr>
      <vt:lpstr>Excel Output (α = 0.05)</vt:lpstr>
      <vt:lpstr>Two-Way ANOVA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Two-Way ANOVA</dc:title>
  <dc:creator>Olmas Isakov</dc:creator>
  <cp:lastModifiedBy>Olmas Isakov</cp:lastModifiedBy>
  <cp:revision>59</cp:revision>
  <dcterms:created xsi:type="dcterms:W3CDTF">2019-01-21T09:24:13Z</dcterms:created>
  <dcterms:modified xsi:type="dcterms:W3CDTF">2020-02-07T07:51:23Z</dcterms:modified>
</cp:coreProperties>
</file>