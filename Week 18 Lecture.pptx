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71" r:id="rId2"/>
    <p:sldId id="272" r:id="rId3"/>
    <p:sldId id="256" r:id="rId4"/>
    <p:sldId id="257" r:id="rId5"/>
    <p:sldId id="259" r:id="rId6"/>
    <p:sldId id="274" r:id="rId7"/>
    <p:sldId id="275" r:id="rId8"/>
    <p:sldId id="260" r:id="rId9"/>
    <p:sldId id="261" r:id="rId10"/>
    <p:sldId id="262" r:id="rId11"/>
    <p:sldId id="264" r:id="rId12"/>
    <p:sldId id="265" r:id="rId13"/>
    <p:sldId id="266" r:id="rId14"/>
    <p:sldId id="273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1"/>
    <p:restoredTop sz="94696"/>
  </p:normalViewPr>
  <p:slideViewPr>
    <p:cSldViewPr snapToGrid="0" snapToObjects="1">
      <p:cViewPr varScale="1">
        <p:scale>
          <a:sx n="65" d="100"/>
          <a:sy n="65" d="100"/>
        </p:scale>
        <p:origin x="-72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 dirty="0"/>
              <a:t>Example of Functional Relation:  Y </a:t>
            </a:r>
            <a:r>
              <a:rPr lang="en-US" dirty="0" smtClean="0"/>
              <a:t> = 2X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36891851549304"/>
          <c:y val="0.17228356962760799"/>
          <c:w val="0.81879431642379796"/>
          <c:h val="0.62187338372858603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50</c:v>
                </c:pt>
                <c:pt idx="1">
                  <c:v>75</c:v>
                </c:pt>
                <c:pt idx="2">
                  <c:v>100</c:v>
                </c:pt>
                <c:pt idx="3">
                  <c:v>150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300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7802880"/>
        <c:axId val="77803456"/>
      </c:scatterChart>
      <c:valAx>
        <c:axId val="77802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 sz="1400" dirty="0"/>
                  <a:t>Units Sold</a:t>
                </a:r>
              </a:p>
            </c:rich>
          </c:tx>
          <c:layout>
            <c:manualLayout>
              <c:xMode val="edge"/>
              <c:yMode val="edge"/>
              <c:x val="0.48826629405166799"/>
              <c:y val="0.88195932398406596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77803456"/>
        <c:crosses val="autoZero"/>
        <c:crossBetween val="midCat"/>
      </c:valAx>
      <c:valAx>
        <c:axId val="77803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Dollar Sales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77802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8E040-81E0-064D-BB4D-EE2CCB465265}" type="datetimeFigureOut">
              <a:rPr lang="en-US" smtClean="0"/>
              <a:t>2/14/2020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5D5D3-3F9D-FA4B-A8B6-93B51E8C0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54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D7CD08E-E32C-48E6-9170-87FCCD194831}" type="datetime1">
              <a:rPr lang="en-US" smtClean="0"/>
              <a:t>2/14/2020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04581D7-6F82-47B9-87CF-FECA9C18AC15}" type="datetime1">
              <a:rPr lang="en-US" smtClean="0"/>
              <a:t>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extLst/>
          </a:lstStyle>
          <a:p>
            <a:fld id="{6C06D09E-813C-9342-A936-A0F7564955C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F06DF26-A977-4408-827E-8BAA4D1852BD}" type="datetime1">
              <a:rPr lang="en-US" smtClean="0"/>
              <a:t>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8EEED8-7681-431C-A4DF-1028C43FA25E}" type="datetime1">
              <a:rPr lang="en-US" smtClean="0"/>
              <a:t>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D08FB6-CDB9-4748-88EF-385BDA4AFBA1}" type="datetime1">
              <a:rPr lang="en-US" smtClean="0"/>
              <a:t>2/14/2020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104ED54-9583-4391-8ED3-1591A15DD3BB}" type="datetime1">
              <a:rPr lang="en-US" smtClean="0"/>
              <a:t>2/14/2020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29EB25-E3C4-4F47-BB04-4226AA63EC24}" type="datetime1">
              <a:rPr lang="en-US" smtClean="0"/>
              <a:t>2/14/2020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778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06964"/>
            <a:ext cx="508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F20F8DA-A5FE-4EF5-8FA2-970E179B5AFF}" type="datetime1">
              <a:rPr lang="en-US" smtClean="0"/>
              <a:t>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5BE0112-60BE-49B3-A5D2-471C78545EEF}" type="datetime1">
              <a:rPr lang="en-US" smtClean="0"/>
              <a:t>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9B48BD-0791-4B90-BF4C-37E5BE4760BB}" type="datetime1">
              <a:rPr lang="en-US" smtClean="0"/>
              <a:t>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B92958-9E96-406B-B58D-8041ADD1C3EF}" type="datetime1">
              <a:rPr lang="en-US" smtClean="0"/>
              <a:t>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52EED85-6083-4636-89BD-DBE04ACABABC}" type="datetime1">
              <a:rPr lang="en-US" smtClean="0"/>
              <a:t>2/14/2020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6C06D09E-813C-9342-A936-A0F7564955C1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Week 18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ctr">
              <a:buNone/>
            </a:pPr>
            <a:r>
              <a:rPr lang="en-US" sz="4000" dirty="0" smtClean="0"/>
              <a:t>Simple Linear Regression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948" y="2898203"/>
            <a:ext cx="4468762" cy="3347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509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7282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4144" y="1283110"/>
            <a:ext cx="9997440" cy="4965290"/>
          </a:xfrm>
        </p:spPr>
        <p:txBody>
          <a:bodyPr/>
          <a:lstStyle/>
          <a:p>
            <a:r>
              <a:rPr lang="en-US" dirty="0" smtClean="0"/>
              <a:t>Distinguish between </a:t>
            </a:r>
            <a:r>
              <a:rPr lang="en-US" dirty="0" smtClean="0"/>
              <a:t>deterministic </a:t>
            </a:r>
            <a:r>
              <a:rPr lang="en-US" dirty="0" smtClean="0"/>
              <a:t>and </a:t>
            </a:r>
            <a:r>
              <a:rPr lang="en-US" dirty="0" smtClean="0"/>
              <a:t>probabilistic relations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Understand the </a:t>
            </a:r>
            <a:r>
              <a:rPr lang="en-US" dirty="0" smtClean="0"/>
              <a:t>concepts </a:t>
            </a:r>
            <a:r>
              <a:rPr lang="en-US" dirty="0" smtClean="0"/>
              <a:t>of </a:t>
            </a:r>
            <a:r>
              <a:rPr lang="en-US" dirty="0" smtClean="0"/>
              <a:t>correlation and regression.</a:t>
            </a:r>
            <a:endParaRPr lang="en-US" dirty="0" smtClean="0"/>
          </a:p>
          <a:p>
            <a:r>
              <a:rPr lang="en-US" dirty="0" smtClean="0"/>
              <a:t>Be able to fit a simple linear model.</a:t>
            </a:r>
          </a:p>
          <a:p>
            <a:r>
              <a:rPr lang="en-US" dirty="0" smtClean="0"/>
              <a:t>Understand the method of least squares.</a:t>
            </a:r>
          </a:p>
          <a:p>
            <a:r>
              <a:rPr lang="en-US" dirty="0" smtClean="0"/>
              <a:t>Interpret regression coefficients.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1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6204" y="855406"/>
            <a:ext cx="9494751" cy="5135567"/>
          </a:xfrm>
        </p:spPr>
        <p:txBody>
          <a:bodyPr>
            <a:normAutofit/>
          </a:bodyPr>
          <a:lstStyle/>
          <a:p>
            <a:pPr marL="0" algn="ctr"/>
            <a:r>
              <a:rPr lang="en-US" b="1" dirty="0" smtClean="0"/>
              <a:t>Deterministic (Functional) Relationship</a:t>
            </a:r>
          </a:p>
          <a:p>
            <a:pPr marL="0" algn="l"/>
            <a:r>
              <a:rPr lang="en-US" sz="2200" dirty="0" smtClean="0"/>
              <a:t>A </a:t>
            </a:r>
            <a:r>
              <a:rPr lang="en-US" sz="2200" dirty="0"/>
              <a:t>functional relation between two variables is expressed by a mathematical formula. If </a:t>
            </a:r>
            <a:r>
              <a:rPr lang="en-US" sz="2200" dirty="0" smtClean="0"/>
              <a:t>X denotes </a:t>
            </a:r>
            <a:r>
              <a:rPr lang="en-US" sz="2200" dirty="0"/>
              <a:t>the independent variable and Y the dependent variable, a functional relation </a:t>
            </a:r>
            <a:r>
              <a:rPr lang="en-US" sz="2200" dirty="0" smtClean="0"/>
              <a:t>is of the form:   Y = f(X)</a:t>
            </a:r>
          </a:p>
          <a:p>
            <a:pPr marL="342900" indent="-342900" algn="l">
              <a:buFont typeface="Arial" charset="0"/>
              <a:buChar char="•"/>
            </a:pPr>
            <a:endParaRPr lang="en-US" dirty="0"/>
          </a:p>
          <a:p>
            <a:pPr marL="342900" indent="-342900" algn="l">
              <a:buFont typeface="Arial" charset="0"/>
              <a:buChar char="•"/>
            </a:pPr>
            <a:endParaRPr lang="en-US" dirty="0" smtClean="0"/>
          </a:p>
          <a:p>
            <a:pPr marL="342900" indent="-342900" algn="l">
              <a:buFont typeface="Arial" charset="0"/>
              <a:buChar char="•"/>
            </a:pPr>
            <a:endParaRPr lang="en-US" dirty="0"/>
          </a:p>
          <a:p>
            <a:pPr marL="342900" indent="-342900" algn="l">
              <a:buFont typeface="Arial" charset="0"/>
              <a:buChar char="•"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962019"/>
              </p:ext>
            </p:extLst>
          </p:nvPr>
        </p:nvGraphicFramePr>
        <p:xfrm>
          <a:off x="3633913" y="2618506"/>
          <a:ext cx="6414655" cy="3879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070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436" y="503854"/>
            <a:ext cx="9871364" cy="6132474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dirty="0" smtClean="0"/>
              <a:t>Probabilistic (Statistical) Relationship </a:t>
            </a:r>
          </a:p>
          <a:p>
            <a:pPr marL="0" indent="0" algn="just">
              <a:buNone/>
            </a:pPr>
            <a:r>
              <a:rPr lang="en-US" sz="2400" dirty="0" smtClean="0"/>
              <a:t>A probabilistic relationship, </a:t>
            </a:r>
            <a:r>
              <a:rPr lang="en-US" sz="2400" dirty="0"/>
              <a:t>unlike a </a:t>
            </a:r>
            <a:r>
              <a:rPr lang="en-US" sz="2400" dirty="0" smtClean="0"/>
              <a:t>deterministic one, </a:t>
            </a:r>
            <a:r>
              <a:rPr lang="en-US" sz="2400" dirty="0"/>
              <a:t>is not a perfect one. In general, the observations for a </a:t>
            </a:r>
            <a:r>
              <a:rPr lang="en-US" sz="2400" dirty="0"/>
              <a:t>probabilistic </a:t>
            </a:r>
            <a:r>
              <a:rPr lang="en-US" sz="2400" dirty="0"/>
              <a:t>relation do not fall directly on-the curve of relationship.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02628" y="1966239"/>
            <a:ext cx="6419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Probabilistic = Deterministic + </a:t>
            </a:r>
            <a:r>
              <a:rPr lang="en-US" sz="2000" b="1" dirty="0"/>
              <a:t>R</a:t>
            </a:r>
            <a:r>
              <a:rPr lang="en-US" sz="2000" b="1" dirty="0" smtClean="0"/>
              <a:t>andom Error</a:t>
            </a:r>
            <a:endParaRPr lang="en-US" sz="20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250" y="2501739"/>
            <a:ext cx="7041697" cy="4232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 flipH="1">
            <a:off x="6587412" y="2366349"/>
            <a:ext cx="360686" cy="1757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Brace 22"/>
          <p:cNvSpPr/>
          <p:nvPr/>
        </p:nvSpPr>
        <p:spPr>
          <a:xfrm>
            <a:off x="6948098" y="4030826"/>
            <a:ext cx="311118" cy="6344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7259216" y="2366349"/>
            <a:ext cx="2668555" cy="20190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948098" y="4030826"/>
            <a:ext cx="0" cy="58732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23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308" y="1385455"/>
            <a:ext cx="9954491" cy="4791508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 smtClean="0"/>
              <a:t>The correlation measures the direction and strength of the linear relationship between two quantitative variables. It is usually written as r.</a:t>
            </a:r>
          </a:p>
          <a:p>
            <a:pPr marL="0" indent="0">
              <a:buNone/>
            </a:pPr>
            <a:r>
              <a:rPr lang="en-US" sz="2200" dirty="0" smtClean="0"/>
              <a:t>Excel function to calculate correlation:  “=</a:t>
            </a:r>
            <a:r>
              <a:rPr lang="en-US" sz="2200" dirty="0" err="1" smtClean="0"/>
              <a:t>correl</a:t>
            </a:r>
            <a:r>
              <a:rPr lang="en-US" sz="2200" dirty="0" smtClean="0"/>
              <a:t>(array1, array2)”</a:t>
            </a:r>
            <a:endParaRPr lang="en-US" sz="2200" dirty="0"/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 smtClean="0"/>
          </a:p>
          <a:p>
            <a:r>
              <a:rPr lang="en-US" sz="2200" dirty="0" smtClean="0"/>
              <a:t>Correlation always satisfies    -1 </a:t>
            </a:r>
            <a:r>
              <a:rPr lang="en-US" sz="2200" dirty="0" smtClean="0">
                <a:sym typeface="Symbol" charset="2"/>
              </a:rPr>
              <a:t> r  1.</a:t>
            </a:r>
          </a:p>
          <a:p>
            <a:r>
              <a:rPr lang="en-US" sz="2200" dirty="0" smtClean="0">
                <a:sym typeface="Symbol" charset="2"/>
              </a:rPr>
              <a:t>Perfect correlation, r = </a:t>
            </a:r>
            <a:r>
              <a:rPr lang="en-US" sz="2200" dirty="0">
                <a:sym typeface="Symbol" charset="2"/>
              </a:rPr>
              <a:t></a:t>
            </a:r>
            <a:r>
              <a:rPr lang="en-US" sz="2200" dirty="0"/>
              <a:t> </a:t>
            </a:r>
            <a:r>
              <a:rPr lang="en-US" sz="2200" dirty="0" smtClean="0"/>
              <a:t>1, occurs only when the points lie exactly on a straight line.</a:t>
            </a:r>
          </a:p>
          <a:p>
            <a:r>
              <a:rPr lang="en-US" sz="2200" dirty="0" smtClean="0"/>
              <a:t>Correlation ignores the distinction between explanatory (independent) and response (dependent) variables.</a:t>
            </a:r>
          </a:p>
          <a:p>
            <a:r>
              <a:rPr lang="en-US" sz="2200" dirty="0" smtClean="0"/>
              <a:t>Correlation is not resistant, so outliers can greatly change the value of r.</a:t>
            </a:r>
            <a:endParaRPr lang="en-US" sz="2200" dirty="0"/>
          </a:p>
          <a:p>
            <a:endParaRPr lang="en-US" sz="2000" dirty="0"/>
          </a:p>
          <a:p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93413"/>
            <a:ext cx="4800600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596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807713"/>
          </a:xfrm>
        </p:spPr>
        <p:txBody>
          <a:bodyPr/>
          <a:lstStyle/>
          <a:p>
            <a:pPr algn="ctr"/>
            <a:r>
              <a:rPr lang="en-US" dirty="0" smtClean="0"/>
              <a:t>Correlation is not causation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143" y="1082352"/>
            <a:ext cx="8812487" cy="526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789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882358"/>
          </a:xfrm>
        </p:spPr>
        <p:txBody>
          <a:bodyPr/>
          <a:lstStyle/>
          <a:p>
            <a:pPr algn="ctr"/>
            <a:r>
              <a:rPr lang="en-US" dirty="0" smtClean="0"/>
              <a:t>Another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952" y="1462187"/>
            <a:ext cx="7973299" cy="4963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493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233488"/>
          </a:xfrm>
        </p:spPr>
        <p:txBody>
          <a:bodyPr/>
          <a:lstStyle/>
          <a:p>
            <a:pPr algn="ctr"/>
            <a:r>
              <a:rPr lang="en-US" dirty="0" smtClean="0"/>
              <a:t>Historical Origins of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Regression analysis was first developed by Sir Francis Galton in the latter part of </a:t>
            </a:r>
            <a:r>
              <a:rPr lang="en-US" sz="2400" dirty="0" smtClean="0"/>
              <a:t>the 19th </a:t>
            </a:r>
            <a:r>
              <a:rPr lang="en-US" sz="2400" dirty="0"/>
              <a:t>century. Galton had studied the relation between heights of parents and children </a:t>
            </a:r>
            <a:r>
              <a:rPr lang="en-US" sz="2400" dirty="0" smtClean="0"/>
              <a:t>and noted </a:t>
            </a:r>
            <a:r>
              <a:rPr lang="en-US" sz="2400" dirty="0"/>
              <a:t>that the heights of children of both tall and short parents appeared to "revert" </a:t>
            </a:r>
            <a:r>
              <a:rPr lang="en-US" sz="2400" dirty="0" smtClean="0"/>
              <a:t>or "regress</a:t>
            </a:r>
            <a:r>
              <a:rPr lang="en-US" sz="2400" dirty="0"/>
              <a:t>" to the mean of the group. He considered this tendency to be a regression </a:t>
            </a:r>
            <a:r>
              <a:rPr lang="en-US" sz="2400" dirty="0" smtClean="0"/>
              <a:t>to "mediocrity</a:t>
            </a:r>
            <a:r>
              <a:rPr lang="en-US" sz="2400" dirty="0"/>
              <a:t>." Galton developed a mathematical description of this regression tendency, </a:t>
            </a:r>
            <a:r>
              <a:rPr lang="en-US" sz="2400" dirty="0" smtClean="0"/>
              <a:t>the precursor </a:t>
            </a:r>
            <a:r>
              <a:rPr lang="en-US" sz="2400" dirty="0"/>
              <a:t>of today's regression models</a:t>
            </a:r>
            <a:r>
              <a:rPr lang="en-US" sz="2400" dirty="0" smtClean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The term </a:t>
            </a:r>
            <a:r>
              <a:rPr lang="en-US" sz="2400" i="1" dirty="0"/>
              <a:t>regression</a:t>
            </a:r>
            <a:r>
              <a:rPr lang="en-US" sz="2400" dirty="0"/>
              <a:t> persists to this day to describe statistical relations </a:t>
            </a:r>
            <a:r>
              <a:rPr lang="en-US" sz="2400" dirty="0" smtClean="0"/>
              <a:t>between </a:t>
            </a:r>
            <a:r>
              <a:rPr lang="en-US" sz="2400" dirty="0"/>
              <a:t>variables.</a:t>
            </a:r>
          </a:p>
          <a:p>
            <a:pPr marL="0" indent="0" algn="just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Simple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Simple linear regression</a:t>
            </a:r>
            <a:r>
              <a:rPr lang="en-US" sz="2400" dirty="0"/>
              <a:t> is a statistical method that allows us to summarize and study relationships between two </a:t>
            </a:r>
            <a:r>
              <a:rPr lang="en-US" sz="2400" dirty="0" smtClean="0"/>
              <a:t>quantitative </a:t>
            </a:r>
            <a:r>
              <a:rPr lang="en-US" sz="2400" dirty="0"/>
              <a:t>variables: </a:t>
            </a:r>
            <a:endParaRPr lang="en-US" sz="2400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400" dirty="0"/>
              <a:t>One variable, denoted </a:t>
            </a:r>
            <a:r>
              <a:rPr lang="en-US" sz="2400" i="1" dirty="0"/>
              <a:t>x</a:t>
            </a:r>
            <a:r>
              <a:rPr lang="en-US" sz="2400" dirty="0"/>
              <a:t>, is regarded as the </a:t>
            </a:r>
            <a:r>
              <a:rPr lang="en-US" sz="2400" b="1" dirty="0"/>
              <a:t>predictor</a:t>
            </a:r>
            <a:r>
              <a:rPr lang="en-US" sz="2400" dirty="0"/>
              <a:t>, </a:t>
            </a:r>
            <a:r>
              <a:rPr lang="en-US" sz="2400" b="1" dirty="0"/>
              <a:t>explanatory</a:t>
            </a:r>
            <a:r>
              <a:rPr lang="en-US" sz="2400" dirty="0"/>
              <a:t>, or </a:t>
            </a:r>
            <a:r>
              <a:rPr lang="en-US" sz="2400" b="1" dirty="0"/>
              <a:t>independent</a:t>
            </a:r>
            <a:r>
              <a:rPr lang="en-US" sz="2400" dirty="0"/>
              <a:t> variable.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 smtClean="0"/>
              <a:t>The </a:t>
            </a:r>
            <a:r>
              <a:rPr lang="en-US" sz="2400" dirty="0"/>
              <a:t>other variable, denoted </a:t>
            </a:r>
            <a:r>
              <a:rPr lang="en-US" sz="2400" i="1" dirty="0"/>
              <a:t>y</a:t>
            </a:r>
            <a:r>
              <a:rPr lang="en-US" sz="2400" dirty="0"/>
              <a:t>, is regarded as the </a:t>
            </a:r>
            <a:r>
              <a:rPr lang="en-US" sz="2400" b="1" dirty="0"/>
              <a:t>response</a:t>
            </a:r>
            <a:r>
              <a:rPr lang="en-US" sz="2400" dirty="0"/>
              <a:t>, </a:t>
            </a:r>
            <a:r>
              <a:rPr lang="en-US" sz="2400" b="1" dirty="0"/>
              <a:t>outcome</a:t>
            </a:r>
            <a:r>
              <a:rPr lang="en-US" sz="2400" dirty="0"/>
              <a:t>, or </a:t>
            </a:r>
            <a:r>
              <a:rPr lang="en-US" sz="2400" b="1" dirty="0"/>
              <a:t>dependent</a:t>
            </a:r>
            <a:r>
              <a:rPr lang="en-US" sz="2400" dirty="0"/>
              <a:t> variable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is called “simple”, because there is only one predictor variable.</a:t>
            </a:r>
          </a:p>
          <a:p>
            <a:r>
              <a:rPr lang="en-US" sz="2400" dirty="0" smtClean="0"/>
              <a:t>It is called “linear”, because </a:t>
            </a:r>
            <a:r>
              <a:rPr lang="en-US" sz="2400" dirty="0"/>
              <a:t>no parameter appears as an exponent or is multiplied or divided </a:t>
            </a:r>
            <a:r>
              <a:rPr lang="en-US" sz="2400" dirty="0" smtClean="0"/>
              <a:t>by another parameter.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3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9492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Basic simple linear model:</a:t>
            </a:r>
          </a:p>
          <a:p>
            <a:pPr marL="0" indent="0" algn="ctr">
              <a:buNone/>
            </a:pPr>
            <a:r>
              <a:rPr lang="en-US" dirty="0" smtClean="0"/>
              <a:t>Y</a:t>
            </a:r>
            <a:r>
              <a:rPr lang="en-US" baseline="-25000" dirty="0" smtClean="0"/>
              <a:t>i</a:t>
            </a:r>
            <a:r>
              <a:rPr lang="en-US" dirty="0" smtClean="0"/>
              <a:t> = </a:t>
            </a:r>
            <a:r>
              <a:rPr lang="en-US" dirty="0" smtClean="0">
                <a:sym typeface="Symbol" charset="2"/>
              </a:rPr>
              <a:t></a:t>
            </a:r>
            <a:r>
              <a:rPr lang="en-US" baseline="-25000" dirty="0" smtClean="0"/>
              <a:t>0</a:t>
            </a:r>
            <a:r>
              <a:rPr lang="en-US" dirty="0" smtClean="0"/>
              <a:t> + </a:t>
            </a:r>
            <a:r>
              <a:rPr lang="en-US" dirty="0" smtClean="0">
                <a:sym typeface="Symbol" charset="2"/>
              </a:rPr>
              <a:t>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i</a:t>
            </a:r>
            <a:r>
              <a:rPr lang="en-US" dirty="0" smtClean="0"/>
              <a:t> + </a:t>
            </a:r>
            <a:r>
              <a:rPr lang="en-US" dirty="0" smtClean="0">
                <a:sym typeface="Symbol" charset="2"/>
              </a:rPr>
              <a:t></a:t>
            </a:r>
            <a:r>
              <a:rPr lang="en-US" baseline="-25000" dirty="0" err="1" smtClean="0">
                <a:sym typeface="Symbol" charset="2"/>
              </a:rPr>
              <a:t>i</a:t>
            </a:r>
            <a:endParaRPr lang="en-US" dirty="0" smtClean="0"/>
          </a:p>
          <a:p>
            <a:endParaRPr lang="en-US" dirty="0" smtClean="0"/>
          </a:p>
          <a:p>
            <a:r>
              <a:rPr lang="en-US" sz="2200" dirty="0"/>
              <a:t> </a:t>
            </a:r>
            <a:r>
              <a:rPr lang="en-US" sz="2400" dirty="0"/>
              <a:t>Y</a:t>
            </a:r>
            <a:r>
              <a:rPr lang="en-US" sz="2400" baseline="-25000" dirty="0"/>
              <a:t>i</a:t>
            </a:r>
            <a:r>
              <a:rPr lang="en-US" sz="2400" dirty="0"/>
              <a:t> is the value of the response variable in the </a:t>
            </a:r>
            <a:r>
              <a:rPr lang="en-US" sz="2400" dirty="0" err="1"/>
              <a:t>ith</a:t>
            </a:r>
            <a:r>
              <a:rPr lang="en-US" sz="2400" dirty="0"/>
              <a:t> </a:t>
            </a:r>
            <a:r>
              <a:rPr lang="en-US" sz="2400" dirty="0" smtClean="0"/>
              <a:t>trial.</a:t>
            </a:r>
            <a:endParaRPr lang="en-US" sz="2400" dirty="0"/>
          </a:p>
          <a:p>
            <a:r>
              <a:rPr lang="en-US" sz="2400" dirty="0">
                <a:sym typeface="Symbol" charset="2"/>
              </a:rPr>
              <a:t></a:t>
            </a:r>
            <a:r>
              <a:rPr lang="en-US" sz="2400" baseline="-25000" dirty="0"/>
              <a:t>0</a:t>
            </a:r>
            <a:r>
              <a:rPr lang="en-US" sz="2400" dirty="0"/>
              <a:t> and </a:t>
            </a:r>
            <a:r>
              <a:rPr lang="en-US" sz="2400" dirty="0">
                <a:sym typeface="Symbol" charset="2"/>
              </a:rPr>
              <a:t></a:t>
            </a:r>
            <a:r>
              <a:rPr lang="en-US" sz="2400" baseline="-25000" dirty="0"/>
              <a:t>1</a:t>
            </a:r>
            <a:r>
              <a:rPr lang="en-US" sz="2400" dirty="0"/>
              <a:t> are parameters.</a:t>
            </a:r>
          </a:p>
          <a:p>
            <a:r>
              <a:rPr lang="en-US" sz="2400" dirty="0"/>
              <a:t>X</a:t>
            </a:r>
            <a:r>
              <a:rPr lang="en-US" sz="2400" baseline="-25000" dirty="0"/>
              <a:t>i</a:t>
            </a:r>
            <a:r>
              <a:rPr lang="en-US" sz="2400" dirty="0"/>
              <a:t> is a known constant, namely, the value of the predictor variable in the </a:t>
            </a:r>
            <a:r>
              <a:rPr lang="en-US" sz="2400" dirty="0" err="1"/>
              <a:t>ith</a:t>
            </a:r>
            <a:r>
              <a:rPr lang="en-US" sz="2400" dirty="0"/>
              <a:t> trial.</a:t>
            </a:r>
          </a:p>
          <a:p>
            <a:r>
              <a:rPr lang="en-US" sz="2400" dirty="0">
                <a:sym typeface="Symbol" charset="2"/>
              </a:rPr>
              <a:t></a:t>
            </a:r>
            <a:r>
              <a:rPr lang="en-US" sz="2400" baseline="-25000" dirty="0" err="1"/>
              <a:t>i</a:t>
            </a:r>
            <a:r>
              <a:rPr lang="en-US" sz="2400" dirty="0"/>
              <a:t> is a random error term with mean E{</a:t>
            </a:r>
            <a:r>
              <a:rPr lang="en-US" sz="2400" dirty="0">
                <a:sym typeface="Symbol" charset="2"/>
              </a:rPr>
              <a:t></a:t>
            </a:r>
            <a:r>
              <a:rPr lang="en-US" sz="2400" baseline="-25000" dirty="0" err="1"/>
              <a:t>i</a:t>
            </a:r>
            <a:r>
              <a:rPr lang="en-US" sz="2400" dirty="0"/>
              <a:t>} = 0 and variance </a:t>
            </a:r>
            <a:r>
              <a:rPr lang="en-US" sz="2400" dirty="0">
                <a:sym typeface="Symbol" charset="2"/>
              </a:rPr>
              <a:t></a:t>
            </a:r>
            <a:r>
              <a:rPr lang="en-US" sz="2400" baseline="30000" dirty="0"/>
              <a:t>2</a:t>
            </a:r>
            <a:r>
              <a:rPr lang="en-US" sz="2400" dirty="0"/>
              <a:t>{</a:t>
            </a:r>
            <a:r>
              <a:rPr lang="en-US" sz="2400" dirty="0">
                <a:sym typeface="Symbol" charset="2"/>
              </a:rPr>
              <a:t></a:t>
            </a:r>
            <a:r>
              <a:rPr lang="en-US" sz="2400" baseline="-25000" dirty="0" err="1"/>
              <a:t>i</a:t>
            </a:r>
            <a:r>
              <a:rPr lang="en-US" sz="2400" dirty="0"/>
              <a:t>} = </a:t>
            </a:r>
            <a:r>
              <a:rPr lang="en-US" sz="2400" dirty="0">
                <a:sym typeface="Symbol" charset="2"/>
              </a:rPr>
              <a:t></a:t>
            </a:r>
            <a:r>
              <a:rPr lang="en-US" sz="2400" baseline="30000" dirty="0"/>
              <a:t>2</a:t>
            </a:r>
            <a:r>
              <a:rPr lang="en-US" sz="2400" dirty="0"/>
              <a:t>; </a:t>
            </a:r>
            <a:r>
              <a:rPr lang="en-US" sz="2400" dirty="0" smtClean="0"/>
              <a:t> Error </a:t>
            </a:r>
            <a:r>
              <a:rPr lang="en-US" sz="2400" dirty="0"/>
              <a:t>terms are uncorrelated with each other.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8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09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Meaning of Regression Parameters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1708" y="1122218"/>
            <a:ext cx="9802091" cy="5320146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  <a:sym typeface="Symbol" charset="2"/>
              </a:rPr>
              <a:t></a:t>
            </a:r>
            <a:r>
              <a:rPr lang="en-US" sz="2400" b="1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400" b="1" dirty="0">
                <a:latin typeface="Arial" pitchFamily="34" charset="0"/>
                <a:cs typeface="Arial" pitchFamily="34" charset="0"/>
                <a:sym typeface="Symbol" charset="2"/>
              </a:rPr>
              <a:t></a:t>
            </a:r>
            <a:r>
              <a:rPr lang="en-US" sz="2400" b="1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are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called regression coefficients.</a:t>
            </a:r>
          </a:p>
          <a:p>
            <a:pPr marL="82296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  <a:sym typeface="Symbol" charset="2"/>
            </a:endParaRPr>
          </a:p>
          <a:p>
            <a:pPr marL="82296" indent="0">
              <a:buNone/>
            </a:pPr>
            <a:endParaRPr lang="en-US" sz="2400" dirty="0">
              <a:latin typeface="Arial" pitchFamily="34" charset="0"/>
              <a:cs typeface="Arial" pitchFamily="34" charset="0"/>
              <a:sym typeface="Symbol" charset="2"/>
            </a:endParaRPr>
          </a:p>
          <a:p>
            <a:pPr marL="82296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  <a:sym typeface="Symbol" charset="2"/>
            </a:endParaRPr>
          </a:p>
          <a:p>
            <a:pPr marL="82296" indent="0">
              <a:buNone/>
            </a:pPr>
            <a:endParaRPr lang="en-US" sz="2400" dirty="0" smtClean="0">
              <a:latin typeface="Arial" pitchFamily="34" charset="0"/>
              <a:cs typeface="Arial" pitchFamily="34" charset="0"/>
              <a:sym typeface="Symbol" charset="2"/>
            </a:endParaRPr>
          </a:p>
          <a:p>
            <a:pPr marL="82296" indent="0">
              <a:buNone/>
            </a:pPr>
            <a:endParaRPr lang="en-US" sz="2400" b="1" dirty="0" smtClean="0">
              <a:latin typeface="Arial" pitchFamily="34" charset="0"/>
              <a:cs typeface="Arial" pitchFamily="34" charset="0"/>
              <a:sym typeface="Symbol" charset="2"/>
            </a:endParaRPr>
          </a:p>
          <a:p>
            <a:pPr marL="82296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  <a:sym typeface="Symbol" charset="2"/>
              </a:rPr>
              <a:t></a:t>
            </a:r>
            <a:r>
              <a:rPr lang="en-US" sz="2400" b="1" baseline="-25000" dirty="0" smtClean="0">
                <a:latin typeface="Arial" pitchFamily="34" charset="0"/>
                <a:cs typeface="Arial" pitchFamily="34" charset="0"/>
              </a:rPr>
              <a:t>1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– slope of the regression line.</a:t>
            </a:r>
          </a:p>
          <a:p>
            <a:pPr marL="82296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It indicates the change in the mean of  Y per unit increase of X.</a:t>
            </a:r>
            <a:endParaRPr lang="en-US" sz="2400" dirty="0" smtClean="0">
              <a:latin typeface="Arial" pitchFamily="34" charset="0"/>
              <a:cs typeface="Arial" pitchFamily="34" charset="0"/>
              <a:sym typeface="Symbol" charset="2"/>
            </a:endParaRPr>
          </a:p>
          <a:p>
            <a:pPr marL="82296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  <a:sym typeface="Symbol" charset="2"/>
              </a:rPr>
              <a:t></a:t>
            </a:r>
            <a:r>
              <a:rPr lang="en-US" sz="2400" b="1" baseline="-25000" dirty="0" smtClean="0">
                <a:latin typeface="Arial" pitchFamily="34" charset="0"/>
                <a:cs typeface="Arial" pitchFamily="34" charset="0"/>
              </a:rPr>
              <a:t>0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–  Y intercept of the regression line.</a:t>
            </a:r>
          </a:p>
          <a:p>
            <a:pPr marL="82296" indent="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When scope of the model includes X=0, 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 charset="2"/>
              </a:rPr>
              <a:t>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gives mean of Y at X=0.  When the scope of the model does not cover X=0, 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 charset="2"/>
              </a:rPr>
              <a:t></a:t>
            </a:r>
            <a:r>
              <a:rPr lang="en-US" sz="2400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does not have any particular meaning as a separate term in the model.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970" y="1565563"/>
            <a:ext cx="5121065" cy="216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2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16012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Method of </a:t>
            </a:r>
            <a:r>
              <a:rPr lang="en-US" dirty="0" smtClean="0">
                <a:effectLst/>
              </a:rPr>
              <a:t>Least Squares</a:t>
            </a: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 smtClean="0"/>
                  <a:t>Least Squares Method aims </a:t>
                </a:r>
                <a:r>
                  <a:rPr lang="en-US" sz="2800" dirty="0"/>
                  <a:t>to create a straight line that minimizes the sum of the squares of the errors generated by the </a:t>
                </a:r>
                <a:r>
                  <a:rPr lang="en-US" sz="2800" dirty="0" smtClean="0"/>
                  <a:t>results </a:t>
                </a:r>
                <a:r>
                  <a:rPr lang="en-US" sz="2800" dirty="0"/>
                  <a:t>of the associated </a:t>
                </a:r>
                <a:r>
                  <a:rPr lang="en-US" sz="2800" dirty="0" smtClean="0"/>
                  <a:t>equations.</a:t>
                </a:r>
              </a:p>
              <a:p>
                <a:endParaRPr lang="en-US" sz="2800" dirty="0" smtClean="0"/>
              </a:p>
              <a:p>
                <a:pPr marL="82296" indent="0" algn="ctr">
                  <a:buNone/>
                </a:pPr>
                <a:r>
                  <a:rPr lang="en-US" sz="2800" dirty="0" smtClean="0"/>
                  <a:t>Q =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∑</m:t>
                    </m:r>
                  </m:oMath>
                </a14:m>
                <a:r>
                  <a:rPr lang="en-US" sz="2800" dirty="0" smtClean="0"/>
                  <a:t>( </a:t>
                </a:r>
                <a:r>
                  <a:rPr lang="en-US" sz="2800" dirty="0"/>
                  <a:t>Y</a:t>
                </a:r>
                <a:r>
                  <a:rPr lang="en-US" sz="2800" baseline="-25000" dirty="0"/>
                  <a:t>i</a:t>
                </a:r>
                <a:r>
                  <a:rPr lang="en-US" sz="2800" dirty="0"/>
                  <a:t> </a:t>
                </a:r>
                <a:r>
                  <a:rPr lang="en-US" sz="2800" dirty="0" smtClean="0"/>
                  <a:t>- </a:t>
                </a:r>
                <a:r>
                  <a:rPr lang="en-US" sz="2800" dirty="0" smtClean="0">
                    <a:sym typeface="Symbol" charset="2"/>
                  </a:rPr>
                  <a:t></a:t>
                </a:r>
                <a:r>
                  <a:rPr lang="en-US" sz="2800" baseline="-25000" dirty="0"/>
                  <a:t>0</a:t>
                </a:r>
                <a:r>
                  <a:rPr lang="en-US" sz="2800" dirty="0"/>
                  <a:t> </a:t>
                </a:r>
                <a:r>
                  <a:rPr lang="en-US" sz="2800" dirty="0" smtClean="0"/>
                  <a:t>- </a:t>
                </a:r>
                <a:r>
                  <a:rPr lang="en-US" sz="2800" dirty="0">
                    <a:sym typeface="Symbol" charset="2"/>
                  </a:rPr>
                  <a:t></a:t>
                </a:r>
                <a:r>
                  <a:rPr lang="en-US" sz="2800" baseline="-25000" dirty="0" smtClean="0"/>
                  <a:t>1</a:t>
                </a:r>
                <a:r>
                  <a:rPr lang="en-US" sz="2800" dirty="0" smtClean="0"/>
                  <a:t>X</a:t>
                </a:r>
                <a:r>
                  <a:rPr lang="en-US" sz="2800" baseline="-25000" dirty="0" smtClean="0"/>
                  <a:t>i</a:t>
                </a:r>
                <a:r>
                  <a:rPr lang="en-US" sz="2800" dirty="0" smtClean="0"/>
                  <a:t>)</a:t>
                </a:r>
                <a:r>
                  <a:rPr lang="en-US" sz="2800" baseline="30000" dirty="0" smtClean="0"/>
                  <a:t>2</a:t>
                </a:r>
                <a:r>
                  <a:rPr lang="en-US" sz="2800" dirty="0" smtClean="0"/>
                  <a:t> =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</a:rPr>
                      <m:t>∑</m:t>
                    </m:r>
                  </m:oMath>
                </a14:m>
                <a:r>
                  <a:rPr lang="en-US" sz="2800" dirty="0" smtClean="0"/>
                  <a:t>(</a:t>
                </a:r>
                <a:r>
                  <a:rPr lang="en-US" sz="2800" dirty="0">
                    <a:sym typeface="Symbol" charset="2"/>
                  </a:rPr>
                  <a:t></a:t>
                </a:r>
                <a:r>
                  <a:rPr lang="en-US" sz="2800" baseline="-25000" dirty="0" err="1" smtClean="0">
                    <a:sym typeface="Symbol" charset="2"/>
                  </a:rPr>
                  <a:t>i</a:t>
                </a:r>
                <a:r>
                  <a:rPr lang="en-US" sz="2800" dirty="0" smtClean="0">
                    <a:sym typeface="Symbol" charset="2"/>
                  </a:rPr>
                  <a:t>)</a:t>
                </a:r>
                <a:r>
                  <a:rPr lang="en-US" sz="2800" baseline="30000" dirty="0" smtClean="0">
                    <a:sym typeface="Symbol" charset="2"/>
                  </a:rPr>
                  <a:t>2</a:t>
                </a:r>
                <a:r>
                  <a:rPr lang="en-US" sz="2800" dirty="0" smtClean="0">
                    <a:sym typeface="Symbol" charset="2"/>
                  </a:rPr>
                  <a:t> </a:t>
                </a:r>
              </a:p>
              <a:p>
                <a:pPr marL="82296" indent="0">
                  <a:buNone/>
                </a:pPr>
                <a:endParaRPr lang="en-US" sz="2800" dirty="0" smtClean="0"/>
              </a:p>
              <a:p>
                <a:pPr marL="82296" indent="0">
                  <a:buNone/>
                </a:pPr>
                <a:r>
                  <a:rPr lang="en-US" sz="2800" dirty="0" smtClean="0"/>
                  <a:t>According </a:t>
                </a:r>
                <a:r>
                  <a:rPr lang="en-US" sz="2800" dirty="0"/>
                  <a:t>to the method of least squares, the estimators of </a:t>
                </a:r>
                <a:r>
                  <a:rPr lang="en-US" sz="2800" b="1" dirty="0">
                    <a:sym typeface="Symbol" charset="2"/>
                  </a:rPr>
                  <a:t></a:t>
                </a:r>
                <a:r>
                  <a:rPr lang="en-US" sz="2800" b="1" baseline="-25000" dirty="0"/>
                  <a:t>0</a:t>
                </a:r>
                <a:r>
                  <a:rPr lang="en-US" sz="2800" dirty="0"/>
                  <a:t> </a:t>
                </a:r>
                <a:r>
                  <a:rPr lang="en-US" sz="2800" dirty="0" smtClean="0"/>
                  <a:t>and </a:t>
                </a:r>
                <a:r>
                  <a:rPr lang="en-US" sz="2800" b="1" dirty="0">
                    <a:sym typeface="Symbol" charset="2"/>
                  </a:rPr>
                  <a:t></a:t>
                </a:r>
                <a:r>
                  <a:rPr lang="en-US" sz="2800" b="1" baseline="-25000" dirty="0"/>
                  <a:t>1</a:t>
                </a:r>
                <a:r>
                  <a:rPr lang="en-US" sz="2800" dirty="0" smtClean="0"/>
                  <a:t> </a:t>
                </a:r>
                <a:r>
                  <a:rPr lang="en-US" sz="2800" dirty="0"/>
                  <a:t>are those </a:t>
                </a:r>
                <a:r>
                  <a:rPr lang="en-US" sz="2800" dirty="0" smtClean="0"/>
                  <a:t>values </a:t>
                </a:r>
                <a:r>
                  <a:rPr lang="en-US" sz="2800" b="1" dirty="0" smtClean="0"/>
                  <a:t>b</a:t>
                </a:r>
                <a:r>
                  <a:rPr lang="en-US" sz="2800" b="1" baseline="-25000" dirty="0" smtClean="0"/>
                  <a:t>0</a:t>
                </a:r>
                <a:r>
                  <a:rPr lang="en-US" sz="2800" dirty="0" smtClean="0"/>
                  <a:t> </a:t>
                </a:r>
                <a:r>
                  <a:rPr lang="en-US" sz="2800" dirty="0"/>
                  <a:t>and </a:t>
                </a:r>
                <a:r>
                  <a:rPr lang="en-US" sz="2800" b="1" dirty="0" smtClean="0"/>
                  <a:t>b</a:t>
                </a:r>
                <a:r>
                  <a:rPr lang="en-US" sz="2800" b="1" baseline="-25000" dirty="0" smtClean="0"/>
                  <a:t>1</a:t>
                </a:r>
                <a:r>
                  <a:rPr lang="en-US" sz="2800" dirty="0" smtClean="0"/>
                  <a:t> </a:t>
                </a:r>
                <a:r>
                  <a:rPr lang="en-US" sz="2800" dirty="0"/>
                  <a:t>respectively, that minimize the criterion </a:t>
                </a:r>
                <a:r>
                  <a:rPr lang="en-US" sz="2800" dirty="0" smtClean="0"/>
                  <a:t>Q.</a:t>
                </a:r>
                <a:endParaRPr lang="en-US" sz="2800" dirty="0"/>
              </a:p>
              <a:p>
                <a:pPr marL="82296" indent="0">
                  <a:buNone/>
                </a:pPr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66" t="-1398" r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82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Method of Least Squares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1015" y="1590175"/>
            <a:ext cx="5375565" cy="445606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79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3164" y="166255"/>
            <a:ext cx="9144000" cy="651164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800" b="1" dirty="0"/>
              <a:t>Computing the least-squares regression line.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1149927"/>
                <a:ext cx="9144000" cy="4973782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baseline="-25000" dirty="0" err="1"/>
                  <a:t>i</a:t>
                </a:r>
                <a:r>
                  <a:rPr lang="en-US" dirty="0"/>
                  <a:t> = b</a:t>
                </a:r>
                <a:r>
                  <a:rPr lang="en-US" baseline="-25000" dirty="0"/>
                  <a:t>0</a:t>
                </a:r>
                <a:r>
                  <a:rPr lang="en-US" dirty="0"/>
                  <a:t> + </a:t>
                </a:r>
                <a:r>
                  <a:rPr lang="en-US" dirty="0" smtClean="0"/>
                  <a:t>b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x</a:t>
                </a:r>
                <a:r>
                  <a:rPr lang="en-US" baseline="-25000" dirty="0" smtClean="0"/>
                  <a:t>i</a:t>
                </a:r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The slope (estimate of </a:t>
                </a:r>
                <a:r>
                  <a:rPr lang="en-US" dirty="0" smtClean="0">
                    <a:sym typeface="Symbol" charset="2"/>
                  </a:rPr>
                  <a:t></a:t>
                </a:r>
                <a:r>
                  <a:rPr lang="en-US" baseline="-25000" dirty="0">
                    <a:sym typeface="Symbol" charset="2"/>
                  </a:rPr>
                  <a:t>1</a:t>
                </a:r>
                <a:r>
                  <a:rPr lang="en-US" dirty="0" smtClean="0"/>
                  <a:t>) :     b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 </a:t>
                </a:r>
                <a:r>
                  <a:rPr lang="en-US" dirty="0"/>
                  <a:t>= 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The intercept (estimate of </a:t>
                </a:r>
                <a:r>
                  <a:rPr lang="en-US" dirty="0" smtClean="0">
                    <a:sym typeface="Symbol" charset="2"/>
                  </a:rPr>
                  <a:t>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) :  </a:t>
                </a:r>
                <a:r>
                  <a:rPr lang="en-US" dirty="0"/>
                  <a:t>b</a:t>
                </a:r>
                <a:r>
                  <a:rPr lang="en-US" baseline="-25000" dirty="0"/>
                  <a:t>0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- </a:t>
                </a:r>
                <a:r>
                  <a:rPr lang="en-US" dirty="0" smtClean="0"/>
                  <a:t>b</a:t>
                </a:r>
                <a:r>
                  <a:rPr lang="en-US" baseline="-25000" dirty="0" smtClean="0"/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Residuals (estimate of error term, </a:t>
                </a:r>
                <a:r>
                  <a:rPr lang="en-US" dirty="0" smtClean="0">
                    <a:sym typeface="Symbol" charset="2"/>
                  </a:rPr>
                  <a:t></a:t>
                </a:r>
                <a:r>
                  <a:rPr lang="en-US" baseline="-25000" dirty="0" err="1" smtClean="0">
                    <a:sym typeface="Symbol" charset="2"/>
                  </a:rPr>
                  <a:t>i</a:t>
                </a:r>
                <a:r>
                  <a:rPr lang="en-US" dirty="0" smtClean="0">
                    <a:sym typeface="Symbol" charset="2"/>
                  </a:rPr>
                  <a:t>)</a:t>
                </a:r>
                <a:r>
                  <a:rPr lang="en-US" dirty="0">
                    <a:sym typeface="Symbol" charset="2"/>
                  </a:rPr>
                  <a:t> </a:t>
                </a:r>
                <a:r>
                  <a:rPr lang="en-US" dirty="0" smtClean="0"/>
                  <a:t>are the differences </a:t>
                </a:r>
                <a:r>
                  <a:rPr lang="en-US" dirty="0"/>
                  <a:t>between the observed value of the dependent variable (y) and the predicted value (ŷ</a:t>
                </a:r>
                <a:r>
                  <a:rPr lang="en-US" dirty="0" smtClean="0"/>
                  <a:t>):    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                             </a:t>
                </a:r>
                <a:r>
                  <a:rPr lang="en-US" dirty="0" err="1" smtClean="0"/>
                  <a:t>e</a:t>
                </a:r>
                <a:r>
                  <a:rPr lang="en-US" baseline="-25000" dirty="0" err="1" smtClean="0"/>
                  <a:t>i</a:t>
                </a:r>
                <a:r>
                  <a:rPr lang="en-US" dirty="0" smtClean="0"/>
                  <a:t> </a:t>
                </a:r>
                <a:r>
                  <a:rPr lang="en-US" dirty="0"/>
                  <a:t>= </a:t>
                </a:r>
                <a:r>
                  <a:rPr lang="en-US" dirty="0" err="1"/>
                  <a:t>y</a:t>
                </a:r>
                <a:r>
                  <a:rPr lang="en-US" baseline="-25000" dirty="0" err="1"/>
                  <a:t>i</a:t>
                </a:r>
                <a:r>
                  <a:rPr lang="en-US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baseline="-25000" dirty="0" err="1"/>
                  <a:t>i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342900" indent="-342900" algn="l">
                  <a:buFont typeface="Arial" charset="0"/>
                  <a:buChar char="•"/>
                </a:pPr>
                <a:endParaRPr lang="en-US" dirty="0" smtClean="0"/>
              </a:p>
              <a:p>
                <a:pPr marL="342900" indent="-342900" algn="l">
                  <a:buFont typeface="Arial" charset="0"/>
                  <a:buChar char="•"/>
                </a:pPr>
                <a:endParaRPr lang="en-US" dirty="0"/>
              </a:p>
              <a:p>
                <a:pPr marL="342900" indent="-342900" algn="l">
                  <a:buFont typeface="Arial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1149927"/>
                <a:ext cx="9144000" cy="4973782"/>
              </a:xfrm>
              <a:blipFill rotWithShape="1">
                <a:blip r:embed="rId2"/>
                <a:stretch>
                  <a:fillRect l="-867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72147" y="5268192"/>
            <a:ext cx="1510145" cy="7248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583382" y="2029195"/>
            <a:ext cx="1537853" cy="7481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74326" y="3086100"/>
            <a:ext cx="1856510" cy="7481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6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Simple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i="1" dirty="0" smtClean="0"/>
              <a:t>Example.</a:t>
            </a:r>
          </a:p>
          <a:p>
            <a:pPr marL="82296" indent="0">
              <a:buNone/>
            </a:pPr>
            <a:r>
              <a:rPr lang="en-US" dirty="0" smtClean="0"/>
              <a:t>Suppose, we are given price (Y) </a:t>
            </a:r>
          </a:p>
          <a:p>
            <a:pPr marL="82296" indent="0">
              <a:buNone/>
            </a:pPr>
            <a:r>
              <a:rPr lang="en-US" dirty="0" smtClean="0"/>
              <a:t>and square feet (X) data for </a:t>
            </a:r>
          </a:p>
          <a:p>
            <a:pPr marL="82296" indent="0">
              <a:buNone/>
            </a:pPr>
            <a:r>
              <a:rPr lang="en-US" dirty="0" smtClean="0"/>
              <a:t>10 houses. Our task is to </a:t>
            </a:r>
          </a:p>
          <a:p>
            <a:pPr marL="82296" indent="0">
              <a:buNone/>
            </a:pPr>
            <a:r>
              <a:rPr lang="en-US" dirty="0" smtClean="0"/>
              <a:t>construct simple linear </a:t>
            </a:r>
          </a:p>
          <a:p>
            <a:pPr marL="82296" indent="0">
              <a:buNone/>
            </a:pPr>
            <a:r>
              <a:rPr lang="en-US" dirty="0" smtClean="0"/>
              <a:t>regression model to predict </a:t>
            </a:r>
          </a:p>
          <a:p>
            <a:pPr marL="82296" indent="0">
              <a:buNone/>
            </a:pPr>
            <a:r>
              <a:rPr lang="en-US" dirty="0" smtClean="0"/>
              <a:t>house price with given square</a:t>
            </a:r>
          </a:p>
          <a:p>
            <a:pPr marL="82296" indent="0">
              <a:buNone/>
            </a:pPr>
            <a:r>
              <a:rPr lang="en-US" dirty="0" smtClean="0"/>
              <a:t>footage.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686757"/>
              </p:ext>
            </p:extLst>
          </p:nvPr>
        </p:nvGraphicFramePr>
        <p:xfrm>
          <a:off x="7370064" y="2022764"/>
          <a:ext cx="4724400" cy="396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5500"/>
                <a:gridCol w="2628900"/>
              </a:tblGrid>
              <a:tr h="609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900" u="none" strike="noStrike">
                          <a:effectLst/>
                        </a:rPr>
                        <a:t>House Price in $1000s</a:t>
                      </a:r>
                      <a:endParaRPr lang="en-US" sz="1900" b="1" i="0" u="none" strike="noStrike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900" u="none" strike="noStrike" dirty="0">
                          <a:effectLst/>
                        </a:rPr>
                        <a:t>Square Feet </a:t>
                      </a:r>
                      <a:endParaRPr lang="en-US" sz="1900" b="1" i="0" u="none" strike="noStrike" dirty="0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mr-IN" sz="1900" u="none" strike="noStrike">
                          <a:effectLst/>
                        </a:rPr>
                        <a:t>(Y)</a:t>
                      </a:r>
                      <a:endParaRPr lang="mr-IN" sz="1900" b="1" i="0" u="none" strike="noStrike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mr-IN" sz="1900" u="none" strike="noStrike">
                          <a:effectLst/>
                        </a:rPr>
                        <a:t>(X)</a:t>
                      </a:r>
                      <a:endParaRPr lang="mr-IN" sz="1900" b="1" i="0" u="none" strike="noStrike">
                        <a:solidFill>
                          <a:srgbClr val="1F497D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245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1400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312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1600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279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1700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308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i-FI" sz="1900" u="none" strike="noStrike">
                          <a:effectLst/>
                        </a:rPr>
                        <a:t>1875</a:t>
                      </a:r>
                      <a:endParaRPr lang="fi-FI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900" u="none" strike="noStrike">
                          <a:effectLst/>
                        </a:rPr>
                        <a:t>199</a:t>
                      </a:r>
                      <a:endParaRPr lang="en-U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1100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219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900" u="none" strike="noStrike">
                          <a:effectLst/>
                        </a:rPr>
                        <a:t>1550</a:t>
                      </a:r>
                      <a:endParaRPr lang="en-U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405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2350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324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2450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900" u="none" strike="noStrike">
                          <a:effectLst/>
                        </a:rPr>
                        <a:t>319</a:t>
                      </a:r>
                      <a:endParaRPr lang="en-U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1425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>
                          <a:effectLst/>
                        </a:rPr>
                        <a:t>255</a:t>
                      </a:r>
                      <a:endParaRPr lang="is-IS" sz="1900" b="1" i="0" u="none" strike="noStrike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900" u="none" strike="noStrike" dirty="0">
                          <a:effectLst/>
                        </a:rPr>
                        <a:t>1700</a:t>
                      </a:r>
                      <a:endParaRPr lang="is-IS" sz="1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58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Simple Linear Regression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911472"/>
              </p:ext>
            </p:extLst>
          </p:nvPr>
        </p:nvGraphicFramePr>
        <p:xfrm>
          <a:off x="1914142" y="1417638"/>
          <a:ext cx="9269673" cy="2992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001"/>
                <a:gridCol w="1636728"/>
                <a:gridCol w="1827944"/>
                <a:gridCol w="1195754"/>
                <a:gridCol w="931985"/>
                <a:gridCol w="1371600"/>
                <a:gridCol w="1072661"/>
              </a:tblGrid>
              <a:tr h="365460">
                <a:tc>
                  <a:txBody>
                    <a:bodyPr/>
                    <a:lstStyle/>
                    <a:p>
                      <a:pPr algn="ctr" fontAlgn="b"/>
                      <a:r>
                        <a:rPr lang="sk-SK" sz="1600" u="none" strike="noStrike" dirty="0">
                          <a:effectLst/>
                        </a:rPr>
                        <a:t> </a:t>
                      </a:r>
                      <a:endParaRPr lang="sk-SK" sz="1600" b="0" i="1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df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SS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MS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F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Significance F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</a:tr>
              <a:tr h="365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Regression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>
                          <a:effectLst/>
                        </a:rPr>
                        <a:t>18934.93</a:t>
                      </a:r>
                      <a:endParaRPr lang="hr-HR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>
                          <a:effectLst/>
                        </a:rPr>
                        <a:t>18934.93</a:t>
                      </a:r>
                      <a:endParaRPr lang="hr-HR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>
                          <a:effectLst/>
                        </a:rPr>
                        <a:t>11.08</a:t>
                      </a:r>
                      <a:endParaRPr lang="nb-NO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>
                          <a:effectLst/>
                        </a:rPr>
                        <a:t>0.01</a:t>
                      </a:r>
                      <a:endParaRPr lang="nb-NO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</a:tr>
              <a:tr h="365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Residual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>
                          <a:effectLst/>
                        </a:rPr>
                        <a:t>13665.57</a:t>
                      </a:r>
                      <a:endParaRPr lang="hr-HR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>
                          <a:effectLst/>
                        </a:rPr>
                        <a:t>1708.20</a:t>
                      </a:r>
                      <a:endParaRPr lang="hr-HR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</a:tr>
              <a:tr h="38830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Total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 dirty="0">
                          <a:effectLst/>
                        </a:rPr>
                        <a:t>32600.50</a:t>
                      </a:r>
                      <a:endParaRPr lang="hr-H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k-SK" sz="1600" u="none" strike="noStrike">
                          <a:effectLst/>
                        </a:rPr>
                        <a:t> </a:t>
                      </a:r>
                      <a:endParaRPr lang="sk-SK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k-SK" sz="1600" u="none" strike="noStrike">
                          <a:effectLst/>
                        </a:rPr>
                        <a:t> </a:t>
                      </a:r>
                      <a:endParaRPr lang="sk-SK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k-SK" sz="1600" u="none" strike="noStrike">
                          <a:effectLst/>
                        </a:rPr>
                        <a:t> </a:t>
                      </a:r>
                      <a:endParaRPr lang="sk-SK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</a:tr>
              <a:tr h="388302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</a:tr>
              <a:tr h="365460">
                <a:tc>
                  <a:txBody>
                    <a:bodyPr/>
                    <a:lstStyle/>
                    <a:p>
                      <a:pPr algn="ctr" fontAlgn="b"/>
                      <a:r>
                        <a:rPr lang="sk-SK" sz="1600" u="none" strike="noStrike">
                          <a:effectLst/>
                        </a:rPr>
                        <a:t> </a:t>
                      </a:r>
                      <a:endParaRPr lang="sk-SK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Coefficients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Standard Error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t Stat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P-value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Lower 95%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u="none" strike="noStrike">
                          <a:effectLst/>
                        </a:rPr>
                        <a:t>Upper 95%</a:t>
                      </a:r>
                      <a:endParaRPr lang="sv-SE" sz="1600" b="0" i="1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</a:tr>
              <a:tr h="36546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Intercept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>
                          <a:effectLst/>
                        </a:rPr>
                        <a:t>98.25</a:t>
                      </a:r>
                      <a:endParaRPr lang="hr-HR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>
                          <a:effectLst/>
                        </a:rPr>
                        <a:t>58.03</a:t>
                      </a:r>
                      <a:endParaRPr lang="hr-HR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effectLst/>
                        </a:rPr>
                        <a:t>1.69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>
                          <a:effectLst/>
                        </a:rPr>
                        <a:t>0.13</a:t>
                      </a:r>
                      <a:endParaRPr lang="hr-HR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mr-IN" sz="1600" u="none" strike="noStrike" dirty="0">
                          <a:effectLst/>
                        </a:rPr>
                        <a:t>-35.58</a:t>
                      </a:r>
                      <a:endParaRPr lang="mr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600" u="none" strike="noStrike" dirty="0">
                          <a:effectLst/>
                        </a:rPr>
                        <a:t>232.07</a:t>
                      </a:r>
                      <a:endParaRPr lang="is-I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</a:tr>
              <a:tr h="388302">
                <a:tc>
                  <a:txBody>
                    <a:bodyPr/>
                    <a:lstStyle/>
                    <a:p>
                      <a:pPr algn="l" fontAlgn="b"/>
                      <a:r>
                        <a:rPr lang="mr-IN" sz="1600" u="none" strike="noStrike">
                          <a:effectLst/>
                        </a:rPr>
                        <a:t>(X)</a:t>
                      </a:r>
                      <a:endParaRPr lang="mr-IN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effectLst/>
                        </a:rPr>
                        <a:t>0.11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effectLst/>
                        </a:rPr>
                        <a:t>0.03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600" u="none" strike="noStrike">
                          <a:effectLst/>
                        </a:rPr>
                        <a:t>3.33</a:t>
                      </a:r>
                      <a:endParaRPr lang="hr-HR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>
                          <a:effectLst/>
                        </a:rPr>
                        <a:t>0.01</a:t>
                      </a:r>
                      <a:endParaRPr lang="nb-NO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>
                          <a:effectLst/>
                        </a:rPr>
                        <a:t>0.03</a:t>
                      </a:r>
                      <a:endParaRPr lang="nb-NO" sz="16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600" u="none" strike="noStrike" dirty="0">
                          <a:effectLst/>
                        </a:rPr>
                        <a:t>0.19</a:t>
                      </a:r>
                      <a:endParaRPr lang="nb-N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88927" y="4730261"/>
            <a:ext cx="824976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Regression equation:</a:t>
            </a:r>
          </a:p>
          <a:p>
            <a:endParaRPr lang="en-US" sz="2000" dirty="0" smtClean="0"/>
          </a:p>
          <a:p>
            <a:r>
              <a:rPr lang="en-US" sz="2400" dirty="0" smtClean="0"/>
              <a:t>House Price (Y) = 98.25 + 0.11 * Square Feet (X)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1835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charset="-120"/>
              </a:rPr>
              <a:t>Interpretation of b</a:t>
            </a:r>
            <a:r>
              <a:rPr lang="en-US" altLang="zh-TW" baseline="-25000" dirty="0">
                <a:ea typeface="新細明體" charset="-120"/>
              </a:rPr>
              <a:t>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4144" y="1828800"/>
            <a:ext cx="9997440" cy="4419600"/>
          </a:xfrm>
        </p:spPr>
        <p:txBody>
          <a:bodyPr/>
          <a:lstStyle/>
          <a:p>
            <a:pPr marL="82296" indent="0">
              <a:buNone/>
            </a:pPr>
            <a:r>
              <a:rPr lang="en-US" dirty="0"/>
              <a:t>House </a:t>
            </a:r>
            <a:r>
              <a:rPr lang="en-US" dirty="0" smtClean="0"/>
              <a:t>Price (Y) </a:t>
            </a:r>
            <a:r>
              <a:rPr lang="en-US" dirty="0"/>
              <a:t>= 98.25 + 0.11 * Square </a:t>
            </a:r>
            <a:r>
              <a:rPr lang="en-US" dirty="0" smtClean="0"/>
              <a:t>Feet (X)</a:t>
            </a:r>
            <a:endParaRPr lang="en-US" dirty="0"/>
          </a:p>
          <a:p>
            <a:endParaRPr lang="en-US" altLang="zh-TW" dirty="0" smtClean="0">
              <a:ea typeface="新細明體" charset="-120"/>
            </a:endParaRPr>
          </a:p>
          <a:p>
            <a:r>
              <a:rPr lang="en-US" altLang="zh-TW" dirty="0" smtClean="0">
                <a:ea typeface="新細明體" charset="-120"/>
              </a:rPr>
              <a:t>b</a:t>
            </a:r>
            <a:r>
              <a:rPr lang="en-US" altLang="zh-TW" baseline="-25000" dirty="0" smtClean="0">
                <a:ea typeface="新細明體" charset="-120"/>
              </a:rPr>
              <a:t>0</a:t>
            </a:r>
            <a:r>
              <a:rPr lang="en-US" altLang="zh-TW" dirty="0" smtClean="0">
                <a:ea typeface="新細明體" charset="-120"/>
              </a:rPr>
              <a:t> </a:t>
            </a:r>
            <a:r>
              <a:rPr lang="en-US" altLang="zh-TW" dirty="0">
                <a:ea typeface="新細明體" charset="-120"/>
              </a:rPr>
              <a:t>is the estimated mean value </a:t>
            </a:r>
            <a:r>
              <a:rPr lang="en-US" altLang="zh-TW" dirty="0" smtClean="0">
                <a:ea typeface="新細明體" charset="-120"/>
              </a:rPr>
              <a:t>of  </a:t>
            </a:r>
            <a:r>
              <a:rPr lang="en-US" altLang="zh-TW" dirty="0">
                <a:ea typeface="新細明體" charset="-120"/>
              </a:rPr>
              <a:t>Y when the value of X is zero (if X = 0 is in the range of observed X values)</a:t>
            </a:r>
          </a:p>
          <a:p>
            <a:r>
              <a:rPr lang="en-US" altLang="zh-TW" dirty="0">
                <a:ea typeface="新細明體" charset="-120"/>
              </a:rPr>
              <a:t>Because the square footage of the house cannot be 0, the Y intercept has no practical application.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63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charset="-120"/>
              </a:rPr>
              <a:t>Interpretation of b</a:t>
            </a:r>
            <a:r>
              <a:rPr lang="en-US" altLang="zh-TW" baseline="-25000" dirty="0">
                <a:ea typeface="新細明體" charset="-120"/>
              </a:rPr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4144" y="1776046"/>
            <a:ext cx="9997440" cy="4472354"/>
          </a:xfrm>
        </p:spPr>
        <p:txBody>
          <a:bodyPr/>
          <a:lstStyle/>
          <a:p>
            <a:pPr marL="82296" indent="0">
              <a:buNone/>
            </a:pPr>
            <a:r>
              <a:rPr lang="en-US" dirty="0"/>
              <a:t>House Price (Y) = 98.25 + 0.11 * Square Feet (X)</a:t>
            </a:r>
          </a:p>
          <a:p>
            <a:endParaRPr lang="en-US" altLang="zh-TW" dirty="0" smtClean="0">
              <a:ea typeface="新細明體" charset="-120"/>
            </a:endParaRPr>
          </a:p>
          <a:p>
            <a:r>
              <a:rPr lang="en-US" altLang="zh-TW" dirty="0" smtClean="0">
                <a:ea typeface="新細明體" charset="-120"/>
              </a:rPr>
              <a:t>b</a:t>
            </a:r>
            <a:r>
              <a:rPr lang="en-US" altLang="zh-TW" baseline="-25000" dirty="0" smtClean="0">
                <a:ea typeface="新細明體" charset="-120"/>
              </a:rPr>
              <a:t>1</a:t>
            </a:r>
            <a:r>
              <a:rPr lang="en-US" altLang="zh-TW" dirty="0" smtClean="0">
                <a:ea typeface="新細明體" charset="-120"/>
              </a:rPr>
              <a:t> </a:t>
            </a:r>
            <a:r>
              <a:rPr lang="en-US" altLang="zh-TW" dirty="0">
                <a:ea typeface="新細明體" charset="-120"/>
              </a:rPr>
              <a:t>measures the mean change in the average value of </a:t>
            </a:r>
            <a:r>
              <a:rPr lang="en-US" altLang="zh-TW" dirty="0" smtClean="0">
                <a:ea typeface="新細明體" charset="-120"/>
              </a:rPr>
              <a:t> Y </a:t>
            </a:r>
            <a:r>
              <a:rPr lang="en-US" altLang="zh-TW" dirty="0">
                <a:ea typeface="新細明體" charset="-120"/>
              </a:rPr>
              <a:t>as a result of a one-unit change in </a:t>
            </a:r>
            <a:r>
              <a:rPr lang="en-US" altLang="zh-TW" dirty="0" smtClean="0">
                <a:ea typeface="新細明體" charset="-120"/>
              </a:rPr>
              <a:t>X.</a:t>
            </a:r>
            <a:endParaRPr lang="en-US" altLang="zh-TW" dirty="0">
              <a:ea typeface="新細明體" charset="-120"/>
            </a:endParaRPr>
          </a:p>
          <a:p>
            <a:r>
              <a:rPr lang="en-US" altLang="zh-TW" dirty="0">
                <a:ea typeface="新細明體" charset="-120"/>
              </a:rPr>
              <a:t>Here, b</a:t>
            </a:r>
            <a:r>
              <a:rPr lang="en-US" altLang="zh-TW" baseline="-25000" dirty="0">
                <a:ea typeface="新細明體" charset="-120"/>
              </a:rPr>
              <a:t>1</a:t>
            </a:r>
            <a:r>
              <a:rPr lang="en-US" altLang="zh-TW" dirty="0">
                <a:ea typeface="新細明體" charset="-120"/>
              </a:rPr>
              <a:t> = .</a:t>
            </a:r>
            <a:r>
              <a:rPr lang="en-US" altLang="zh-TW" dirty="0" smtClean="0">
                <a:ea typeface="新細明體" charset="-120"/>
              </a:rPr>
              <a:t>11 </a:t>
            </a:r>
            <a:r>
              <a:rPr lang="en-US" altLang="zh-TW" dirty="0">
                <a:ea typeface="新細明體" charset="-120"/>
              </a:rPr>
              <a:t>tells us that the mean value of a house increases by .</a:t>
            </a:r>
            <a:r>
              <a:rPr lang="en-US" altLang="zh-TW" dirty="0" smtClean="0">
                <a:ea typeface="新細明體" charset="-120"/>
              </a:rPr>
              <a:t>11($</a:t>
            </a:r>
            <a:r>
              <a:rPr lang="en-US" altLang="zh-TW" dirty="0">
                <a:ea typeface="新細明體" charset="-120"/>
              </a:rPr>
              <a:t>1000) = $</a:t>
            </a:r>
            <a:r>
              <a:rPr lang="en-US" altLang="zh-TW" dirty="0" smtClean="0">
                <a:ea typeface="新細明體" charset="-120"/>
              </a:rPr>
              <a:t>110, </a:t>
            </a:r>
            <a:r>
              <a:rPr lang="en-US" altLang="zh-TW" dirty="0">
                <a:ea typeface="新細明體" charset="-120"/>
              </a:rPr>
              <a:t>on average, for each additional one square foot of </a:t>
            </a:r>
            <a:r>
              <a:rPr lang="en-US" altLang="zh-TW" dirty="0" smtClean="0">
                <a:ea typeface="新細明體" charset="-120"/>
              </a:rPr>
              <a:t>size.</a:t>
            </a:r>
            <a:endParaRPr lang="en-US" altLang="zh-TW" dirty="0">
              <a:ea typeface="新細明體" charset="-12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6D09E-813C-9342-A936-A0F7564955C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13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1342</TotalTime>
  <Words>945</Words>
  <Application>Microsoft Office PowerPoint</Application>
  <PresentationFormat>Custom</PresentationFormat>
  <Paragraphs>188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Solstice</vt:lpstr>
      <vt:lpstr>Week 18</vt:lpstr>
      <vt:lpstr>Learning objectives</vt:lpstr>
      <vt:lpstr>PowerPoint Presentation</vt:lpstr>
      <vt:lpstr>PowerPoint Presentation</vt:lpstr>
      <vt:lpstr>Correlation</vt:lpstr>
      <vt:lpstr>Correlation is not causation</vt:lpstr>
      <vt:lpstr>Another Example</vt:lpstr>
      <vt:lpstr>Historical Origins of Regression</vt:lpstr>
      <vt:lpstr>Simple Linear Regression</vt:lpstr>
      <vt:lpstr>Simple Linear Regression</vt:lpstr>
      <vt:lpstr>Meaning of Regression Parameters </vt:lpstr>
      <vt:lpstr>Method of Least Squares </vt:lpstr>
      <vt:lpstr>Method of Least Squares</vt:lpstr>
      <vt:lpstr>Computing the least-squares regression line.</vt:lpstr>
      <vt:lpstr>Simple Linear Regression</vt:lpstr>
      <vt:lpstr>Simple Linear Regression</vt:lpstr>
      <vt:lpstr>Interpretation of b0</vt:lpstr>
      <vt:lpstr>Interpretation of b1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</dc:title>
  <dc:creator>Microsoft Office User</dc:creator>
  <cp:lastModifiedBy>Olmas Isakov</cp:lastModifiedBy>
  <cp:revision>57</cp:revision>
  <dcterms:created xsi:type="dcterms:W3CDTF">2019-01-29T15:27:52Z</dcterms:created>
  <dcterms:modified xsi:type="dcterms:W3CDTF">2020-02-14T11:00:36Z</dcterms:modified>
</cp:coreProperties>
</file>