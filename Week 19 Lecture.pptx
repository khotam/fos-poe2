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68" r:id="rId2"/>
    <p:sldId id="275" r:id="rId3"/>
    <p:sldId id="259" r:id="rId4"/>
    <p:sldId id="273" r:id="rId5"/>
    <p:sldId id="271" r:id="rId6"/>
    <p:sldId id="274" r:id="rId7"/>
    <p:sldId id="267" r:id="rId8"/>
    <p:sldId id="265" r:id="rId9"/>
    <p:sldId id="266" r:id="rId10"/>
    <p:sldId id="257" r:id="rId11"/>
    <p:sldId id="276" r:id="rId12"/>
    <p:sldId id="260" r:id="rId13"/>
    <p:sldId id="269" r:id="rId14"/>
    <p:sldId id="272" r:id="rId15"/>
    <p:sldId id="261" r:id="rId16"/>
    <p:sldId id="262"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7"/>
    <p:restoredTop sz="94696"/>
  </p:normalViewPr>
  <p:slideViewPr>
    <p:cSldViewPr snapToGrid="0" snapToObjects="1">
      <p:cViewPr varScale="1">
        <p:scale>
          <a:sx n="65" d="100"/>
          <a:sy n="65" d="100"/>
        </p:scale>
        <p:origin x="-726"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78E040-81E0-064D-BB4D-EE2CCB465265}" type="datetimeFigureOut">
              <a:rPr lang="en-US" smtClean="0"/>
              <a:t>2/21/2020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C5D5D3-3F9D-FA4B-A8B6-93B51E8C05E1}" type="slidenum">
              <a:rPr lang="en-US" smtClean="0"/>
              <a:t>‹#›</a:t>
            </a:fld>
            <a:endParaRPr lang="en-US"/>
          </a:p>
        </p:txBody>
      </p:sp>
    </p:spTree>
    <p:extLst>
      <p:ext uri="{BB962C8B-B14F-4D97-AF65-F5344CB8AC3E}">
        <p14:creationId xmlns:p14="http://schemas.microsoft.com/office/powerpoint/2010/main" val="125465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0D7CD08E-E32C-48E6-9170-87FCCD194831}" type="datetime1">
              <a:rPr lang="en-US" smtClean="0"/>
              <a:t>2/21/2020</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6C06D09E-813C-9342-A936-A0F7564955C1}" type="slidenum">
              <a:rPr lang="en-US" smtClean="0"/>
              <a:t>‹#›</a:t>
            </a:fld>
            <a:endParaRPr lang="en-US"/>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04581D7-6F82-47B9-87CF-FECA9C18AC15}" type="datetime1">
              <a:rPr lang="en-US" smtClean="0"/>
              <a:t>2/21/2020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lvl1pPr>
              <a:defRPr sz="1400">
                <a:solidFill>
                  <a:schemeClr val="tx1"/>
                </a:solidFill>
              </a:defRPr>
            </a:lvl1pPr>
            <a:extLst/>
          </a:lstStyle>
          <a:p>
            <a:fld id="{6C06D09E-813C-9342-A936-A0F7564955C1}"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F06DF26-A977-4408-827E-8BAA4D1852BD}" type="datetime1">
              <a:rPr lang="en-US" smtClean="0"/>
              <a:t>2/21/2020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C06D09E-813C-9342-A936-A0F7564955C1}" type="slidenum">
              <a:rPr lang="en-US" smtClean="0"/>
              <a:t>‹#›</a:t>
            </a:fld>
            <a:endParaRPr lang="en-US"/>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F8EEED8-7681-431C-A4DF-1028C43FA25E}" type="datetime1">
              <a:rPr lang="en-US" smtClean="0"/>
              <a:t>2/21/2020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C06D09E-813C-9342-A936-A0F7564955C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5D08FB6-CDB9-4748-88EF-385BDA4AFBA1}" type="datetime1">
              <a:rPr lang="en-US" smtClean="0"/>
              <a:t>2/21/2020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6C06D09E-813C-9342-A936-A0F7564955C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104ED54-9583-4391-8ED3-1591A15DD3BB}" type="datetime1">
              <a:rPr lang="en-US" smtClean="0"/>
              <a:t>2/21/2020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6C06D09E-813C-9342-A936-A0F7564955C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A29EB25-E3C4-4F47-BB04-4226AA63EC24}" type="datetime1">
              <a:rPr lang="en-US" smtClean="0"/>
              <a:t>2/21/2020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6C06D09E-813C-9342-A936-A0F7564955C1}" type="slidenum">
              <a:rPr lang="en-US" smtClean="0"/>
              <a:t>‹#›</a:t>
            </a:fld>
            <a:endParaRPr lang="en-US"/>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F20F8DA-A5FE-4EF5-8FA2-970E179B5AFF}" type="datetime1">
              <a:rPr lang="en-US" smtClean="0"/>
              <a:t>2/21/2020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C06D09E-813C-9342-A936-A0F7564955C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D5BE0112-60BE-49B3-A5D2-471C78545EEF}" type="datetime1">
              <a:rPr lang="en-US" smtClean="0"/>
              <a:t>2/21/2020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C06D09E-813C-9342-A936-A0F7564955C1}" type="slidenum">
              <a:rPr lang="en-US" smtClean="0"/>
              <a:t>‹#›</a:t>
            </a:fld>
            <a:endParaRPr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49B48BD-0791-4B90-BF4C-37E5BE4760BB}" type="datetime1">
              <a:rPr lang="en-US" smtClean="0"/>
              <a:t>2/21/2020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C06D09E-813C-9342-A936-A0F7564955C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524000" y="274641"/>
            <a:ext cx="7416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71B92958-9E96-406B-B58D-8041ADD1C3EF}" type="datetime1">
              <a:rPr lang="en-US" smtClean="0"/>
              <a:t>2/21/2020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C06D09E-813C-9342-A936-A0F7564955C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752EED85-6083-4636-89BD-DBE04ACABABC}" type="datetime1">
              <a:rPr lang="en-US" smtClean="0"/>
              <a:t>2/21/2020</a:t>
            </a:fld>
            <a:endParaRPr lang="en-US"/>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6C06D09E-813C-9342-A936-A0F7564955C1}" type="slidenum">
              <a:rPr lang="en-US" smtClean="0"/>
              <a:t>‹#›</a:t>
            </a:fld>
            <a:endParaRPr lang="en-US"/>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377877"/>
            <a:ext cx="9997440" cy="1143000"/>
          </a:xfrm>
        </p:spPr>
        <p:txBody>
          <a:bodyPr>
            <a:normAutofit fontScale="90000"/>
          </a:bodyPr>
          <a:lstStyle/>
          <a:p>
            <a:pPr algn="ctr"/>
            <a:r>
              <a:rPr lang="en-US" dirty="0" smtClean="0"/>
              <a:t>Week 19</a:t>
            </a:r>
            <a:br>
              <a:rPr lang="en-US" dirty="0" smtClean="0"/>
            </a:br>
            <a:r>
              <a:rPr lang="en-US" dirty="0" smtClean="0"/>
              <a:t>Simple Linear Regression(continuation)</a:t>
            </a:r>
            <a:endParaRPr lang="en-US" dirty="0"/>
          </a:p>
        </p:txBody>
      </p:sp>
      <p:sp>
        <p:nvSpPr>
          <p:cNvPr id="3" name="Content Placeholder 2"/>
          <p:cNvSpPr>
            <a:spLocks noGrp="1"/>
          </p:cNvSpPr>
          <p:nvPr>
            <p:ph idx="1"/>
          </p:nvPr>
        </p:nvSpPr>
        <p:spPr>
          <a:xfrm>
            <a:off x="1914144" y="1814052"/>
            <a:ext cx="9997440" cy="4434348"/>
          </a:xfrm>
        </p:spPr>
        <p:txBody>
          <a:bodyPr/>
          <a:lstStyle/>
          <a:p>
            <a:pPr marL="82296" indent="0">
              <a:buNone/>
            </a:pPr>
            <a:r>
              <a:rPr lang="en-US" u="sng" dirty="0" smtClean="0"/>
              <a:t>Topics to be covered:</a:t>
            </a:r>
          </a:p>
          <a:p>
            <a:r>
              <a:rPr lang="en-US" dirty="0" smtClean="0"/>
              <a:t>Main </a:t>
            </a:r>
            <a:r>
              <a:rPr lang="en-US" dirty="0" smtClean="0"/>
              <a:t>assumptions of simple linear regression</a:t>
            </a:r>
            <a:endParaRPr lang="en-US" dirty="0" smtClean="0"/>
          </a:p>
          <a:p>
            <a:r>
              <a:rPr lang="en-US" dirty="0" smtClean="0"/>
              <a:t>Coefficient of Determination (R</a:t>
            </a:r>
            <a:r>
              <a:rPr lang="en-US" baseline="30000" dirty="0" smtClean="0"/>
              <a:t>2</a:t>
            </a:r>
            <a:r>
              <a:rPr lang="en-US" dirty="0" smtClean="0"/>
              <a:t>)</a:t>
            </a:r>
          </a:p>
          <a:p>
            <a:r>
              <a:rPr lang="en-US" dirty="0" smtClean="0"/>
              <a:t>Confidence interval for regression coefficients</a:t>
            </a:r>
          </a:p>
          <a:p>
            <a:r>
              <a:rPr lang="en-US" dirty="0"/>
              <a:t>t</a:t>
            </a:r>
            <a:r>
              <a:rPr lang="en-US" dirty="0" smtClean="0"/>
              <a:t>-test for the slope</a:t>
            </a:r>
          </a:p>
          <a:p>
            <a:r>
              <a:rPr lang="en-US" dirty="0" smtClean="0"/>
              <a:t>F-test for overall significance of the model</a:t>
            </a:r>
          </a:p>
          <a:p>
            <a:pPr marL="82296" indent="0">
              <a:buNone/>
            </a:pPr>
            <a:r>
              <a:rPr lang="en-US" dirty="0" smtClean="0"/>
              <a:t>          </a:t>
            </a:r>
          </a:p>
          <a:p>
            <a:endParaRPr lang="en-US" dirty="0"/>
          </a:p>
        </p:txBody>
      </p:sp>
      <p:sp>
        <p:nvSpPr>
          <p:cNvPr id="4" name="Slide Number Placeholder 3"/>
          <p:cNvSpPr>
            <a:spLocks noGrp="1"/>
          </p:cNvSpPr>
          <p:nvPr>
            <p:ph type="sldNum" sz="quarter" idx="12"/>
          </p:nvPr>
        </p:nvSpPr>
        <p:spPr/>
        <p:txBody>
          <a:bodyPr/>
          <a:lstStyle/>
          <a:p>
            <a:fld id="{6C06D09E-813C-9342-A936-A0F7564955C1}" type="slidenum">
              <a:rPr lang="en-US" smtClean="0"/>
              <a:pPr/>
              <a:t>1</a:t>
            </a:fld>
            <a:endParaRPr lang="en-US" dirty="0"/>
          </a:p>
        </p:txBody>
      </p:sp>
    </p:spTree>
    <p:extLst>
      <p:ext uri="{BB962C8B-B14F-4D97-AF65-F5344CB8AC3E}">
        <p14:creationId xmlns:p14="http://schemas.microsoft.com/office/powerpoint/2010/main" val="12714222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8866927" cy="846239"/>
          </a:xfrm>
        </p:spPr>
        <p:txBody>
          <a:bodyPr>
            <a:normAutofit fontScale="90000"/>
          </a:bodyPr>
          <a:lstStyle/>
          <a:p>
            <a:pPr algn="ctr"/>
            <a:r>
              <a:rPr lang="en-US" sz="3200" b="1" dirty="0" smtClean="0"/>
              <a:t>Main assumptions of simple </a:t>
            </a:r>
            <a:r>
              <a:rPr lang="en-US" sz="3200" b="1" dirty="0"/>
              <a:t>linear regression </a:t>
            </a:r>
            <a:r>
              <a:rPr lang="en-US" sz="3200" b="1" dirty="0" smtClean="0"/>
              <a:t>model (Diagnostics)</a:t>
            </a:r>
            <a:endParaRPr lang="en-US" sz="3200" dirty="0"/>
          </a:p>
        </p:txBody>
      </p:sp>
      <p:sp>
        <p:nvSpPr>
          <p:cNvPr id="3" name="Content Placeholder 2"/>
          <p:cNvSpPr>
            <a:spLocks noGrp="1"/>
          </p:cNvSpPr>
          <p:nvPr>
            <p:ph idx="1"/>
          </p:nvPr>
        </p:nvSpPr>
        <p:spPr>
          <a:xfrm>
            <a:off x="1460090" y="1342103"/>
            <a:ext cx="10451494" cy="4906297"/>
          </a:xfrm>
        </p:spPr>
        <p:txBody>
          <a:bodyPr/>
          <a:lstStyle/>
          <a:p>
            <a:r>
              <a:rPr lang="en-US" sz="2400" b="1" dirty="0"/>
              <a:t>Linearity</a:t>
            </a:r>
            <a:r>
              <a:rPr lang="en-US" sz="2400" dirty="0"/>
              <a:t>: The relationship between X and the mean of </a:t>
            </a:r>
            <a:r>
              <a:rPr lang="en-US" sz="2400" dirty="0" smtClean="0"/>
              <a:t> Y </a:t>
            </a:r>
            <a:r>
              <a:rPr lang="en-US" sz="2400" dirty="0"/>
              <a:t>is linear</a:t>
            </a:r>
            <a:r>
              <a:rPr lang="en-US" sz="2400" dirty="0" smtClean="0"/>
              <a:t>.</a:t>
            </a:r>
          </a:p>
          <a:p>
            <a:pPr marL="82296" indent="0">
              <a:buNone/>
            </a:pPr>
            <a:r>
              <a:rPr lang="en-US" sz="2400" dirty="0" smtClean="0"/>
              <a:t>(Scatter </a:t>
            </a:r>
            <a:r>
              <a:rPr lang="en-US" sz="2400" dirty="0"/>
              <a:t>plot</a:t>
            </a:r>
            <a:r>
              <a:rPr lang="en-US" sz="2400" dirty="0" smtClean="0"/>
              <a:t>)</a:t>
            </a:r>
            <a:endParaRPr lang="en-US" sz="2400" dirty="0"/>
          </a:p>
          <a:p>
            <a:r>
              <a:rPr lang="en-US" sz="2400" b="1" dirty="0"/>
              <a:t>Homoscedasticity</a:t>
            </a:r>
            <a:r>
              <a:rPr lang="en-US" sz="2400" dirty="0"/>
              <a:t>: The variance of residual is the same for any value of X</a:t>
            </a:r>
            <a:r>
              <a:rPr lang="en-US" sz="2400" dirty="0" smtClean="0"/>
              <a:t>.</a:t>
            </a:r>
          </a:p>
          <a:p>
            <a:pPr marL="82296" indent="0">
              <a:buNone/>
            </a:pPr>
            <a:r>
              <a:rPr lang="en-US" sz="2400" dirty="0" smtClean="0"/>
              <a:t>(</a:t>
            </a:r>
            <a:r>
              <a:rPr lang="en-US" sz="2400" dirty="0"/>
              <a:t>R</a:t>
            </a:r>
            <a:r>
              <a:rPr lang="en-US" sz="2400" dirty="0" smtClean="0"/>
              <a:t>esidual plot)</a:t>
            </a:r>
            <a:endParaRPr lang="en-US" sz="2400" dirty="0"/>
          </a:p>
          <a:p>
            <a:r>
              <a:rPr lang="en-US" sz="2400" b="1" dirty="0"/>
              <a:t>Independence</a:t>
            </a:r>
            <a:r>
              <a:rPr lang="en-US" sz="2400" dirty="0"/>
              <a:t>: Observations are independent of each other</a:t>
            </a:r>
            <a:r>
              <a:rPr lang="en-US" sz="2400" dirty="0" smtClean="0"/>
              <a:t>.</a:t>
            </a:r>
          </a:p>
          <a:p>
            <a:pPr marL="82296" indent="0">
              <a:buNone/>
            </a:pPr>
            <a:r>
              <a:rPr lang="en-US" sz="2400" dirty="0" smtClean="0"/>
              <a:t>(Cross-sectional </a:t>
            </a:r>
            <a:r>
              <a:rPr lang="en-US" sz="2400" dirty="0" err="1" smtClean="0"/>
              <a:t>vs</a:t>
            </a:r>
            <a:r>
              <a:rPr lang="en-US" sz="2400" dirty="0" smtClean="0"/>
              <a:t> Time-series data)</a:t>
            </a:r>
            <a:endParaRPr lang="en-US" sz="2400" dirty="0"/>
          </a:p>
          <a:p>
            <a:r>
              <a:rPr lang="en-US" sz="2400" b="1" dirty="0"/>
              <a:t>Normality</a:t>
            </a:r>
            <a:r>
              <a:rPr lang="en-US" sz="2400" dirty="0"/>
              <a:t>: For any fixed value of X, Y is normally distributed.</a:t>
            </a:r>
          </a:p>
          <a:p>
            <a:pPr marL="82296" indent="0">
              <a:buNone/>
            </a:pPr>
            <a:r>
              <a:rPr lang="en-US" sz="2400" dirty="0"/>
              <a:t>(Normality </a:t>
            </a:r>
            <a:r>
              <a:rPr lang="en-US" sz="2400" dirty="0" smtClean="0"/>
              <a:t>plot,  histogram of residuals)</a:t>
            </a:r>
            <a:endParaRPr lang="en-US" sz="2400" dirty="0"/>
          </a:p>
        </p:txBody>
      </p:sp>
      <p:sp>
        <p:nvSpPr>
          <p:cNvPr id="4" name="Slide Number Placeholder 3"/>
          <p:cNvSpPr>
            <a:spLocks noGrp="1"/>
          </p:cNvSpPr>
          <p:nvPr>
            <p:ph type="sldNum" sz="quarter" idx="12"/>
          </p:nvPr>
        </p:nvSpPr>
        <p:spPr/>
        <p:txBody>
          <a:bodyPr/>
          <a:lstStyle/>
          <a:p>
            <a:fld id="{6C06D09E-813C-9342-A936-A0F7564955C1}" type="slidenum">
              <a:rPr lang="en-US" smtClean="0"/>
              <a:pPr/>
              <a:t>2</a:t>
            </a:fld>
            <a:endParaRPr lang="en-US" dirty="0"/>
          </a:p>
        </p:txBody>
      </p:sp>
    </p:spTree>
    <p:extLst>
      <p:ext uri="{BB962C8B-B14F-4D97-AF65-F5344CB8AC3E}">
        <p14:creationId xmlns:p14="http://schemas.microsoft.com/office/powerpoint/2010/main" val="151877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4289"/>
            <a:ext cx="10515600" cy="784802"/>
          </a:xfrm>
        </p:spPr>
        <p:txBody>
          <a:bodyPr>
            <a:normAutofit/>
          </a:bodyPr>
          <a:lstStyle/>
          <a:p>
            <a:pPr algn="ctr"/>
            <a:r>
              <a:rPr lang="en-US" sz="2800" b="1" dirty="0" smtClean="0"/>
              <a:t>Coefficient of Determination (R Squared)</a:t>
            </a:r>
            <a:endParaRPr lang="en-US" sz="2800" b="1" dirty="0"/>
          </a:p>
        </p:txBody>
      </p:sp>
      <p:sp>
        <p:nvSpPr>
          <p:cNvPr id="3" name="Content Placeholder 2"/>
          <p:cNvSpPr>
            <a:spLocks noGrp="1"/>
          </p:cNvSpPr>
          <p:nvPr>
            <p:ph idx="1"/>
          </p:nvPr>
        </p:nvSpPr>
        <p:spPr>
          <a:xfrm>
            <a:off x="1530373" y="1108364"/>
            <a:ext cx="9954491" cy="5555671"/>
          </a:xfrm>
        </p:spPr>
        <p:txBody>
          <a:bodyPr/>
          <a:lstStyle/>
          <a:p>
            <a:endParaRPr lang="en-US" sz="2000" dirty="0"/>
          </a:p>
          <a:p>
            <a:endParaRPr lang="en-US" sz="2000" dirty="0" smtClean="0"/>
          </a:p>
          <a:p>
            <a:pPr marL="0" indent="0">
              <a:buNone/>
            </a:pPr>
            <a:endParaRPr lang="en-US" sz="2000" dirty="0"/>
          </a:p>
        </p:txBody>
      </p:sp>
      <p:sp>
        <p:nvSpPr>
          <p:cNvPr id="5" name="Slide Number Placeholder 4"/>
          <p:cNvSpPr>
            <a:spLocks noGrp="1"/>
          </p:cNvSpPr>
          <p:nvPr>
            <p:ph type="sldNum" sz="quarter" idx="12"/>
          </p:nvPr>
        </p:nvSpPr>
        <p:spPr/>
        <p:txBody>
          <a:bodyPr/>
          <a:lstStyle/>
          <a:p>
            <a:fld id="{6C06D09E-813C-9342-A936-A0F7564955C1}" type="slidenum">
              <a:rPr lang="en-US" smtClean="0"/>
              <a:t>3</a:t>
            </a:fld>
            <a:endParaRPr lang="en-US"/>
          </a:p>
        </p:txBody>
      </p:sp>
      <p:sp>
        <p:nvSpPr>
          <p:cNvPr id="6" name="Rectangle 5"/>
          <p:cNvSpPr/>
          <p:nvPr/>
        </p:nvSpPr>
        <p:spPr>
          <a:xfrm>
            <a:off x="1662546" y="1385456"/>
            <a:ext cx="9822318" cy="5047536"/>
          </a:xfrm>
          <a:prstGeom prst="rect">
            <a:avLst/>
          </a:prstGeom>
        </p:spPr>
        <p:txBody>
          <a:bodyPr wrap="square">
            <a:spAutoFit/>
          </a:bodyPr>
          <a:lstStyle/>
          <a:p>
            <a:r>
              <a:rPr lang="en-US" sz="2400" dirty="0" smtClean="0"/>
              <a:t>R-squared (R</a:t>
            </a:r>
            <a:r>
              <a:rPr lang="en-US" sz="2400" baseline="30000" dirty="0" smtClean="0"/>
              <a:t>2</a:t>
            </a:r>
            <a:r>
              <a:rPr lang="en-US" sz="2400" dirty="0" smtClean="0"/>
              <a:t>) </a:t>
            </a:r>
            <a:r>
              <a:rPr lang="en-US" sz="2400" dirty="0"/>
              <a:t>is a statistical measure of how close the data are to the fitted regression line. It is also known as the coefficient of determination, or the coefficient of multiple determination for multiple regression</a:t>
            </a:r>
            <a:r>
              <a:rPr lang="en-US" sz="2400" dirty="0" smtClean="0"/>
              <a:t>.</a:t>
            </a:r>
          </a:p>
          <a:p>
            <a:endParaRPr lang="en-US" sz="2400" dirty="0" smtClean="0"/>
          </a:p>
          <a:p>
            <a:pPr algn="ctr"/>
            <a:r>
              <a:rPr lang="en-US" sz="2400" dirty="0" smtClean="0"/>
              <a:t>R</a:t>
            </a:r>
            <a:r>
              <a:rPr lang="en-US" sz="2400" baseline="30000" dirty="0" smtClean="0"/>
              <a:t>2 </a:t>
            </a:r>
            <a:r>
              <a:rPr lang="en-US" sz="2400" dirty="0" smtClean="0"/>
              <a:t>= r</a:t>
            </a:r>
            <a:r>
              <a:rPr lang="en-US" sz="2400" baseline="30000" dirty="0" smtClean="0"/>
              <a:t>2 </a:t>
            </a:r>
            <a:r>
              <a:rPr lang="en-US" sz="2400" dirty="0" smtClean="0"/>
              <a:t>( square of correlation coefficient)= SSR/SST</a:t>
            </a:r>
          </a:p>
          <a:p>
            <a:pPr algn="ctr"/>
            <a:endParaRPr lang="en-US" sz="2400" baseline="30000" dirty="0" smtClean="0"/>
          </a:p>
          <a:p>
            <a:r>
              <a:rPr lang="en-US" dirty="0"/>
              <a:t>  </a:t>
            </a:r>
            <a:r>
              <a:rPr lang="en-US" sz="2400" dirty="0"/>
              <a:t>R</a:t>
            </a:r>
            <a:r>
              <a:rPr lang="en-US" sz="2400" baseline="30000" dirty="0"/>
              <a:t>2</a:t>
            </a:r>
            <a:r>
              <a:rPr lang="en-US" sz="2400" dirty="0"/>
              <a:t> </a:t>
            </a:r>
            <a:r>
              <a:rPr lang="en-US" sz="2400" dirty="0" smtClean="0"/>
              <a:t>is </a:t>
            </a:r>
            <a:r>
              <a:rPr lang="en-US" sz="2400" dirty="0"/>
              <a:t>the proportion of the variance in the dependent variable that is predictable from the independent variable(s)</a:t>
            </a:r>
            <a:r>
              <a:rPr lang="en-US" sz="2400" dirty="0" smtClean="0"/>
              <a:t>. </a:t>
            </a:r>
          </a:p>
          <a:p>
            <a:endParaRPr lang="en-US" dirty="0" smtClean="0"/>
          </a:p>
          <a:p>
            <a:r>
              <a:rPr lang="en-US" sz="2400" dirty="0"/>
              <a:t>R-squared is always between 0 and </a:t>
            </a:r>
            <a:r>
              <a:rPr lang="en-US" sz="2400" dirty="0" smtClean="0"/>
              <a:t>1 (or 0 and 100%):</a:t>
            </a:r>
            <a:endParaRPr lang="en-US" sz="2400" dirty="0"/>
          </a:p>
          <a:p>
            <a:r>
              <a:rPr lang="en-US" sz="2400" dirty="0"/>
              <a:t>0% indicates that the model explains none of the variability of the response data around its mean.</a:t>
            </a:r>
          </a:p>
          <a:p>
            <a:r>
              <a:rPr lang="en-US" sz="2400" dirty="0"/>
              <a:t>100% indicates that the model explains all the variability of the response data around its mean</a:t>
            </a:r>
            <a:r>
              <a:rPr lang="en-US" sz="2400" dirty="0" smtClean="0"/>
              <a:t>.</a:t>
            </a:r>
            <a:endParaRPr lang="en-US" sz="2400" dirty="0"/>
          </a:p>
        </p:txBody>
      </p:sp>
      <p:sp>
        <p:nvSpPr>
          <p:cNvPr id="4" name="Rectangle 3"/>
          <p:cNvSpPr/>
          <p:nvPr/>
        </p:nvSpPr>
        <p:spPr>
          <a:xfrm>
            <a:off x="3037114" y="2694214"/>
            <a:ext cx="6939643" cy="7184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59633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932" y="274638"/>
            <a:ext cx="10293652" cy="677084"/>
          </a:xfrm>
        </p:spPr>
        <p:txBody>
          <a:bodyPr>
            <a:noAutofit/>
          </a:bodyPr>
          <a:lstStyle/>
          <a:p>
            <a:r>
              <a:rPr lang="en-US" sz="2400" dirty="0" smtClean="0"/>
              <a:t>Misconception 1:  A </a:t>
            </a:r>
            <a:r>
              <a:rPr lang="en-US" sz="2400" dirty="0"/>
              <a:t>high </a:t>
            </a:r>
            <a:r>
              <a:rPr lang="en-US" sz="2400" dirty="0" smtClean="0"/>
              <a:t>R</a:t>
            </a:r>
            <a:r>
              <a:rPr lang="en-US" sz="2400" baseline="30000" dirty="0" smtClean="0"/>
              <a:t>2 </a:t>
            </a:r>
            <a:r>
              <a:rPr lang="en-US" sz="2400" dirty="0" smtClean="0"/>
              <a:t>indicates </a:t>
            </a:r>
            <a:r>
              <a:rPr lang="en-US" sz="2400" dirty="0"/>
              <a:t>that the estimated regression line is a good </a:t>
            </a:r>
            <a:r>
              <a:rPr lang="en-US" sz="2400" dirty="0" smtClean="0"/>
              <a:t>fit.</a:t>
            </a:r>
            <a:endParaRPr lang="en-US" sz="2400" dirty="0"/>
          </a:p>
        </p:txBody>
      </p:sp>
      <p:sp>
        <p:nvSpPr>
          <p:cNvPr id="4" name="Slide Number Placeholder 3"/>
          <p:cNvSpPr>
            <a:spLocks noGrp="1"/>
          </p:cNvSpPr>
          <p:nvPr>
            <p:ph type="sldNum" sz="quarter" idx="12"/>
          </p:nvPr>
        </p:nvSpPr>
        <p:spPr/>
        <p:txBody>
          <a:bodyPr/>
          <a:lstStyle/>
          <a:p>
            <a:fld id="{6C06D09E-813C-9342-A936-A0F7564955C1}" type="slidenum">
              <a:rPr lang="en-US" smtClean="0"/>
              <a:pPr/>
              <a:t>4</a:t>
            </a:fld>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0993" y="2580402"/>
            <a:ext cx="5033113" cy="4189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617932" y="2021665"/>
            <a:ext cx="4876173" cy="369332"/>
          </a:xfrm>
          <a:prstGeom prst="rect">
            <a:avLst/>
          </a:prstGeom>
          <a:noFill/>
        </p:spPr>
        <p:txBody>
          <a:bodyPr wrap="square" rtlCol="0">
            <a:spAutoFit/>
          </a:bodyPr>
          <a:lstStyle/>
          <a:p>
            <a:r>
              <a:rPr lang="en-US" dirty="0" smtClean="0"/>
              <a:t>R</a:t>
            </a:r>
            <a:r>
              <a:rPr lang="en-US" baseline="30000" dirty="0" smtClean="0"/>
              <a:t>2</a:t>
            </a:r>
            <a:r>
              <a:rPr lang="en-US" dirty="0" smtClean="0"/>
              <a:t> = 0.76 (Straight line is not good fit)</a:t>
            </a:r>
            <a:endParaRPr lang="en-US" dirty="0"/>
          </a:p>
        </p:txBody>
      </p:sp>
      <p:sp>
        <p:nvSpPr>
          <p:cNvPr id="7" name="TextBox 6"/>
          <p:cNvSpPr txBox="1"/>
          <p:nvPr/>
        </p:nvSpPr>
        <p:spPr>
          <a:xfrm>
            <a:off x="6651046" y="2044600"/>
            <a:ext cx="5262465" cy="369332"/>
          </a:xfrm>
          <a:prstGeom prst="rect">
            <a:avLst/>
          </a:prstGeom>
          <a:noFill/>
        </p:spPr>
        <p:txBody>
          <a:bodyPr wrap="square" rtlCol="0">
            <a:spAutoFit/>
          </a:bodyPr>
          <a:lstStyle/>
          <a:p>
            <a:r>
              <a:rPr lang="en-US" dirty="0" smtClean="0"/>
              <a:t>R</a:t>
            </a:r>
            <a:r>
              <a:rPr lang="en-US" baseline="30000" dirty="0" smtClean="0"/>
              <a:t>2</a:t>
            </a:r>
            <a:r>
              <a:rPr lang="en-US" dirty="0" smtClean="0"/>
              <a:t> = 0.04 (But strong relation bet.  X and Y)</a:t>
            </a:r>
            <a:endParaRPr lang="en-US" dirty="0"/>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1046" y="2615812"/>
            <a:ext cx="5057678" cy="4189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p:cNvSpPr txBox="1">
            <a:spLocks/>
          </p:cNvSpPr>
          <p:nvPr/>
        </p:nvSpPr>
        <p:spPr>
          <a:xfrm>
            <a:off x="1617932" y="1026366"/>
            <a:ext cx="10293652" cy="677084"/>
          </a:xfrm>
          <a:prstGeom prst="rect">
            <a:avLst/>
          </a:prstGeom>
        </p:spPr>
        <p:txBody>
          <a:bodyPr anchor="ctr">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sz="2400" dirty="0" smtClean="0"/>
              <a:t>Misconception 2</a:t>
            </a:r>
            <a:r>
              <a:rPr lang="en-US" sz="2400" dirty="0"/>
              <a:t>: </a:t>
            </a:r>
            <a:r>
              <a:rPr lang="en-US" sz="2400" dirty="0" smtClean="0"/>
              <a:t> R</a:t>
            </a:r>
            <a:r>
              <a:rPr lang="en-US" sz="2400" baseline="30000" dirty="0" smtClean="0"/>
              <a:t>2  </a:t>
            </a:r>
            <a:r>
              <a:rPr lang="en-US" sz="2400" dirty="0" smtClean="0"/>
              <a:t>near </a:t>
            </a:r>
            <a:r>
              <a:rPr lang="en-US" sz="2400" dirty="0"/>
              <a:t>zero indicates that X and Y are not related.</a:t>
            </a:r>
          </a:p>
        </p:txBody>
      </p:sp>
      <p:cxnSp>
        <p:nvCxnSpPr>
          <p:cNvPr id="9" name="Elbow Connector 8"/>
          <p:cNvCxnSpPr>
            <a:stCxn id="2" idx="1"/>
            <a:endCxn id="1026" idx="1"/>
          </p:cNvCxnSpPr>
          <p:nvPr/>
        </p:nvCxnSpPr>
        <p:spPr>
          <a:xfrm rot="10800000" flipV="1">
            <a:off x="1460994" y="613180"/>
            <a:ext cx="156939" cy="4062180"/>
          </a:xfrm>
          <a:prstGeom prst="bentConnector3">
            <a:avLst>
              <a:gd name="adj1" fmla="val 24566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Elbow Connector 21"/>
          <p:cNvCxnSpPr>
            <a:endCxn id="1028" idx="3"/>
          </p:cNvCxnSpPr>
          <p:nvPr/>
        </p:nvCxnSpPr>
        <p:spPr>
          <a:xfrm rot="16200000" flipH="1">
            <a:off x="9425235" y="2427281"/>
            <a:ext cx="3345862" cy="1221116"/>
          </a:xfrm>
          <a:prstGeom prst="bentConnector4">
            <a:avLst>
              <a:gd name="adj1" fmla="val -270"/>
              <a:gd name="adj2" fmla="val 11872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2104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Confidence intervals for regression coefficients</a:t>
            </a:r>
            <a:endParaRPr lang="en-US" sz="32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82296" indent="0">
                  <a:buNone/>
                </a:pPr>
                <a:r>
                  <a:rPr lang="en-US" sz="2800" dirty="0" smtClean="0">
                    <a:latin typeface="Times New Roman" pitchFamily="18" charset="0"/>
                    <a:cs typeface="Times New Roman" pitchFamily="18" charset="0"/>
                  </a:rPr>
                  <a:t>(1-</a:t>
                </a:r>
                <a:r>
                  <a:rPr lang="el-GR" sz="2800" dirty="0" smtClean="0">
                    <a:latin typeface="Times New Roman" pitchFamily="18" charset="0"/>
                    <a:cs typeface="Times New Roman" pitchFamily="18" charset="0"/>
                  </a:rPr>
                  <a:t>α</a:t>
                </a:r>
                <a:r>
                  <a:rPr lang="en-US" sz="2800" dirty="0" smtClean="0">
                    <a:latin typeface="Times New Roman" pitchFamily="18" charset="0"/>
                    <a:cs typeface="Times New Roman" pitchFamily="18" charset="0"/>
                  </a:rPr>
                  <a:t>)% confidence interval for the intercept, </a:t>
                </a:r>
                <a:r>
                  <a:rPr lang="en-US" sz="2800" dirty="0" smtClean="0">
                    <a:solidFill>
                      <a:srgbClr val="0070C0"/>
                    </a:solidFill>
                    <a:latin typeface="Times New Roman" pitchFamily="18" charset="0"/>
                    <a:cs typeface="Times New Roman" pitchFamily="18" charset="0"/>
                  </a:rPr>
                  <a:t>β</a:t>
                </a:r>
                <a:r>
                  <a:rPr lang="en-US" sz="2800" baseline="-25000" dirty="0" smtClean="0">
                    <a:solidFill>
                      <a:srgbClr val="0070C0"/>
                    </a:solidFill>
                    <a:latin typeface="Times New Roman" pitchFamily="18" charset="0"/>
                    <a:cs typeface="Times New Roman" pitchFamily="18" charset="0"/>
                  </a:rPr>
                  <a:t>0 </a:t>
                </a:r>
                <a:r>
                  <a:rPr lang="en-US" sz="2800" dirty="0" smtClean="0">
                    <a:latin typeface="Times New Roman" pitchFamily="18" charset="0"/>
                    <a:cs typeface="Times New Roman" pitchFamily="18" charset="0"/>
                  </a:rPr>
                  <a:t>:</a:t>
                </a:r>
              </a:p>
              <a:p>
                <a:pPr marL="82296" indent="0" algn="ctr">
                  <a:buNone/>
                </a:pPr>
                <a:r>
                  <a:rPr lang="en-US" sz="2800" dirty="0">
                    <a:latin typeface="Times New Roman" pitchFamily="18" charset="0"/>
                    <a:cs typeface="Times New Roman" pitchFamily="18" charset="0"/>
                  </a:rPr>
                  <a:t>b</a:t>
                </a:r>
                <a:r>
                  <a:rPr lang="en-US" sz="2800" baseline="-25000" dirty="0">
                    <a:latin typeface="Times New Roman" pitchFamily="18" charset="0"/>
                    <a:cs typeface="Times New Roman" pitchFamily="18" charset="0"/>
                  </a:rPr>
                  <a:t>0 </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t*SE</a:t>
                </a:r>
                <a:r>
                  <a:rPr lang="en-US" sz="2800" baseline="-25000" dirty="0" smtClean="0">
                    <a:latin typeface="Times New Roman" pitchFamily="18" charset="0"/>
                    <a:cs typeface="Times New Roman" pitchFamily="18" charset="0"/>
                  </a:rPr>
                  <a:t>b0                  </a:t>
                </a:r>
                <a14:m>
                  <m:oMath xmlns:m="http://schemas.openxmlformats.org/officeDocument/2006/math">
                    <m:sSub>
                      <m:sSubPr>
                        <m:ctrlPr>
                          <a:rPr lang="en-US" sz="2800" i="1">
                            <a:latin typeface="Cambria Math"/>
                          </a:rPr>
                        </m:ctrlPr>
                      </m:sSubPr>
                      <m:e>
                        <m:r>
                          <m:rPr>
                            <m:sty m:val="p"/>
                          </m:rPr>
                          <a:rPr lang="en-US" sz="2800">
                            <a:latin typeface="Cambria Math"/>
                          </a:rPr>
                          <m:t>SE</m:t>
                        </m:r>
                      </m:e>
                      <m:sub>
                        <m:sSub>
                          <m:sSubPr>
                            <m:ctrlPr>
                              <a:rPr lang="en-US" sz="2800" i="1">
                                <a:latin typeface="Cambria Math"/>
                              </a:rPr>
                            </m:ctrlPr>
                          </m:sSubPr>
                          <m:e>
                            <m:r>
                              <m:rPr>
                                <m:sty m:val="p"/>
                              </m:rPr>
                              <a:rPr lang="en-US" sz="2800">
                                <a:latin typeface="Cambria Math"/>
                              </a:rPr>
                              <m:t>b</m:t>
                            </m:r>
                          </m:e>
                          <m:sub>
                            <m:r>
                              <a:rPr lang="en-US" sz="2800">
                                <a:latin typeface="Cambria Math"/>
                              </a:rPr>
                              <m:t>0</m:t>
                            </m:r>
                          </m:sub>
                        </m:sSub>
                      </m:sub>
                    </m:sSub>
                  </m:oMath>
                </a14:m>
                <a:r>
                  <a:rPr lang="en-US" sz="2800" dirty="0"/>
                  <a:t> = </a:t>
                </a:r>
                <a14:m>
                  <m:oMath xmlns:m="http://schemas.openxmlformats.org/officeDocument/2006/math">
                    <m:rad>
                      <m:radPr>
                        <m:degHide m:val="on"/>
                        <m:ctrlPr>
                          <a:rPr lang="en-US" sz="2800" i="1">
                            <a:latin typeface="Cambria Math"/>
                          </a:rPr>
                        </m:ctrlPr>
                      </m:radPr>
                      <m:deg/>
                      <m:e>
                        <m:r>
                          <m:rPr>
                            <m:sty m:val="p"/>
                          </m:rPr>
                          <a:rPr lang="en-US" sz="2800">
                            <a:latin typeface="Cambria Math"/>
                          </a:rPr>
                          <m:t>MSE</m:t>
                        </m:r>
                        <m:r>
                          <a:rPr lang="en-US" sz="2800">
                            <a:latin typeface="Cambria Math"/>
                          </a:rPr>
                          <m:t>( </m:t>
                        </m:r>
                        <m:f>
                          <m:fPr>
                            <m:ctrlPr>
                              <a:rPr lang="en-US" sz="2800" i="1">
                                <a:latin typeface="Cambria Math"/>
                              </a:rPr>
                            </m:ctrlPr>
                          </m:fPr>
                          <m:num>
                            <m:r>
                              <a:rPr lang="en-US" sz="2800">
                                <a:latin typeface="Cambria Math"/>
                              </a:rPr>
                              <m:t>1</m:t>
                            </m:r>
                          </m:num>
                          <m:den>
                            <m:r>
                              <m:rPr>
                                <m:sty m:val="p"/>
                              </m:rPr>
                              <a:rPr lang="en-US" sz="2800">
                                <a:latin typeface="Cambria Math"/>
                              </a:rPr>
                              <m:t>n</m:t>
                            </m:r>
                          </m:den>
                        </m:f>
                        <m:r>
                          <a:rPr lang="en-US" sz="2800">
                            <a:latin typeface="Cambria Math"/>
                          </a:rPr>
                          <m:t>+ </m:t>
                        </m:r>
                        <m:f>
                          <m:fPr>
                            <m:ctrlPr>
                              <a:rPr lang="en-US" sz="2800" i="1">
                                <a:latin typeface="Cambria Math"/>
                              </a:rPr>
                            </m:ctrlPr>
                          </m:fPr>
                          <m:num>
                            <m:sSup>
                              <m:sSupPr>
                                <m:ctrlPr>
                                  <a:rPr lang="en-US" sz="2800" i="1">
                                    <a:latin typeface="Cambria Math"/>
                                  </a:rPr>
                                </m:ctrlPr>
                              </m:sSupPr>
                              <m:e>
                                <m:acc>
                                  <m:accPr>
                                    <m:chr m:val="̅"/>
                                    <m:ctrlPr>
                                      <a:rPr lang="en-US" sz="2800" i="1">
                                        <a:latin typeface="Cambria Math"/>
                                      </a:rPr>
                                    </m:ctrlPr>
                                  </m:accPr>
                                  <m:e>
                                    <m:r>
                                      <m:rPr>
                                        <m:sty m:val="p"/>
                                      </m:rPr>
                                      <a:rPr lang="en-US" sz="2800">
                                        <a:latin typeface="Cambria Math"/>
                                      </a:rPr>
                                      <m:t>x</m:t>
                                    </m:r>
                                  </m:e>
                                </m:acc>
                              </m:e>
                              <m:sup>
                                <m:r>
                                  <a:rPr lang="en-US" sz="2800">
                                    <a:latin typeface="Cambria Math"/>
                                  </a:rPr>
                                  <m:t>2</m:t>
                                </m:r>
                              </m:sup>
                            </m:sSup>
                          </m:num>
                          <m:den>
                            <m:nary>
                              <m:naryPr>
                                <m:chr m:val="∑"/>
                                <m:limLoc m:val="undOvr"/>
                                <m:subHide m:val="on"/>
                                <m:supHide m:val="on"/>
                                <m:ctrlPr>
                                  <a:rPr lang="en-US" sz="2800" i="1">
                                    <a:latin typeface="Cambria Math"/>
                                  </a:rPr>
                                </m:ctrlPr>
                              </m:naryPr>
                              <m:sub/>
                              <m:sup/>
                              <m:e>
                                <m:sSup>
                                  <m:sSupPr>
                                    <m:ctrlPr>
                                      <a:rPr lang="en-US" sz="2800" i="1">
                                        <a:latin typeface="Cambria Math"/>
                                      </a:rPr>
                                    </m:ctrlPr>
                                  </m:sSupPr>
                                  <m:e>
                                    <m:d>
                                      <m:dPr>
                                        <m:ctrlPr>
                                          <a:rPr lang="en-US" sz="2800" i="1">
                                            <a:latin typeface="Cambria Math"/>
                                          </a:rPr>
                                        </m:ctrlPr>
                                      </m:dPr>
                                      <m:e>
                                        <m:sSub>
                                          <m:sSubPr>
                                            <m:ctrlPr>
                                              <a:rPr lang="en-US" sz="2800" i="1">
                                                <a:latin typeface="Cambria Math"/>
                                              </a:rPr>
                                            </m:ctrlPr>
                                          </m:sSubPr>
                                          <m:e>
                                            <m:r>
                                              <m:rPr>
                                                <m:sty m:val="p"/>
                                              </m:rPr>
                                              <a:rPr lang="en-US" sz="2800">
                                                <a:latin typeface="Cambria Math"/>
                                              </a:rPr>
                                              <m:t>x</m:t>
                                            </m:r>
                                          </m:e>
                                          <m:sub>
                                            <m:r>
                                              <m:rPr>
                                                <m:sty m:val="p"/>
                                              </m:rPr>
                                              <a:rPr lang="en-US" sz="2800">
                                                <a:latin typeface="Cambria Math"/>
                                              </a:rPr>
                                              <m:t>i</m:t>
                                            </m:r>
                                          </m:sub>
                                        </m:sSub>
                                        <m:r>
                                          <a:rPr lang="en-US" sz="2800" i="1">
                                            <a:latin typeface="Cambria Math"/>
                                          </a:rPr>
                                          <m:t>−</m:t>
                                        </m:r>
                                        <m:r>
                                          <a:rPr lang="en-US" sz="2800">
                                            <a:latin typeface="Cambria Math"/>
                                          </a:rPr>
                                          <m:t> </m:t>
                                        </m:r>
                                        <m:acc>
                                          <m:accPr>
                                            <m:chr m:val="̅"/>
                                            <m:ctrlPr>
                                              <a:rPr lang="en-US" sz="2800" i="1">
                                                <a:latin typeface="Cambria Math"/>
                                              </a:rPr>
                                            </m:ctrlPr>
                                          </m:accPr>
                                          <m:e>
                                            <m:r>
                                              <m:rPr>
                                                <m:sty m:val="p"/>
                                              </m:rPr>
                                              <a:rPr lang="en-US" sz="2800">
                                                <a:latin typeface="Cambria Math"/>
                                              </a:rPr>
                                              <m:t>x</m:t>
                                            </m:r>
                                          </m:e>
                                        </m:acc>
                                      </m:e>
                                    </m:d>
                                  </m:e>
                                  <m:sup>
                                    <m:r>
                                      <a:rPr lang="en-US" sz="2800">
                                        <a:latin typeface="Cambria Math"/>
                                      </a:rPr>
                                      <m:t>2</m:t>
                                    </m:r>
                                  </m:sup>
                                </m:sSup>
                              </m:e>
                            </m:nary>
                          </m:den>
                        </m:f>
                        <m:r>
                          <a:rPr lang="en-US" sz="2800" i="1">
                            <a:latin typeface="Cambria Math"/>
                          </a:rPr>
                          <m:t> )</m:t>
                        </m:r>
                      </m:e>
                    </m:rad>
                  </m:oMath>
                </a14:m>
                <a:endParaRPr lang="en-US" sz="2800" dirty="0"/>
              </a:p>
              <a:p>
                <a:pPr marL="82296" indent="0" algn="ctr">
                  <a:buNone/>
                </a:pPr>
                <a:endParaRPr lang="en-US" sz="2800" baseline="-25000" dirty="0" smtClean="0">
                  <a:latin typeface="Times New Roman" pitchFamily="18" charset="0"/>
                  <a:cs typeface="Times New Roman" pitchFamily="18" charset="0"/>
                </a:endParaRPr>
              </a:p>
              <a:p>
                <a:pPr marL="82296" indent="0" algn="ctr">
                  <a:buNone/>
                </a:pPr>
                <a:endParaRPr lang="en-US" sz="2800" baseline="-25000" dirty="0" smtClean="0">
                  <a:latin typeface="Times New Roman" pitchFamily="18" charset="0"/>
                  <a:cs typeface="Times New Roman" pitchFamily="18" charset="0"/>
                </a:endParaRPr>
              </a:p>
              <a:p>
                <a:pPr marL="82296" indent="0">
                  <a:buNone/>
                </a:pPr>
                <a:r>
                  <a:rPr lang="en-US" sz="2800" dirty="0">
                    <a:latin typeface="Times New Roman" pitchFamily="18" charset="0"/>
                    <a:cs typeface="Times New Roman" pitchFamily="18" charset="0"/>
                  </a:rPr>
                  <a:t>(1-</a:t>
                </a:r>
                <a:r>
                  <a:rPr lang="el-GR" sz="2800" dirty="0">
                    <a:latin typeface="Times New Roman" pitchFamily="18" charset="0"/>
                    <a:cs typeface="Times New Roman" pitchFamily="18" charset="0"/>
                  </a:rPr>
                  <a:t>α</a:t>
                </a: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confidence interval for the </a:t>
                </a:r>
                <a:r>
                  <a:rPr lang="en-US" sz="2800" dirty="0" smtClean="0">
                    <a:latin typeface="Times New Roman" pitchFamily="18" charset="0"/>
                    <a:cs typeface="Times New Roman" pitchFamily="18" charset="0"/>
                  </a:rPr>
                  <a:t>slope, </a:t>
                </a:r>
                <a:r>
                  <a:rPr lang="en-US" sz="2800" dirty="0">
                    <a:solidFill>
                      <a:srgbClr val="0070C0"/>
                    </a:solidFill>
                    <a:latin typeface="Times New Roman" pitchFamily="18" charset="0"/>
                    <a:cs typeface="Times New Roman" pitchFamily="18" charset="0"/>
                  </a:rPr>
                  <a:t>β</a:t>
                </a:r>
                <a:r>
                  <a:rPr lang="en-US" sz="2800" baseline="-25000" dirty="0">
                    <a:solidFill>
                      <a:srgbClr val="0070C0"/>
                    </a:solidFill>
                    <a:latin typeface="Times New Roman" pitchFamily="18" charset="0"/>
                    <a:cs typeface="Times New Roman" pitchFamily="18" charset="0"/>
                  </a:rPr>
                  <a:t>1 </a:t>
                </a:r>
                <a:r>
                  <a:rPr lang="en-US" sz="2800" dirty="0" smtClean="0">
                    <a:latin typeface="Times New Roman" pitchFamily="18" charset="0"/>
                    <a:cs typeface="Times New Roman" pitchFamily="18" charset="0"/>
                  </a:rPr>
                  <a:t>:</a:t>
                </a:r>
              </a:p>
              <a:p>
                <a:pPr marL="82296" indent="0" algn="ctr">
                  <a:buNone/>
                </a:pPr>
                <a:r>
                  <a:rPr lang="en-US" sz="2800" dirty="0" smtClean="0">
                    <a:latin typeface="Times New Roman" pitchFamily="18" charset="0"/>
                    <a:cs typeface="Times New Roman" pitchFamily="18" charset="0"/>
                  </a:rPr>
                  <a:t>b</a:t>
                </a:r>
                <a:r>
                  <a:rPr lang="en-US" sz="2800" baseline="-25000" dirty="0" smtClean="0">
                    <a:latin typeface="Times New Roman" pitchFamily="18" charset="0"/>
                    <a:cs typeface="Times New Roman" pitchFamily="18" charset="0"/>
                  </a:rPr>
                  <a:t>1 </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t*SE</a:t>
                </a:r>
                <a:r>
                  <a:rPr lang="en-US" sz="2800" baseline="-25000" dirty="0" smtClean="0">
                    <a:latin typeface="Times New Roman" pitchFamily="18" charset="0"/>
                    <a:cs typeface="Times New Roman" pitchFamily="18" charset="0"/>
                  </a:rPr>
                  <a:t>b1                   </a:t>
                </a:r>
                <a14:m>
                  <m:oMath xmlns:m="http://schemas.openxmlformats.org/officeDocument/2006/math">
                    <m:sSub>
                      <m:sSubPr>
                        <m:ctrlPr>
                          <a:rPr lang="en-US" sz="2800" i="1">
                            <a:latin typeface="Cambria Math"/>
                          </a:rPr>
                        </m:ctrlPr>
                      </m:sSubPr>
                      <m:e>
                        <m:r>
                          <m:rPr>
                            <m:sty m:val="p"/>
                          </m:rPr>
                          <a:rPr lang="en-US" sz="2800">
                            <a:latin typeface="Cambria Math"/>
                          </a:rPr>
                          <m:t>SE</m:t>
                        </m:r>
                      </m:e>
                      <m:sub>
                        <m:sSub>
                          <m:sSubPr>
                            <m:ctrlPr>
                              <a:rPr lang="en-US" sz="2800" i="1">
                                <a:latin typeface="Cambria Math"/>
                              </a:rPr>
                            </m:ctrlPr>
                          </m:sSubPr>
                          <m:e>
                            <m:r>
                              <m:rPr>
                                <m:sty m:val="p"/>
                              </m:rPr>
                              <a:rPr lang="en-US" sz="2800">
                                <a:latin typeface="Cambria Math"/>
                              </a:rPr>
                              <m:t>b</m:t>
                            </m:r>
                          </m:e>
                          <m:sub>
                            <m:r>
                              <a:rPr lang="en-US" sz="2800">
                                <a:latin typeface="Cambria Math"/>
                              </a:rPr>
                              <m:t>1</m:t>
                            </m:r>
                          </m:sub>
                        </m:sSub>
                      </m:sub>
                    </m:sSub>
                  </m:oMath>
                </a14:m>
                <a:r>
                  <a:rPr lang="en-US" sz="2800" dirty="0"/>
                  <a:t> = </a:t>
                </a:r>
                <a14:m>
                  <m:oMath xmlns:m="http://schemas.openxmlformats.org/officeDocument/2006/math">
                    <m:rad>
                      <m:radPr>
                        <m:degHide m:val="on"/>
                        <m:ctrlPr>
                          <a:rPr lang="en-US" sz="2800" i="1">
                            <a:latin typeface="Cambria Math"/>
                          </a:rPr>
                        </m:ctrlPr>
                      </m:radPr>
                      <m:deg/>
                      <m:e>
                        <m:f>
                          <m:fPr>
                            <m:ctrlPr>
                              <a:rPr lang="en-US" sz="2800" i="1">
                                <a:latin typeface="Cambria Math"/>
                              </a:rPr>
                            </m:ctrlPr>
                          </m:fPr>
                          <m:num>
                            <m:r>
                              <a:rPr lang="en-US" sz="2800" i="1">
                                <a:latin typeface="Cambria Math"/>
                              </a:rPr>
                              <m:t>𝑀𝑆𝐸</m:t>
                            </m:r>
                          </m:num>
                          <m:den>
                            <m:nary>
                              <m:naryPr>
                                <m:chr m:val="∑"/>
                                <m:limLoc m:val="undOvr"/>
                                <m:subHide m:val="on"/>
                                <m:supHide m:val="on"/>
                                <m:ctrlPr>
                                  <a:rPr lang="en-US" sz="2800" i="1">
                                    <a:latin typeface="Cambria Math"/>
                                  </a:rPr>
                                </m:ctrlPr>
                              </m:naryPr>
                              <m:sub/>
                              <m:sup/>
                              <m:e>
                                <m:sSup>
                                  <m:sSupPr>
                                    <m:ctrlPr>
                                      <a:rPr lang="en-US" sz="2800" i="1">
                                        <a:latin typeface="Cambria Math"/>
                                      </a:rPr>
                                    </m:ctrlPr>
                                  </m:sSupPr>
                                  <m:e>
                                    <m:d>
                                      <m:dPr>
                                        <m:ctrlPr>
                                          <a:rPr lang="en-US" sz="2800" i="1">
                                            <a:latin typeface="Cambria Math"/>
                                          </a:rPr>
                                        </m:ctrlPr>
                                      </m:dPr>
                                      <m:e>
                                        <m:sSub>
                                          <m:sSubPr>
                                            <m:ctrlPr>
                                              <a:rPr lang="en-US" sz="2800" i="1">
                                                <a:latin typeface="Cambria Math"/>
                                              </a:rPr>
                                            </m:ctrlPr>
                                          </m:sSubPr>
                                          <m:e>
                                            <m:r>
                                              <m:rPr>
                                                <m:sty m:val="p"/>
                                              </m:rPr>
                                              <a:rPr lang="en-US" sz="2800">
                                                <a:latin typeface="Cambria Math"/>
                                              </a:rPr>
                                              <m:t>x</m:t>
                                            </m:r>
                                          </m:e>
                                          <m:sub>
                                            <m:r>
                                              <m:rPr>
                                                <m:sty m:val="p"/>
                                              </m:rPr>
                                              <a:rPr lang="en-US" sz="2800">
                                                <a:latin typeface="Cambria Math"/>
                                              </a:rPr>
                                              <m:t>i</m:t>
                                            </m:r>
                                          </m:sub>
                                        </m:sSub>
                                        <m:r>
                                          <a:rPr lang="en-US" sz="2800" i="1">
                                            <a:latin typeface="Cambria Math"/>
                                          </a:rPr>
                                          <m:t>−</m:t>
                                        </m:r>
                                        <m:r>
                                          <a:rPr lang="en-US" sz="2800">
                                            <a:latin typeface="Cambria Math"/>
                                          </a:rPr>
                                          <m:t> </m:t>
                                        </m:r>
                                        <m:acc>
                                          <m:accPr>
                                            <m:chr m:val="̅"/>
                                            <m:ctrlPr>
                                              <a:rPr lang="en-US" sz="2800" i="1">
                                                <a:latin typeface="Cambria Math"/>
                                              </a:rPr>
                                            </m:ctrlPr>
                                          </m:accPr>
                                          <m:e>
                                            <m:r>
                                              <m:rPr>
                                                <m:sty m:val="p"/>
                                              </m:rPr>
                                              <a:rPr lang="en-US" sz="2800">
                                                <a:latin typeface="Cambria Math"/>
                                              </a:rPr>
                                              <m:t>x</m:t>
                                            </m:r>
                                          </m:e>
                                        </m:acc>
                                      </m:e>
                                    </m:d>
                                  </m:e>
                                  <m:sup>
                                    <m:r>
                                      <a:rPr lang="en-US" sz="2800">
                                        <a:latin typeface="Cambria Math"/>
                                      </a:rPr>
                                      <m:t>2</m:t>
                                    </m:r>
                                  </m:sup>
                                </m:sSup>
                              </m:e>
                            </m:nary>
                          </m:den>
                        </m:f>
                      </m:e>
                    </m:rad>
                  </m:oMath>
                </a14:m>
                <a:endParaRPr lang="en-US" sz="2800" dirty="0"/>
              </a:p>
              <a:p>
                <a:pPr marL="82296" indent="0" algn="ctr">
                  <a:buNone/>
                </a:pPr>
                <a:endParaRPr lang="en-US" sz="2800" baseline="-25000" dirty="0" smtClean="0">
                  <a:latin typeface="Times New Roman" pitchFamily="18" charset="0"/>
                  <a:cs typeface="Times New Roman" pitchFamily="18" charset="0"/>
                </a:endParaRPr>
              </a:p>
              <a:p>
                <a:pPr marL="82296" indent="0" algn="ctr">
                  <a:buNone/>
                </a:pPr>
                <a:endParaRPr lang="en-US" sz="2800" baseline="-25000" dirty="0" smtClean="0">
                  <a:latin typeface="Times New Roman" pitchFamily="18" charset="0"/>
                  <a:cs typeface="Times New Roman" pitchFamily="18" charset="0"/>
                </a:endParaRPr>
              </a:p>
              <a:p>
                <a:pPr marL="82296" indent="0">
                  <a:buNone/>
                </a:pPr>
                <a:r>
                  <a:rPr lang="en-US" sz="2800" dirty="0">
                    <a:latin typeface="Times New Roman" pitchFamily="18" charset="0"/>
                    <a:cs typeface="Times New Roman" pitchFamily="18" charset="0"/>
                  </a:rPr>
                  <a:t>In these </a:t>
                </a:r>
                <a:r>
                  <a:rPr lang="en-US" sz="2800">
                    <a:latin typeface="Times New Roman" pitchFamily="18" charset="0"/>
                    <a:cs typeface="Times New Roman" pitchFamily="18" charset="0"/>
                  </a:rPr>
                  <a:t>expressions </a:t>
                </a:r>
                <a:r>
                  <a:rPr lang="en-US" sz="2800" smtClean="0">
                    <a:latin typeface="Times New Roman" pitchFamily="18" charset="0"/>
                    <a:cs typeface="Times New Roman" pitchFamily="18" charset="0"/>
                  </a:rPr>
                  <a:t>t </a:t>
                </a:r>
                <a:r>
                  <a:rPr lang="en-US" sz="2800" dirty="0">
                    <a:latin typeface="Times New Roman" pitchFamily="18" charset="0"/>
                    <a:cs typeface="Times New Roman" pitchFamily="18" charset="0"/>
                  </a:rPr>
                  <a:t>is the value for the </a:t>
                </a:r>
                <a:r>
                  <a:rPr lang="en-US" sz="2800" dirty="0" smtClean="0">
                    <a:latin typeface="Times New Roman" pitchFamily="18" charset="0"/>
                    <a:cs typeface="Times New Roman" pitchFamily="18" charset="0"/>
                  </a:rPr>
                  <a:t>t</a:t>
                </a:r>
                <a:r>
                  <a:rPr lang="el-GR" sz="2800" baseline="-25000" dirty="0" smtClean="0">
                    <a:latin typeface="Times New Roman" pitchFamily="18" charset="0"/>
                    <a:cs typeface="Times New Roman" pitchFamily="18" charset="0"/>
                  </a:rPr>
                  <a:t>α</a:t>
                </a:r>
                <a:r>
                  <a:rPr lang="en-US" sz="2800" baseline="-25000" dirty="0">
                    <a:latin typeface="Times New Roman" pitchFamily="18" charset="0"/>
                    <a:cs typeface="Times New Roman" pitchFamily="18" charset="0"/>
                  </a:rPr>
                  <a:t>/2, (n-2</a:t>
                </a:r>
                <a:r>
                  <a:rPr lang="en-US" sz="2800" baseline="-25000" dirty="0" smtClean="0">
                    <a:latin typeface="Times New Roman" pitchFamily="18" charset="0"/>
                    <a:cs typeface="Times New Roman" pitchFamily="18" charset="0"/>
                  </a:rPr>
                  <a:t>).</a:t>
                </a:r>
              </a:p>
              <a:p>
                <a:pPr marL="82296" indent="0">
                  <a:buNone/>
                </a:pPr>
                <a:r>
                  <a:rPr lang="en-US" sz="2800" dirty="0">
                    <a:latin typeface="Times New Roman" pitchFamily="18" charset="0"/>
                    <a:cs typeface="Times New Roman" pitchFamily="18" charset="0"/>
                  </a:rPr>
                  <a:t>SE is the standard error</a:t>
                </a:r>
                <a:r>
                  <a:rPr lang="en-US" sz="2800" dirty="0" smtClean="0">
                    <a:latin typeface="Times New Roman" pitchFamily="18" charset="0"/>
                    <a:cs typeface="Times New Roman" pitchFamily="18" charset="0"/>
                  </a:rPr>
                  <a:t>.</a:t>
                </a:r>
              </a:p>
              <a:p>
                <a:pPr marL="82296" indent="0">
                  <a:buNone/>
                </a:pPr>
                <a:endParaRPr lang="en-US" sz="28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3" t="-190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6C06D09E-813C-9342-A936-A0F7564955C1}" type="slidenum">
              <a:rPr lang="en-US" smtClean="0"/>
              <a:pPr/>
              <a:t>5</a:t>
            </a:fld>
            <a:endParaRPr lang="en-US" dirty="0"/>
          </a:p>
        </p:txBody>
      </p:sp>
    </p:spTree>
    <p:extLst>
      <p:ext uri="{BB962C8B-B14F-4D97-AF65-F5344CB8AC3E}">
        <p14:creationId xmlns:p14="http://schemas.microsoft.com/office/powerpoint/2010/main" val="2319450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ANOVA Table for Simple Linear Regression</a:t>
            </a:r>
            <a:endParaRPr lang="en-US" dirty="0"/>
          </a:p>
        </p:txBody>
      </p:sp>
      <mc:AlternateContent xmlns:mc="http://schemas.openxmlformats.org/markup-compatibility/2006" xmlns:a14="http://schemas.microsoft.com/office/drawing/2010/main">
        <mc:Choice Requires="a14">
          <p:graphicFrame>
            <p:nvGraphicFramePr>
              <p:cNvPr id="5" name="Content Placeholder 4"/>
              <p:cNvGraphicFramePr>
                <a:graphicFrameLocks noGrp="1"/>
              </p:cNvGraphicFramePr>
              <p:nvPr>
                <p:ph idx="1"/>
                <p:extLst>
                  <p:ext uri="{D42A27DB-BD31-4B8C-83A1-F6EECF244321}">
                    <p14:modId xmlns:p14="http://schemas.microsoft.com/office/powerpoint/2010/main" val="2278964357"/>
                  </p:ext>
                </p:extLst>
              </p:nvPr>
            </p:nvGraphicFramePr>
            <p:xfrm>
              <a:off x="2138516" y="2005781"/>
              <a:ext cx="9173498" cy="3893574"/>
            </p:xfrm>
            <a:graphic>
              <a:graphicData uri="http://schemas.openxmlformats.org/drawingml/2006/table">
                <a:tbl>
                  <a:tblPr firstRow="1" firstCol="1" bandRow="1">
                    <a:tableStyleId>{5C22544A-7EE6-4342-B048-85BDC9FD1C3A}</a:tableStyleId>
                  </a:tblPr>
                  <a:tblGrid>
                    <a:gridCol w="1360156"/>
                    <a:gridCol w="1663263"/>
                    <a:gridCol w="2743200"/>
                    <a:gridCol w="2046722"/>
                    <a:gridCol w="1360157"/>
                  </a:tblGrid>
                  <a:tr h="1054926">
                    <a:tc>
                      <a:txBody>
                        <a:bodyPr/>
                        <a:lstStyle/>
                        <a:p>
                          <a:pPr marL="0" marR="0" algn="ctr">
                            <a:lnSpc>
                              <a:spcPct val="115000"/>
                            </a:lnSpc>
                            <a:spcBef>
                              <a:spcPts val="0"/>
                            </a:spcBef>
                            <a:spcAft>
                              <a:spcPts val="0"/>
                            </a:spcAft>
                          </a:pPr>
                          <a:r>
                            <a:rPr lang="en-US" sz="2000" dirty="0">
                              <a:effectLst/>
                            </a:rPr>
                            <a:t>Source</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rPr>
                            <a:t>Degrees of freedom</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rPr>
                            <a:t>Sum of Squares</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a:effectLst/>
                            </a:rPr>
                            <a:t>Mean Square</a:t>
                          </a:r>
                          <a:endParaRPr lang="en-US" sz="200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a:effectLst/>
                            </a:rPr>
                            <a:t>F</a:t>
                          </a:r>
                          <a:endParaRPr lang="en-US" sz="2000">
                            <a:effectLst/>
                            <a:latin typeface="Calibri"/>
                            <a:ea typeface="Calibri"/>
                            <a:cs typeface="Times New Roman"/>
                          </a:endParaRPr>
                        </a:p>
                      </a:txBody>
                      <a:tcPr marL="68580" marR="68580" marT="0" marB="0" anchor="ctr"/>
                    </a:tc>
                  </a:tr>
                  <a:tr h="945894">
                    <a:tc>
                      <a:txBody>
                        <a:bodyPr/>
                        <a:lstStyle/>
                        <a:p>
                          <a:pPr marL="0" marR="0">
                            <a:lnSpc>
                              <a:spcPct val="115000"/>
                            </a:lnSpc>
                            <a:spcBef>
                              <a:spcPts val="0"/>
                            </a:spcBef>
                            <a:spcAft>
                              <a:spcPts val="0"/>
                            </a:spcAft>
                          </a:pPr>
                          <a:r>
                            <a:rPr lang="en-US" sz="2000">
                              <a:effectLst/>
                            </a:rPr>
                            <a:t>Model</a:t>
                          </a:r>
                          <a:endParaRPr lang="en-US" sz="200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dirty="0" smtClean="0">
                              <a:effectLst/>
                            </a:rPr>
                            <a:t>DFM = 1</a:t>
                          </a:r>
                          <a:endParaRPr lang="en-US" sz="2000" dirty="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1000"/>
                            </a:spcAft>
                          </a:pPr>
                          <a:r>
                            <a:rPr lang="en-US" sz="2000" dirty="0" smtClean="0">
                              <a:effectLst/>
                            </a:rPr>
                            <a:t>SSM = </a:t>
                          </a:r>
                          <a14:m>
                            <m:oMath xmlns:m="http://schemas.openxmlformats.org/officeDocument/2006/math">
                              <m:nary>
                                <m:naryPr>
                                  <m:chr m:val="∑"/>
                                  <m:limLoc m:val="undOvr"/>
                                  <m:subHide m:val="on"/>
                                  <m:supHide m:val="on"/>
                                  <m:ctrlPr>
                                    <a:rPr lang="en-US" sz="2000" i="1">
                                      <a:effectLst/>
                                      <a:latin typeface="Cambria Math"/>
                                    </a:rPr>
                                  </m:ctrlPr>
                                </m:naryPr>
                                <m:sub/>
                                <m:sup/>
                                <m:e>
                                  <m:r>
                                    <a:rPr lang="en-US" sz="2000">
                                      <a:effectLst/>
                                      <a:latin typeface="Cambria Math"/>
                                    </a:rPr>
                                    <m:t>(</m:t>
                                  </m:r>
                                  <m:acc>
                                    <m:accPr>
                                      <m:chr m:val="̂"/>
                                      <m:ctrlPr>
                                        <a:rPr lang="en-US" sz="2000" i="1">
                                          <a:effectLst/>
                                          <a:latin typeface="Cambria Math"/>
                                        </a:rPr>
                                      </m:ctrlPr>
                                    </m:accPr>
                                    <m:e>
                                      <m:sSub>
                                        <m:sSubPr>
                                          <m:ctrlPr>
                                            <a:rPr lang="en-US" sz="2000" i="1">
                                              <a:effectLst/>
                                              <a:latin typeface="Cambria Math"/>
                                            </a:rPr>
                                          </m:ctrlPr>
                                        </m:sSubPr>
                                        <m:e>
                                          <m:r>
                                            <a:rPr lang="en-US" sz="2000">
                                              <a:effectLst/>
                                              <a:latin typeface="Cambria Math"/>
                                            </a:rPr>
                                            <m:t>𝑦</m:t>
                                          </m:r>
                                        </m:e>
                                        <m:sub>
                                          <m:r>
                                            <a:rPr lang="en-US" sz="2000">
                                              <a:effectLst/>
                                              <a:latin typeface="Cambria Math"/>
                                            </a:rPr>
                                            <m:t>𝑖</m:t>
                                          </m:r>
                                        </m:sub>
                                      </m:sSub>
                                    </m:e>
                                  </m:acc>
                                </m:e>
                              </m:nary>
                              <m:r>
                                <a:rPr lang="en-US" sz="2000">
                                  <a:effectLst/>
                                  <a:latin typeface="Cambria Math"/>
                                </a:rPr>
                                <m:t>− </m:t>
                              </m:r>
                              <m:acc>
                                <m:accPr>
                                  <m:chr m:val="̅"/>
                                  <m:ctrlPr>
                                    <a:rPr lang="en-US" sz="2000" i="1">
                                      <a:effectLst/>
                                      <a:latin typeface="Cambria Math"/>
                                    </a:rPr>
                                  </m:ctrlPr>
                                </m:accPr>
                                <m:e>
                                  <m:r>
                                    <a:rPr lang="en-US" sz="2000">
                                      <a:effectLst/>
                                      <a:latin typeface="Cambria Math"/>
                                    </a:rPr>
                                    <m:t>𝑦</m:t>
                                  </m:r>
                                </m:e>
                              </m:acc>
                              <m:r>
                                <a:rPr lang="en-US" sz="2000">
                                  <a:effectLst/>
                                  <a:latin typeface="Cambria Math"/>
                                </a:rPr>
                                <m:t>)</m:t>
                              </m:r>
                            </m:oMath>
                          </a14:m>
                          <a:r>
                            <a:rPr lang="en-US" sz="2000" baseline="30000" dirty="0">
                              <a:effectLst/>
                            </a:rPr>
                            <a:t>2</a:t>
                          </a:r>
                          <a:endParaRPr lang="en-US" sz="2000" dirty="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dirty="0" smtClean="0">
                              <a:effectLst/>
                            </a:rPr>
                            <a:t>MSM = SSM/DFM</a:t>
                          </a:r>
                          <a:endParaRPr lang="en-US" sz="2000" dirty="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a:effectLst/>
                            </a:rPr>
                            <a:t>MSM/MSE</a:t>
                          </a:r>
                          <a:endParaRPr lang="en-US" sz="2000">
                            <a:effectLst/>
                            <a:latin typeface="Calibri"/>
                            <a:ea typeface="Calibri"/>
                            <a:cs typeface="Times New Roman"/>
                          </a:endParaRPr>
                        </a:p>
                      </a:txBody>
                      <a:tcPr marL="68580" marR="68580" marT="0" marB="0" anchor="b"/>
                    </a:tc>
                  </a:tr>
                  <a:tr h="924667">
                    <a:tc>
                      <a:txBody>
                        <a:bodyPr/>
                        <a:lstStyle/>
                        <a:p>
                          <a:pPr marL="0" marR="0">
                            <a:lnSpc>
                              <a:spcPct val="115000"/>
                            </a:lnSpc>
                            <a:spcBef>
                              <a:spcPts val="0"/>
                            </a:spcBef>
                            <a:spcAft>
                              <a:spcPts val="0"/>
                            </a:spcAft>
                          </a:pPr>
                          <a:r>
                            <a:rPr lang="en-US" sz="2000">
                              <a:effectLst/>
                            </a:rPr>
                            <a:t>Error</a:t>
                          </a:r>
                          <a:endParaRPr lang="en-US" sz="200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dirty="0" smtClean="0">
                              <a:effectLst/>
                            </a:rPr>
                            <a:t>DFE = n-2</a:t>
                          </a:r>
                          <a:endParaRPr lang="en-US" sz="2000" dirty="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1000"/>
                            </a:spcAft>
                          </a:pPr>
                          <a:r>
                            <a:rPr lang="en-US" sz="2000" dirty="0" smtClean="0">
                              <a:effectLst/>
                            </a:rPr>
                            <a:t>SSE = </a:t>
                          </a:r>
                          <a14:m>
                            <m:oMath xmlns:m="http://schemas.openxmlformats.org/officeDocument/2006/math">
                              <m:nary>
                                <m:naryPr>
                                  <m:chr m:val="∑"/>
                                  <m:limLoc m:val="undOvr"/>
                                  <m:subHide m:val="on"/>
                                  <m:supHide m:val="on"/>
                                  <m:ctrlPr>
                                    <a:rPr lang="en-US" sz="2000" i="1">
                                      <a:effectLst/>
                                      <a:latin typeface="Cambria Math"/>
                                    </a:rPr>
                                  </m:ctrlPr>
                                </m:naryPr>
                                <m:sub/>
                                <m:sup/>
                                <m:e>
                                  <m:r>
                                    <a:rPr lang="en-US" sz="2000">
                                      <a:effectLst/>
                                      <a:latin typeface="Cambria Math"/>
                                    </a:rPr>
                                    <m:t>(</m:t>
                                  </m:r>
                                  <m:sSub>
                                    <m:sSubPr>
                                      <m:ctrlPr>
                                        <a:rPr lang="en-US" sz="2000" i="1">
                                          <a:effectLst/>
                                          <a:latin typeface="Cambria Math"/>
                                        </a:rPr>
                                      </m:ctrlPr>
                                    </m:sSubPr>
                                    <m:e>
                                      <m:r>
                                        <a:rPr lang="en-US" sz="2000">
                                          <a:effectLst/>
                                          <a:latin typeface="Cambria Math"/>
                                        </a:rPr>
                                        <m:t>𝑦</m:t>
                                      </m:r>
                                    </m:e>
                                    <m:sub>
                                      <m:r>
                                        <a:rPr lang="en-US" sz="2000">
                                          <a:effectLst/>
                                          <a:latin typeface="Cambria Math"/>
                                        </a:rPr>
                                        <m:t>𝑖</m:t>
                                      </m:r>
                                    </m:sub>
                                  </m:sSub>
                                </m:e>
                              </m:nary>
                              <m:r>
                                <a:rPr lang="en-US" sz="2000">
                                  <a:effectLst/>
                                  <a:latin typeface="Cambria Math"/>
                                </a:rPr>
                                <m:t>− </m:t>
                              </m:r>
                              <m:acc>
                                <m:accPr>
                                  <m:chr m:val="̂"/>
                                  <m:ctrlPr>
                                    <a:rPr lang="en-US" sz="2000" i="1">
                                      <a:effectLst/>
                                      <a:latin typeface="Cambria Math"/>
                                    </a:rPr>
                                  </m:ctrlPr>
                                </m:accPr>
                                <m:e>
                                  <m:sSub>
                                    <m:sSubPr>
                                      <m:ctrlPr>
                                        <a:rPr lang="en-US" sz="2000" i="1">
                                          <a:effectLst/>
                                          <a:latin typeface="Cambria Math"/>
                                        </a:rPr>
                                      </m:ctrlPr>
                                    </m:sSubPr>
                                    <m:e>
                                      <m:r>
                                        <a:rPr lang="en-US" sz="2000">
                                          <a:effectLst/>
                                          <a:latin typeface="Cambria Math"/>
                                        </a:rPr>
                                        <m:t>𝑦</m:t>
                                      </m:r>
                                    </m:e>
                                    <m:sub>
                                      <m:r>
                                        <a:rPr lang="en-US" sz="2000">
                                          <a:effectLst/>
                                          <a:latin typeface="Cambria Math"/>
                                        </a:rPr>
                                        <m:t>𝑖</m:t>
                                      </m:r>
                                    </m:sub>
                                  </m:sSub>
                                </m:e>
                              </m:acc>
                              <m:r>
                                <a:rPr lang="en-US" sz="2000">
                                  <a:effectLst/>
                                  <a:latin typeface="Cambria Math"/>
                                </a:rPr>
                                <m:t>)</m:t>
                              </m:r>
                            </m:oMath>
                          </a14:m>
                          <a:r>
                            <a:rPr lang="en-US" sz="2000" baseline="30000" dirty="0">
                              <a:effectLst/>
                            </a:rPr>
                            <a:t>2</a:t>
                          </a:r>
                          <a:endParaRPr lang="en-US" sz="2000" dirty="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dirty="0" smtClean="0">
                              <a:effectLst/>
                            </a:rPr>
                            <a:t>MSE = SSE/DFE</a:t>
                          </a:r>
                          <a:endParaRPr lang="en-US" sz="2000" dirty="0">
                            <a:effectLst/>
                            <a:latin typeface="Calibri"/>
                            <a:ea typeface="Calibri"/>
                            <a:cs typeface="Times New Roman"/>
                          </a:endParaRPr>
                        </a:p>
                      </a:txBody>
                      <a:tcPr marL="68580" marR="68580" marT="0" marB="0" anchor="b"/>
                    </a:tc>
                    <a:tc>
                      <a:txBody>
                        <a:bodyPr/>
                        <a:lstStyle/>
                        <a:p>
                          <a:pPr algn="ctr">
                            <a:lnSpc>
                              <a:spcPct val="115000"/>
                            </a:lnSpc>
                          </a:pPr>
                          <a:endParaRPr lang="en-US" sz="2000" dirty="0">
                            <a:effectLst/>
                            <a:latin typeface="Calibri"/>
                            <a:cs typeface="Times New Roman"/>
                          </a:endParaRPr>
                        </a:p>
                      </a:txBody>
                      <a:tcPr marL="68580" marR="68580" marT="0" marB="0" anchor="b"/>
                    </a:tc>
                  </a:tr>
                  <a:tr h="968087">
                    <a:tc>
                      <a:txBody>
                        <a:bodyPr/>
                        <a:lstStyle/>
                        <a:p>
                          <a:pPr marL="0" marR="0">
                            <a:lnSpc>
                              <a:spcPct val="115000"/>
                            </a:lnSpc>
                            <a:spcBef>
                              <a:spcPts val="0"/>
                            </a:spcBef>
                            <a:spcAft>
                              <a:spcPts val="0"/>
                            </a:spcAft>
                          </a:pPr>
                          <a:r>
                            <a:rPr lang="en-US" sz="2000">
                              <a:effectLst/>
                            </a:rPr>
                            <a:t>Total</a:t>
                          </a:r>
                          <a:endParaRPr lang="en-US" sz="200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dirty="0" smtClean="0">
                              <a:effectLst/>
                            </a:rPr>
                            <a:t>DFT = n-1</a:t>
                          </a:r>
                          <a:endParaRPr lang="en-US" sz="2000" dirty="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1000"/>
                            </a:spcAft>
                          </a:pPr>
                          <a:r>
                            <a:rPr lang="en-US" sz="2000" dirty="0" smtClean="0">
                              <a:effectLst/>
                            </a:rPr>
                            <a:t>SST = </a:t>
                          </a:r>
                          <a14:m>
                            <m:oMath xmlns:m="http://schemas.openxmlformats.org/officeDocument/2006/math">
                              <m:nary>
                                <m:naryPr>
                                  <m:chr m:val="∑"/>
                                  <m:limLoc m:val="undOvr"/>
                                  <m:subHide m:val="on"/>
                                  <m:supHide m:val="on"/>
                                  <m:ctrlPr>
                                    <a:rPr lang="en-US" sz="2000" i="1">
                                      <a:effectLst/>
                                      <a:latin typeface="Cambria Math"/>
                                    </a:rPr>
                                  </m:ctrlPr>
                                </m:naryPr>
                                <m:sub/>
                                <m:sup/>
                                <m:e>
                                  <m:r>
                                    <a:rPr lang="en-US" sz="2000">
                                      <a:effectLst/>
                                      <a:latin typeface="Cambria Math"/>
                                    </a:rPr>
                                    <m:t>(</m:t>
                                  </m:r>
                                  <m:sSub>
                                    <m:sSubPr>
                                      <m:ctrlPr>
                                        <a:rPr lang="en-US" sz="2000" i="1">
                                          <a:effectLst/>
                                          <a:latin typeface="Cambria Math"/>
                                        </a:rPr>
                                      </m:ctrlPr>
                                    </m:sSubPr>
                                    <m:e>
                                      <m:r>
                                        <a:rPr lang="en-US" sz="2000">
                                          <a:effectLst/>
                                          <a:latin typeface="Cambria Math"/>
                                        </a:rPr>
                                        <m:t>𝑦</m:t>
                                      </m:r>
                                    </m:e>
                                    <m:sub>
                                      <m:r>
                                        <a:rPr lang="en-US" sz="2000">
                                          <a:effectLst/>
                                          <a:latin typeface="Cambria Math"/>
                                        </a:rPr>
                                        <m:t>𝑖</m:t>
                                      </m:r>
                                    </m:sub>
                                  </m:sSub>
                                </m:e>
                              </m:nary>
                              <m:r>
                                <a:rPr lang="en-US" sz="2000">
                                  <a:effectLst/>
                                  <a:latin typeface="Cambria Math"/>
                                </a:rPr>
                                <m:t>−</m:t>
                              </m:r>
                              <m:acc>
                                <m:accPr>
                                  <m:chr m:val="̅"/>
                                  <m:ctrlPr>
                                    <a:rPr lang="en-US" sz="2000" i="1">
                                      <a:effectLst/>
                                      <a:latin typeface="Cambria Math"/>
                                    </a:rPr>
                                  </m:ctrlPr>
                                </m:accPr>
                                <m:e>
                                  <m:r>
                                    <a:rPr lang="en-US" sz="2000">
                                      <a:effectLst/>
                                      <a:latin typeface="Cambria Math"/>
                                    </a:rPr>
                                    <m:t>𝑦</m:t>
                                  </m:r>
                                </m:e>
                              </m:acc>
                              <m:r>
                                <a:rPr lang="en-US" sz="2000">
                                  <a:effectLst/>
                                  <a:latin typeface="Cambria Math"/>
                                </a:rPr>
                                <m:t>)</m:t>
                              </m:r>
                            </m:oMath>
                          </a14:m>
                          <a:r>
                            <a:rPr lang="en-US" sz="2000" baseline="30000" dirty="0">
                              <a:effectLst/>
                            </a:rPr>
                            <a:t>2</a:t>
                          </a:r>
                          <a:endParaRPr lang="en-US" sz="2000" dirty="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dirty="0" smtClean="0">
                              <a:effectLst/>
                            </a:rPr>
                            <a:t>MST = SST/DFT</a:t>
                          </a:r>
                          <a:endParaRPr lang="en-US" sz="2000" dirty="0">
                            <a:effectLst/>
                            <a:latin typeface="Calibri"/>
                            <a:ea typeface="Calibri"/>
                            <a:cs typeface="Times New Roman"/>
                          </a:endParaRPr>
                        </a:p>
                      </a:txBody>
                      <a:tcPr marL="68580" marR="68580" marT="0" marB="0" anchor="b"/>
                    </a:tc>
                    <a:tc>
                      <a:txBody>
                        <a:bodyPr/>
                        <a:lstStyle/>
                        <a:p>
                          <a:pPr algn="ctr">
                            <a:lnSpc>
                              <a:spcPct val="115000"/>
                            </a:lnSpc>
                          </a:pPr>
                          <a:endParaRPr lang="en-US" sz="2000" dirty="0">
                            <a:effectLst/>
                            <a:latin typeface="Calibri"/>
                            <a:cs typeface="Times New Roman"/>
                          </a:endParaRPr>
                        </a:p>
                      </a:txBody>
                      <a:tcPr marL="68580" marR="68580" marT="0" marB="0" anchor="b"/>
                    </a:tc>
                  </a:tr>
                </a:tbl>
              </a:graphicData>
            </a:graphic>
          </p:graphicFrame>
        </mc:Choice>
        <mc:Fallback xmlns="">
          <p:graphicFrame>
            <p:nvGraphicFramePr>
              <p:cNvPr id="5" name="Content Placeholder 4"/>
              <p:cNvGraphicFramePr>
                <a:graphicFrameLocks noGrp="1"/>
              </p:cNvGraphicFramePr>
              <p:nvPr>
                <p:ph idx="1"/>
                <p:extLst>
                  <p:ext uri="{D42A27DB-BD31-4B8C-83A1-F6EECF244321}">
                    <p14:modId xmlns:p14="http://schemas.microsoft.com/office/powerpoint/2010/main" val="2278964357"/>
                  </p:ext>
                </p:extLst>
              </p:nvPr>
            </p:nvGraphicFramePr>
            <p:xfrm>
              <a:off x="2138516" y="2005781"/>
              <a:ext cx="9173498" cy="3893574"/>
            </p:xfrm>
            <a:graphic>
              <a:graphicData uri="http://schemas.openxmlformats.org/drawingml/2006/table">
                <a:tbl>
                  <a:tblPr firstRow="1" firstCol="1" bandRow="1">
                    <a:tableStyleId>{5C22544A-7EE6-4342-B048-85BDC9FD1C3A}</a:tableStyleId>
                  </a:tblPr>
                  <a:tblGrid>
                    <a:gridCol w="1360156"/>
                    <a:gridCol w="1663263"/>
                    <a:gridCol w="2743200"/>
                    <a:gridCol w="2046722"/>
                    <a:gridCol w="1360157"/>
                  </a:tblGrid>
                  <a:tr h="1054926">
                    <a:tc>
                      <a:txBody>
                        <a:bodyPr/>
                        <a:lstStyle/>
                        <a:p>
                          <a:pPr marL="0" marR="0" algn="ctr">
                            <a:lnSpc>
                              <a:spcPct val="115000"/>
                            </a:lnSpc>
                            <a:spcBef>
                              <a:spcPts val="0"/>
                            </a:spcBef>
                            <a:spcAft>
                              <a:spcPts val="0"/>
                            </a:spcAft>
                          </a:pPr>
                          <a:r>
                            <a:rPr lang="en-US" sz="2000" dirty="0">
                              <a:effectLst/>
                            </a:rPr>
                            <a:t>Source</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rPr>
                            <a:t>Degrees of freedom</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rPr>
                            <a:t>Sum of Squares</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a:effectLst/>
                            </a:rPr>
                            <a:t>Mean Square</a:t>
                          </a:r>
                          <a:endParaRPr lang="en-US" sz="200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a:effectLst/>
                            </a:rPr>
                            <a:t>F</a:t>
                          </a:r>
                          <a:endParaRPr lang="en-US" sz="2000">
                            <a:effectLst/>
                            <a:latin typeface="Calibri"/>
                            <a:ea typeface="Calibri"/>
                            <a:cs typeface="Times New Roman"/>
                          </a:endParaRPr>
                        </a:p>
                      </a:txBody>
                      <a:tcPr marL="68580" marR="68580" marT="0" marB="0" anchor="ctr"/>
                    </a:tc>
                  </a:tr>
                  <a:tr h="945894">
                    <a:tc>
                      <a:txBody>
                        <a:bodyPr/>
                        <a:lstStyle/>
                        <a:p>
                          <a:pPr marL="0" marR="0">
                            <a:lnSpc>
                              <a:spcPct val="115000"/>
                            </a:lnSpc>
                            <a:spcBef>
                              <a:spcPts val="0"/>
                            </a:spcBef>
                            <a:spcAft>
                              <a:spcPts val="0"/>
                            </a:spcAft>
                          </a:pPr>
                          <a:r>
                            <a:rPr lang="en-US" sz="2000">
                              <a:effectLst/>
                            </a:rPr>
                            <a:t>Model</a:t>
                          </a:r>
                          <a:endParaRPr lang="en-US" sz="200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dirty="0" smtClean="0">
                              <a:effectLst/>
                            </a:rPr>
                            <a:t>DFM = 1</a:t>
                          </a:r>
                          <a:endParaRPr lang="en-US" sz="2000" dirty="0">
                            <a:effectLst/>
                            <a:latin typeface="Calibri"/>
                            <a:ea typeface="Calibri"/>
                            <a:cs typeface="Times New Roman"/>
                          </a:endParaRPr>
                        </a:p>
                      </a:txBody>
                      <a:tcPr marL="68580" marR="68580" marT="0" marB="0" anchor="b"/>
                    </a:tc>
                    <a:tc>
                      <a:txBody>
                        <a:bodyPr/>
                        <a:lstStyle/>
                        <a:p>
                          <a:endParaRPr lang="en-US"/>
                        </a:p>
                      </a:txBody>
                      <a:tcPr marL="68580" marR="68580" marT="0" marB="0" anchor="b">
                        <a:blipFill rotWithShape="1">
                          <a:blip r:embed="rId2"/>
                          <a:stretch>
                            <a:fillRect l="-110444" t="-111613" r="-124222" b="-281290"/>
                          </a:stretch>
                        </a:blipFill>
                      </a:tcPr>
                    </a:tc>
                    <a:tc>
                      <a:txBody>
                        <a:bodyPr/>
                        <a:lstStyle/>
                        <a:p>
                          <a:pPr marL="0" marR="0" algn="ctr">
                            <a:lnSpc>
                              <a:spcPct val="115000"/>
                            </a:lnSpc>
                            <a:spcBef>
                              <a:spcPts val="0"/>
                            </a:spcBef>
                            <a:spcAft>
                              <a:spcPts val="0"/>
                            </a:spcAft>
                          </a:pPr>
                          <a:r>
                            <a:rPr lang="en-US" sz="2000" dirty="0" smtClean="0">
                              <a:effectLst/>
                            </a:rPr>
                            <a:t>MSM = SSM/DFM</a:t>
                          </a:r>
                          <a:endParaRPr lang="en-US" sz="2000" dirty="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a:effectLst/>
                            </a:rPr>
                            <a:t>MSM/MSE</a:t>
                          </a:r>
                          <a:endParaRPr lang="en-US" sz="2000">
                            <a:effectLst/>
                            <a:latin typeface="Calibri"/>
                            <a:ea typeface="Calibri"/>
                            <a:cs typeface="Times New Roman"/>
                          </a:endParaRPr>
                        </a:p>
                      </a:txBody>
                      <a:tcPr marL="68580" marR="68580" marT="0" marB="0" anchor="b"/>
                    </a:tc>
                  </a:tr>
                  <a:tr h="924667">
                    <a:tc>
                      <a:txBody>
                        <a:bodyPr/>
                        <a:lstStyle/>
                        <a:p>
                          <a:pPr marL="0" marR="0">
                            <a:lnSpc>
                              <a:spcPct val="115000"/>
                            </a:lnSpc>
                            <a:spcBef>
                              <a:spcPts val="0"/>
                            </a:spcBef>
                            <a:spcAft>
                              <a:spcPts val="0"/>
                            </a:spcAft>
                          </a:pPr>
                          <a:r>
                            <a:rPr lang="en-US" sz="2000">
                              <a:effectLst/>
                            </a:rPr>
                            <a:t>Error</a:t>
                          </a:r>
                          <a:endParaRPr lang="en-US" sz="200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dirty="0" smtClean="0">
                              <a:effectLst/>
                            </a:rPr>
                            <a:t>DFE = n-2</a:t>
                          </a:r>
                          <a:endParaRPr lang="en-US" sz="2000" dirty="0">
                            <a:effectLst/>
                            <a:latin typeface="Calibri"/>
                            <a:ea typeface="Calibri"/>
                            <a:cs typeface="Times New Roman"/>
                          </a:endParaRPr>
                        </a:p>
                      </a:txBody>
                      <a:tcPr marL="68580" marR="68580" marT="0" marB="0" anchor="b"/>
                    </a:tc>
                    <a:tc>
                      <a:txBody>
                        <a:bodyPr/>
                        <a:lstStyle/>
                        <a:p>
                          <a:endParaRPr lang="en-US"/>
                        </a:p>
                      </a:txBody>
                      <a:tcPr marL="68580" marR="68580" marT="0" marB="0" anchor="b">
                        <a:blipFill rotWithShape="1">
                          <a:blip r:embed="rId2"/>
                          <a:stretch>
                            <a:fillRect l="-110444" t="-215789" r="-124222" b="-186842"/>
                          </a:stretch>
                        </a:blipFill>
                      </a:tcPr>
                    </a:tc>
                    <a:tc>
                      <a:txBody>
                        <a:bodyPr/>
                        <a:lstStyle/>
                        <a:p>
                          <a:pPr marL="0" marR="0" algn="ctr">
                            <a:lnSpc>
                              <a:spcPct val="115000"/>
                            </a:lnSpc>
                            <a:spcBef>
                              <a:spcPts val="0"/>
                            </a:spcBef>
                            <a:spcAft>
                              <a:spcPts val="0"/>
                            </a:spcAft>
                          </a:pPr>
                          <a:r>
                            <a:rPr lang="en-US" sz="2000" dirty="0" smtClean="0">
                              <a:effectLst/>
                            </a:rPr>
                            <a:t>MSE = SSE/DFE</a:t>
                          </a:r>
                          <a:endParaRPr lang="en-US" sz="2000" dirty="0">
                            <a:effectLst/>
                            <a:latin typeface="Calibri"/>
                            <a:ea typeface="Calibri"/>
                            <a:cs typeface="Times New Roman"/>
                          </a:endParaRPr>
                        </a:p>
                      </a:txBody>
                      <a:tcPr marL="68580" marR="68580" marT="0" marB="0" anchor="b"/>
                    </a:tc>
                    <a:tc>
                      <a:txBody>
                        <a:bodyPr/>
                        <a:lstStyle/>
                        <a:p>
                          <a:pPr algn="ctr">
                            <a:lnSpc>
                              <a:spcPct val="115000"/>
                            </a:lnSpc>
                          </a:pPr>
                          <a:endParaRPr lang="en-US" sz="2000" dirty="0">
                            <a:effectLst/>
                            <a:latin typeface="Calibri"/>
                            <a:cs typeface="Times New Roman"/>
                          </a:endParaRPr>
                        </a:p>
                      </a:txBody>
                      <a:tcPr marL="68580" marR="68580" marT="0" marB="0" anchor="b"/>
                    </a:tc>
                  </a:tr>
                  <a:tr h="968087">
                    <a:tc>
                      <a:txBody>
                        <a:bodyPr/>
                        <a:lstStyle/>
                        <a:p>
                          <a:pPr marL="0" marR="0">
                            <a:lnSpc>
                              <a:spcPct val="115000"/>
                            </a:lnSpc>
                            <a:spcBef>
                              <a:spcPts val="0"/>
                            </a:spcBef>
                            <a:spcAft>
                              <a:spcPts val="0"/>
                            </a:spcAft>
                          </a:pPr>
                          <a:r>
                            <a:rPr lang="en-US" sz="2000">
                              <a:effectLst/>
                            </a:rPr>
                            <a:t>Total</a:t>
                          </a:r>
                          <a:endParaRPr lang="en-US" sz="2000">
                            <a:effectLst/>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000" dirty="0" smtClean="0">
                              <a:effectLst/>
                            </a:rPr>
                            <a:t>DFT = n-1</a:t>
                          </a:r>
                          <a:endParaRPr lang="en-US" sz="2000" dirty="0">
                            <a:effectLst/>
                            <a:latin typeface="Calibri"/>
                            <a:ea typeface="Calibri"/>
                            <a:cs typeface="Times New Roman"/>
                          </a:endParaRPr>
                        </a:p>
                      </a:txBody>
                      <a:tcPr marL="68580" marR="68580" marT="0" marB="0" anchor="b"/>
                    </a:tc>
                    <a:tc>
                      <a:txBody>
                        <a:bodyPr/>
                        <a:lstStyle/>
                        <a:p>
                          <a:endParaRPr lang="en-US"/>
                        </a:p>
                      </a:txBody>
                      <a:tcPr marL="68580" marR="68580" marT="0" marB="0" anchor="b">
                        <a:blipFill rotWithShape="1">
                          <a:blip r:embed="rId2"/>
                          <a:stretch>
                            <a:fillRect l="-110444" t="-301887" r="-124222" b="-78616"/>
                          </a:stretch>
                        </a:blipFill>
                      </a:tcPr>
                    </a:tc>
                    <a:tc>
                      <a:txBody>
                        <a:bodyPr/>
                        <a:lstStyle/>
                        <a:p>
                          <a:pPr marL="0" marR="0" algn="ctr">
                            <a:lnSpc>
                              <a:spcPct val="115000"/>
                            </a:lnSpc>
                            <a:spcBef>
                              <a:spcPts val="0"/>
                            </a:spcBef>
                            <a:spcAft>
                              <a:spcPts val="0"/>
                            </a:spcAft>
                          </a:pPr>
                          <a:r>
                            <a:rPr lang="en-US" sz="2000" dirty="0" smtClean="0">
                              <a:effectLst/>
                            </a:rPr>
                            <a:t>MST = SST/DFT</a:t>
                          </a:r>
                          <a:endParaRPr lang="en-US" sz="2000" dirty="0">
                            <a:effectLst/>
                            <a:latin typeface="Calibri"/>
                            <a:ea typeface="Calibri"/>
                            <a:cs typeface="Times New Roman"/>
                          </a:endParaRPr>
                        </a:p>
                      </a:txBody>
                      <a:tcPr marL="68580" marR="68580" marT="0" marB="0" anchor="b"/>
                    </a:tc>
                    <a:tc>
                      <a:txBody>
                        <a:bodyPr/>
                        <a:lstStyle/>
                        <a:p>
                          <a:pPr algn="ctr">
                            <a:lnSpc>
                              <a:spcPct val="115000"/>
                            </a:lnSpc>
                          </a:pPr>
                          <a:endParaRPr lang="en-US" sz="2000" dirty="0">
                            <a:effectLst/>
                            <a:latin typeface="Calibri"/>
                            <a:cs typeface="Times New Roman"/>
                          </a:endParaRPr>
                        </a:p>
                      </a:txBody>
                      <a:tcPr marL="68580" marR="68580" marT="0" marB="0" anchor="b"/>
                    </a:tc>
                  </a:tr>
                </a:tbl>
              </a:graphicData>
            </a:graphic>
          </p:graphicFrame>
        </mc:Fallback>
      </mc:AlternateContent>
      <p:sp>
        <p:nvSpPr>
          <p:cNvPr id="4" name="Slide Number Placeholder 3"/>
          <p:cNvSpPr>
            <a:spLocks noGrp="1"/>
          </p:cNvSpPr>
          <p:nvPr>
            <p:ph type="sldNum" sz="quarter" idx="12"/>
          </p:nvPr>
        </p:nvSpPr>
        <p:spPr/>
        <p:txBody>
          <a:bodyPr/>
          <a:lstStyle/>
          <a:p>
            <a:fld id="{6C06D09E-813C-9342-A936-A0F7564955C1}" type="slidenum">
              <a:rPr lang="en-US" smtClean="0"/>
              <a:pPr/>
              <a:t>6</a:t>
            </a:fld>
            <a:endParaRPr lang="en-US" dirty="0"/>
          </a:p>
        </p:txBody>
      </p:sp>
    </p:spTree>
    <p:extLst>
      <p:ext uri="{BB962C8B-B14F-4D97-AF65-F5344CB8AC3E}">
        <p14:creationId xmlns:p14="http://schemas.microsoft.com/office/powerpoint/2010/main" val="2284855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Hypothesis test in simple linear regression</a:t>
            </a:r>
            <a:endParaRPr lang="en-US" dirty="0"/>
          </a:p>
        </p:txBody>
      </p:sp>
      <p:sp>
        <p:nvSpPr>
          <p:cNvPr id="3" name="Content Placeholder 2"/>
          <p:cNvSpPr>
            <a:spLocks noGrp="1"/>
          </p:cNvSpPr>
          <p:nvPr>
            <p:ph idx="1"/>
          </p:nvPr>
        </p:nvSpPr>
        <p:spPr>
          <a:noFill/>
        </p:spPr>
        <p:txBody>
          <a:bodyPr>
            <a:normAutofit lnSpcReduction="10000"/>
          </a:bodyPr>
          <a:lstStyle/>
          <a:p>
            <a:pPr marL="82296" indent="0">
              <a:buNone/>
            </a:pPr>
            <a:r>
              <a:rPr lang="en-US" dirty="0">
                <a:solidFill>
                  <a:srgbClr val="0070C0"/>
                </a:solidFill>
              </a:rPr>
              <a:t>H</a:t>
            </a:r>
            <a:r>
              <a:rPr lang="en-US" baseline="-25000" dirty="0">
                <a:solidFill>
                  <a:srgbClr val="0070C0"/>
                </a:solidFill>
              </a:rPr>
              <a:t>0</a:t>
            </a:r>
            <a:r>
              <a:rPr lang="en-US" dirty="0">
                <a:solidFill>
                  <a:srgbClr val="0070C0"/>
                </a:solidFill>
              </a:rPr>
              <a:t>: β</a:t>
            </a:r>
            <a:r>
              <a:rPr lang="en-US" baseline="-25000" dirty="0">
                <a:solidFill>
                  <a:srgbClr val="0070C0"/>
                </a:solidFill>
              </a:rPr>
              <a:t>1</a:t>
            </a:r>
            <a:r>
              <a:rPr lang="en-US" dirty="0">
                <a:solidFill>
                  <a:srgbClr val="0070C0"/>
                </a:solidFill>
              </a:rPr>
              <a:t> = </a:t>
            </a:r>
            <a:r>
              <a:rPr lang="en-US" dirty="0" smtClean="0">
                <a:solidFill>
                  <a:srgbClr val="0070C0"/>
                </a:solidFill>
              </a:rPr>
              <a:t>0 </a:t>
            </a:r>
            <a:r>
              <a:rPr lang="en-US" dirty="0" smtClean="0"/>
              <a:t>says that there is no linear relationship between y and x and that linear regression of y on x is of no value for predicting y.</a:t>
            </a:r>
            <a:endParaRPr lang="en-US" dirty="0"/>
          </a:p>
          <a:p>
            <a:pPr marL="82296" indent="0">
              <a:buNone/>
            </a:pPr>
            <a:r>
              <a:rPr lang="en-US" dirty="0">
                <a:solidFill>
                  <a:srgbClr val="0070C0"/>
                </a:solidFill>
              </a:rPr>
              <a:t>H</a:t>
            </a:r>
            <a:r>
              <a:rPr lang="en-US" baseline="-25000" dirty="0">
                <a:solidFill>
                  <a:srgbClr val="0070C0"/>
                </a:solidFill>
              </a:rPr>
              <a:t>a</a:t>
            </a:r>
            <a:r>
              <a:rPr lang="en-US" dirty="0">
                <a:solidFill>
                  <a:srgbClr val="0070C0"/>
                </a:solidFill>
              </a:rPr>
              <a:t>: β</a:t>
            </a:r>
            <a:r>
              <a:rPr lang="en-US" baseline="-25000" dirty="0">
                <a:solidFill>
                  <a:srgbClr val="0070C0"/>
                </a:solidFill>
              </a:rPr>
              <a:t>1</a:t>
            </a:r>
            <a:r>
              <a:rPr lang="en-US" dirty="0">
                <a:solidFill>
                  <a:srgbClr val="0070C0"/>
                </a:solidFill>
              </a:rPr>
              <a:t> ≠ </a:t>
            </a:r>
            <a:r>
              <a:rPr lang="en-US" dirty="0" smtClean="0">
                <a:solidFill>
                  <a:srgbClr val="0070C0"/>
                </a:solidFill>
              </a:rPr>
              <a:t>0 </a:t>
            </a:r>
            <a:r>
              <a:rPr lang="en-US" dirty="0" smtClean="0"/>
              <a:t>says that there is statistically significant linear relationship between y and x.</a:t>
            </a:r>
          </a:p>
          <a:p>
            <a:pPr marL="82296" indent="0">
              <a:buNone/>
            </a:pPr>
            <a:r>
              <a:rPr lang="en-US" dirty="0" smtClean="0"/>
              <a:t>There are two tests which will provide the same conclusions, because there is only one independent variable (this only applies to simple linear regression):</a:t>
            </a:r>
          </a:p>
          <a:p>
            <a:pPr marL="596646" indent="-514350">
              <a:buFont typeface="+mj-lt"/>
              <a:buAutoNum type="arabicPeriod"/>
            </a:pPr>
            <a:r>
              <a:rPr lang="en-US" dirty="0">
                <a:solidFill>
                  <a:srgbClr val="002060"/>
                </a:solidFill>
              </a:rPr>
              <a:t>t</a:t>
            </a:r>
            <a:r>
              <a:rPr lang="en-US" dirty="0" smtClean="0">
                <a:solidFill>
                  <a:srgbClr val="002060"/>
                </a:solidFill>
              </a:rPr>
              <a:t>-test.</a:t>
            </a:r>
          </a:p>
          <a:p>
            <a:pPr marL="596646" indent="-514350">
              <a:buFont typeface="+mj-lt"/>
              <a:buAutoNum type="arabicPeriod"/>
            </a:pPr>
            <a:r>
              <a:rPr lang="en-US" dirty="0" smtClean="0">
                <a:solidFill>
                  <a:srgbClr val="002060"/>
                </a:solidFill>
              </a:rPr>
              <a:t>F-test.</a:t>
            </a:r>
            <a:endParaRPr lang="en-US" dirty="0">
              <a:solidFill>
                <a:srgbClr val="002060"/>
              </a:solidFill>
            </a:endParaRPr>
          </a:p>
          <a:p>
            <a:endParaRPr lang="en-US" dirty="0"/>
          </a:p>
        </p:txBody>
      </p:sp>
      <p:sp>
        <p:nvSpPr>
          <p:cNvPr id="4" name="Slide Number Placeholder 3"/>
          <p:cNvSpPr>
            <a:spLocks noGrp="1"/>
          </p:cNvSpPr>
          <p:nvPr>
            <p:ph type="sldNum" sz="quarter" idx="12"/>
          </p:nvPr>
        </p:nvSpPr>
        <p:spPr/>
        <p:txBody>
          <a:bodyPr/>
          <a:lstStyle/>
          <a:p>
            <a:fld id="{6C06D09E-813C-9342-A936-A0F7564955C1}" type="slidenum">
              <a:rPr lang="en-US" smtClean="0"/>
              <a:pPr/>
              <a:t>7</a:t>
            </a:fld>
            <a:endParaRPr lang="en-US" dirty="0"/>
          </a:p>
        </p:txBody>
      </p:sp>
    </p:spTree>
    <p:extLst>
      <p:ext uri="{BB962C8B-B14F-4D97-AF65-F5344CB8AC3E}">
        <p14:creationId xmlns:p14="http://schemas.microsoft.com/office/powerpoint/2010/main" val="24092926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391886"/>
            <a:ext cx="9997440" cy="734785"/>
          </a:xfrm>
        </p:spPr>
        <p:txBody>
          <a:bodyPr>
            <a:normAutofit fontScale="90000"/>
          </a:bodyPr>
          <a:lstStyle/>
          <a:p>
            <a:pPr algn="ctr"/>
            <a:r>
              <a:rPr lang="en-US" sz="3600" dirty="0"/>
              <a:t>Statistical hypotheses for </a:t>
            </a:r>
            <a:r>
              <a:rPr lang="en-US" sz="3600" dirty="0" smtClean="0"/>
              <a:t>simple linear regression</a:t>
            </a:r>
            <a:r>
              <a:rPr lang="en-US" dirty="0"/>
              <a:t/>
            </a:r>
            <a:br>
              <a:rPr lang="en-US" dirty="0"/>
            </a:br>
            <a:endParaRPr lang="en-US" dirty="0"/>
          </a:p>
        </p:txBody>
      </p:sp>
      <p:sp>
        <p:nvSpPr>
          <p:cNvPr id="4" name="Slide Number Placeholder 3"/>
          <p:cNvSpPr>
            <a:spLocks noGrp="1"/>
          </p:cNvSpPr>
          <p:nvPr>
            <p:ph type="sldNum" sz="quarter" idx="12"/>
          </p:nvPr>
        </p:nvSpPr>
        <p:spPr/>
        <p:txBody>
          <a:bodyPr/>
          <a:lstStyle/>
          <a:p>
            <a:fld id="{6C06D09E-813C-9342-A936-A0F7564955C1}" type="slidenum">
              <a:rPr lang="en-US" smtClean="0"/>
              <a:pPr/>
              <a:t>8</a:t>
            </a:fld>
            <a:endParaRPr lang="en-US" dirty="0"/>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914144" y="1126671"/>
                <a:ext cx="9997440" cy="5355772"/>
              </a:xfrm>
            </p:spPr>
            <p:txBody>
              <a:bodyPr>
                <a:normAutofit fontScale="92500" lnSpcReduction="10000"/>
              </a:bodyPr>
              <a:lstStyle/>
              <a:p>
                <a:pPr marL="82296" indent="0">
                  <a:buNone/>
                </a:pPr>
                <a:r>
                  <a:rPr lang="en-US" sz="2400" b="1" dirty="0"/>
                  <a:t>t</a:t>
                </a:r>
                <a:r>
                  <a:rPr lang="en-US" sz="2400" b="1" dirty="0" smtClean="0"/>
                  <a:t> - test.</a:t>
                </a:r>
              </a:p>
              <a:p>
                <a:pPr marL="82296" indent="0">
                  <a:buNone/>
                </a:pPr>
                <a:r>
                  <a:rPr lang="en-US" sz="2400" dirty="0" smtClean="0"/>
                  <a:t>We </a:t>
                </a:r>
                <a:r>
                  <a:rPr lang="en-US" sz="2400" dirty="0"/>
                  <a:t>need hypothesis test to </a:t>
                </a:r>
                <a:r>
                  <a:rPr lang="en-US" sz="2400" dirty="0" smtClean="0"/>
                  <a:t>determine </a:t>
                </a:r>
                <a:r>
                  <a:rPr lang="en-US" sz="2400" dirty="0"/>
                  <a:t>whether there is a significant linear relationship between </a:t>
                </a:r>
                <a:r>
                  <a:rPr lang="en-US" sz="2400" u="sng" dirty="0"/>
                  <a:t>an independent variable X</a:t>
                </a:r>
                <a:r>
                  <a:rPr lang="en-US" sz="2400" dirty="0"/>
                  <a:t> and </a:t>
                </a:r>
                <a:r>
                  <a:rPr lang="en-US" sz="2400" u="sng" dirty="0"/>
                  <a:t>a dependent variable Y</a:t>
                </a:r>
                <a:r>
                  <a:rPr lang="en-US" sz="2400" dirty="0" smtClean="0"/>
                  <a:t>.</a:t>
                </a:r>
              </a:p>
              <a:p>
                <a:pPr marL="82296" indent="0">
                  <a:buNone/>
                </a:pPr>
                <a:r>
                  <a:rPr lang="en-US" sz="2400" dirty="0" smtClean="0"/>
                  <a:t>For </a:t>
                </a:r>
                <a:r>
                  <a:rPr lang="en-US" sz="2400" dirty="0"/>
                  <a:t>simple linear regression, the </a:t>
                </a:r>
                <a:r>
                  <a:rPr lang="en-US" sz="2400" dirty="0" smtClean="0"/>
                  <a:t>main </a:t>
                </a:r>
                <a:r>
                  <a:rPr lang="en-US" sz="2400" dirty="0"/>
                  <a:t>hypothesis </a:t>
                </a:r>
                <a:r>
                  <a:rPr lang="en-US" sz="2400" dirty="0" smtClean="0"/>
                  <a:t>is about the slope:</a:t>
                </a:r>
              </a:p>
              <a:p>
                <a:pPr marL="82296" indent="0">
                  <a:buNone/>
                </a:pPr>
                <a:r>
                  <a:rPr lang="en-US" sz="2400" dirty="0"/>
                  <a:t>H</a:t>
                </a:r>
                <a:r>
                  <a:rPr lang="en-US" sz="2400" baseline="-25000" dirty="0"/>
                  <a:t>0</a:t>
                </a:r>
                <a:r>
                  <a:rPr lang="en-US" sz="2400" dirty="0"/>
                  <a:t>: β</a:t>
                </a:r>
                <a:r>
                  <a:rPr lang="en-US" sz="2400" baseline="-25000" dirty="0"/>
                  <a:t>1</a:t>
                </a:r>
                <a:r>
                  <a:rPr lang="en-US" sz="2400" dirty="0"/>
                  <a:t> = 0</a:t>
                </a:r>
              </a:p>
              <a:p>
                <a:pPr marL="82296" indent="0">
                  <a:buNone/>
                </a:pPr>
                <a:r>
                  <a:rPr lang="en-US" sz="2400" dirty="0"/>
                  <a:t>H</a:t>
                </a:r>
                <a:r>
                  <a:rPr lang="en-US" sz="2400" baseline="-25000" dirty="0"/>
                  <a:t>a</a:t>
                </a:r>
                <a:r>
                  <a:rPr lang="en-US" sz="2400" dirty="0"/>
                  <a:t>: β</a:t>
                </a:r>
                <a:r>
                  <a:rPr lang="en-US" sz="2400" baseline="-25000" dirty="0"/>
                  <a:t>1</a:t>
                </a:r>
                <a:r>
                  <a:rPr lang="en-US" sz="2400" dirty="0"/>
                  <a:t> ≠ 0</a:t>
                </a:r>
              </a:p>
              <a:p>
                <a:pPr marL="82296" indent="0">
                  <a:buNone/>
                </a:pPr>
                <a:r>
                  <a:rPr lang="en-US" sz="2400" dirty="0"/>
                  <a:t>If this null hypothesis is true, </a:t>
                </a:r>
                <a:r>
                  <a:rPr lang="en-US" sz="2400" dirty="0" smtClean="0"/>
                  <a:t> then</a:t>
                </a:r>
                <a:r>
                  <a:rPr lang="en-US" sz="2400" dirty="0"/>
                  <a:t>, </a:t>
                </a:r>
                <a:r>
                  <a:rPr lang="en-US" sz="2400" dirty="0" smtClean="0"/>
                  <a:t> we </a:t>
                </a:r>
                <a:r>
                  <a:rPr lang="en-US" sz="2400" dirty="0"/>
                  <a:t>can see that the population mean of Y is β</a:t>
                </a:r>
                <a:r>
                  <a:rPr lang="en-US" sz="2400" baseline="-25000" dirty="0"/>
                  <a:t>0</a:t>
                </a:r>
                <a:r>
                  <a:rPr lang="en-US" sz="2400" dirty="0"/>
                  <a:t> for every x value, which tells us that x has no effect on Y </a:t>
                </a:r>
                <a:r>
                  <a:rPr lang="en-US" sz="2400" dirty="0" smtClean="0"/>
                  <a:t>.</a:t>
                </a:r>
              </a:p>
              <a:p>
                <a:pPr marL="82296" indent="0">
                  <a:buNone/>
                </a:pPr>
                <a:r>
                  <a:rPr lang="en-US" sz="2400" dirty="0" smtClean="0"/>
                  <a:t>Test statistic: t = </a:t>
                </a:r>
                <a14:m>
                  <m:oMath xmlns:m="http://schemas.openxmlformats.org/officeDocument/2006/math">
                    <m:f>
                      <m:fPr>
                        <m:ctrlPr>
                          <a:rPr lang="en-US" sz="2400" i="1">
                            <a:latin typeface="Cambria Math"/>
                          </a:rPr>
                        </m:ctrlPr>
                      </m:fPr>
                      <m:num>
                        <m:sSub>
                          <m:sSubPr>
                            <m:ctrlPr>
                              <a:rPr lang="en-US" sz="2400" i="1">
                                <a:latin typeface="Cambria Math"/>
                              </a:rPr>
                            </m:ctrlPr>
                          </m:sSubPr>
                          <m:e>
                            <m:r>
                              <a:rPr lang="en-US" sz="2400" i="1">
                                <a:latin typeface="Cambria Math"/>
                              </a:rPr>
                              <m:t>𝑏</m:t>
                            </m:r>
                          </m:e>
                          <m:sub>
                            <m:r>
                              <a:rPr lang="en-US" sz="2400" i="1">
                                <a:latin typeface="Cambria Math"/>
                              </a:rPr>
                              <m:t>1</m:t>
                            </m:r>
                          </m:sub>
                        </m:sSub>
                      </m:num>
                      <m:den>
                        <m:sSub>
                          <m:sSubPr>
                            <m:ctrlPr>
                              <a:rPr lang="en-US" sz="2400" i="1">
                                <a:latin typeface="Cambria Math"/>
                              </a:rPr>
                            </m:ctrlPr>
                          </m:sSubPr>
                          <m:e>
                            <m:r>
                              <a:rPr lang="en-US" sz="2400" i="1">
                                <a:latin typeface="Cambria Math"/>
                              </a:rPr>
                              <m:t>𝑆𝐸</m:t>
                            </m:r>
                          </m:e>
                          <m:sub>
                            <m:sSub>
                              <m:sSubPr>
                                <m:ctrlPr>
                                  <a:rPr lang="en-US" sz="2400" i="1">
                                    <a:latin typeface="Cambria Math"/>
                                  </a:rPr>
                                </m:ctrlPr>
                              </m:sSubPr>
                              <m:e>
                                <m:r>
                                  <a:rPr lang="en-US" sz="2400" i="1">
                                    <a:latin typeface="Cambria Math"/>
                                  </a:rPr>
                                  <m:t>𝑏</m:t>
                                </m:r>
                              </m:e>
                              <m:sub>
                                <m:r>
                                  <a:rPr lang="en-US" sz="2400" i="1">
                                    <a:latin typeface="Cambria Math"/>
                                  </a:rPr>
                                  <m:t>1</m:t>
                                </m:r>
                              </m:sub>
                            </m:sSub>
                          </m:sub>
                        </m:sSub>
                      </m:den>
                    </m:f>
                  </m:oMath>
                </a14:m>
                <a:r>
                  <a:rPr lang="en-US" sz="2400" dirty="0" smtClean="0"/>
                  <a:t> (Excel provides this)</a:t>
                </a:r>
              </a:p>
              <a:p>
                <a:pPr marL="82296" indent="0">
                  <a:buNone/>
                </a:pPr>
                <a:r>
                  <a:rPr lang="en-US" sz="2400" dirty="0" err="1"/>
                  <a:t>t</a:t>
                </a:r>
                <a:r>
                  <a:rPr lang="en-US" sz="2400" baseline="-25000" dirty="0" err="1"/>
                  <a:t>crit</a:t>
                </a:r>
                <a:r>
                  <a:rPr lang="en-US" sz="2400" dirty="0"/>
                  <a:t> = </a:t>
                </a:r>
                <a:r>
                  <a:rPr lang="en-US" sz="2400" dirty="0" smtClean="0"/>
                  <a:t>t</a:t>
                </a:r>
                <a:r>
                  <a:rPr lang="en-US" sz="2400" baseline="-25000" dirty="0" smtClean="0"/>
                  <a:t>α/2, </a:t>
                </a:r>
                <a:r>
                  <a:rPr lang="en-US" sz="2400" baseline="-25000" dirty="0"/>
                  <a:t>(n-2</a:t>
                </a:r>
                <a:r>
                  <a:rPr lang="en-US" sz="2400" baseline="-25000" dirty="0" smtClean="0"/>
                  <a:t>)</a:t>
                </a:r>
              </a:p>
              <a:p>
                <a:pPr marL="82296" indent="0">
                  <a:buNone/>
                </a:pPr>
                <a:r>
                  <a:rPr lang="en-US" sz="2400" dirty="0" smtClean="0"/>
                  <a:t>We reject H</a:t>
                </a:r>
                <a:r>
                  <a:rPr lang="en-US" sz="2400" baseline="-25000" dirty="0" smtClean="0"/>
                  <a:t>0</a:t>
                </a:r>
                <a:r>
                  <a:rPr lang="en-US" sz="2400" dirty="0" smtClean="0"/>
                  <a:t> if </a:t>
                </a:r>
                <a:r>
                  <a:rPr lang="en-US" sz="2400" dirty="0" err="1" smtClean="0"/>
                  <a:t>ItI</a:t>
                </a:r>
                <a:r>
                  <a:rPr lang="en-US" sz="2400" dirty="0" smtClean="0"/>
                  <a:t> ≥ </a:t>
                </a:r>
                <a:r>
                  <a:rPr lang="en-US" sz="2400" dirty="0" err="1"/>
                  <a:t>t</a:t>
                </a:r>
                <a:r>
                  <a:rPr lang="en-US" sz="2400" baseline="-25000" dirty="0" err="1"/>
                  <a:t>crit</a:t>
                </a:r>
                <a:endParaRPr lang="en-US" sz="2400" baseline="-25000" dirty="0"/>
              </a:p>
              <a:p>
                <a:pPr marL="82296" indent="0">
                  <a:buNone/>
                </a:pPr>
                <a:r>
                  <a:rPr lang="en-US" sz="2400" dirty="0" smtClean="0"/>
                  <a:t>One can also make decision by looking at p-value.</a:t>
                </a:r>
              </a:p>
              <a:p>
                <a:pPr marL="82296" indent="0">
                  <a:buNone/>
                </a:pPr>
                <a:r>
                  <a:rPr lang="en-US" sz="2400" dirty="0" smtClean="0"/>
                  <a:t>If p-value ≤ α, Reject H</a:t>
                </a:r>
                <a:r>
                  <a:rPr lang="en-US" sz="2400" baseline="-25000" dirty="0" smtClean="0"/>
                  <a:t>0</a:t>
                </a:r>
                <a:endParaRPr lang="en-US" sz="2400" baseline="-250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914144" y="1126671"/>
                <a:ext cx="9997440" cy="5355772"/>
              </a:xfrm>
              <a:blipFill rotWithShape="1">
                <a:blip r:embed="rId2"/>
                <a:stretch>
                  <a:fillRect t="-1253"/>
                </a:stretch>
              </a:blipFill>
            </p:spPr>
            <p:txBody>
              <a:bodyPr/>
              <a:lstStyle/>
              <a:p>
                <a:r>
                  <a:rPr lang="en-US">
                    <a:noFill/>
                  </a:rPr>
                  <a:t> </a:t>
                </a:r>
              </a:p>
            </p:txBody>
          </p:sp>
        </mc:Fallback>
      </mc:AlternateContent>
    </p:spTree>
    <p:extLst>
      <p:ext uri="{BB962C8B-B14F-4D97-AF65-F5344CB8AC3E}">
        <p14:creationId xmlns:p14="http://schemas.microsoft.com/office/powerpoint/2010/main" val="479823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Statistical hypotheses for simple linear regression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82296" indent="0">
                  <a:buNone/>
                </a:pPr>
                <a:r>
                  <a:rPr lang="en-US" sz="3000" dirty="0" smtClean="0">
                    <a:latin typeface="Times New Roman" pitchFamily="18" charset="0"/>
                    <a:cs typeface="Times New Roman" pitchFamily="18" charset="0"/>
                  </a:rPr>
                  <a:t>F-test. </a:t>
                </a:r>
              </a:p>
              <a:p>
                <a:pPr marL="82296" indent="0">
                  <a:buNone/>
                </a:pPr>
                <a:r>
                  <a:rPr lang="en-US" sz="3000" dirty="0">
                    <a:latin typeface="Times New Roman" pitchFamily="18" charset="0"/>
                    <a:cs typeface="Times New Roman" pitchFamily="18" charset="0"/>
                  </a:rPr>
                  <a:t>The F-test of overall significance indicates whether your </a:t>
                </a:r>
                <a:r>
                  <a:rPr lang="en-US" sz="3000" dirty="0" smtClean="0">
                    <a:latin typeface="Times New Roman" pitchFamily="18" charset="0"/>
                    <a:cs typeface="Times New Roman" pitchFamily="18" charset="0"/>
                  </a:rPr>
                  <a:t>linear </a:t>
                </a:r>
                <a:r>
                  <a:rPr lang="en-US" sz="3000" u="sng" dirty="0" smtClean="0">
                    <a:latin typeface="Times New Roman" pitchFamily="18" charset="0"/>
                    <a:cs typeface="Times New Roman" pitchFamily="18" charset="0"/>
                  </a:rPr>
                  <a:t>regression</a:t>
                </a:r>
                <a:r>
                  <a:rPr lang="en-US" sz="3000" u="sng" dirty="0">
                    <a:latin typeface="Times New Roman" pitchFamily="18" charset="0"/>
                    <a:cs typeface="Times New Roman" pitchFamily="18" charset="0"/>
                  </a:rPr>
                  <a:t> </a:t>
                </a:r>
                <a:r>
                  <a:rPr lang="en-US" sz="3000" u="sng" dirty="0" smtClean="0">
                    <a:latin typeface="Times New Roman" pitchFamily="18" charset="0"/>
                    <a:cs typeface="Times New Roman" pitchFamily="18" charset="0"/>
                  </a:rPr>
                  <a:t>model </a:t>
                </a:r>
                <a:r>
                  <a:rPr lang="en-US" sz="3000" dirty="0">
                    <a:latin typeface="Times New Roman" pitchFamily="18" charset="0"/>
                    <a:cs typeface="Times New Roman" pitchFamily="18" charset="0"/>
                  </a:rPr>
                  <a:t>provides a better fit to the data than a model that contains </a:t>
                </a:r>
                <a:r>
                  <a:rPr lang="en-US" sz="3000" dirty="0" smtClean="0">
                    <a:latin typeface="Times New Roman" pitchFamily="18" charset="0"/>
                    <a:cs typeface="Times New Roman" pitchFamily="18" charset="0"/>
                  </a:rPr>
                  <a:t>no independent variables.</a:t>
                </a:r>
                <a:r>
                  <a:rPr lang="en-US" sz="3000" dirty="0">
                    <a:latin typeface="Times New Roman" pitchFamily="18" charset="0"/>
                    <a:cs typeface="Times New Roman" pitchFamily="18" charset="0"/>
                  </a:rPr>
                  <a:t> </a:t>
                </a:r>
                <a:endParaRPr lang="en-US" sz="3000" dirty="0" smtClean="0">
                  <a:latin typeface="Times New Roman" pitchFamily="18" charset="0"/>
                  <a:cs typeface="Times New Roman" pitchFamily="18" charset="0"/>
                </a:endParaRPr>
              </a:p>
              <a:p>
                <a:pPr marL="82296" indent="0">
                  <a:buNone/>
                </a:pPr>
                <a:r>
                  <a:rPr lang="en-US" sz="3000" dirty="0" smtClean="0">
                    <a:latin typeface="Times New Roman" pitchFamily="18" charset="0"/>
                    <a:cs typeface="Times New Roman" pitchFamily="18" charset="0"/>
                  </a:rPr>
                  <a:t>H</a:t>
                </a:r>
                <a:r>
                  <a:rPr lang="en-US" sz="3000" baseline="-25000" dirty="0" smtClean="0">
                    <a:latin typeface="Times New Roman" pitchFamily="18" charset="0"/>
                    <a:cs typeface="Times New Roman" pitchFamily="18" charset="0"/>
                  </a:rPr>
                  <a:t>0</a:t>
                </a:r>
                <a:r>
                  <a:rPr lang="en-US" sz="3000" dirty="0">
                    <a:latin typeface="Times New Roman" pitchFamily="18" charset="0"/>
                    <a:cs typeface="Times New Roman" pitchFamily="18" charset="0"/>
                  </a:rPr>
                  <a:t>: β</a:t>
                </a:r>
                <a:r>
                  <a:rPr lang="en-US" sz="3000" baseline="-25000" dirty="0">
                    <a:latin typeface="Times New Roman" pitchFamily="18" charset="0"/>
                    <a:cs typeface="Times New Roman" pitchFamily="18" charset="0"/>
                  </a:rPr>
                  <a:t>1</a:t>
                </a:r>
                <a:r>
                  <a:rPr lang="en-US" sz="3000" dirty="0">
                    <a:latin typeface="Times New Roman" pitchFamily="18" charset="0"/>
                    <a:cs typeface="Times New Roman" pitchFamily="18" charset="0"/>
                  </a:rPr>
                  <a:t> = 0</a:t>
                </a:r>
              </a:p>
              <a:p>
                <a:pPr marL="82296" indent="0">
                  <a:buNone/>
                </a:pPr>
                <a:r>
                  <a:rPr lang="en-US" sz="3000" dirty="0">
                    <a:latin typeface="Times New Roman" pitchFamily="18" charset="0"/>
                    <a:cs typeface="Times New Roman" pitchFamily="18" charset="0"/>
                  </a:rPr>
                  <a:t>H</a:t>
                </a:r>
                <a:r>
                  <a:rPr lang="en-US" sz="3000" baseline="-25000" dirty="0">
                    <a:latin typeface="Times New Roman" pitchFamily="18" charset="0"/>
                    <a:cs typeface="Times New Roman" pitchFamily="18" charset="0"/>
                  </a:rPr>
                  <a:t>a</a:t>
                </a:r>
                <a:r>
                  <a:rPr lang="en-US" sz="3000" dirty="0">
                    <a:latin typeface="Times New Roman" pitchFamily="18" charset="0"/>
                    <a:cs typeface="Times New Roman" pitchFamily="18" charset="0"/>
                  </a:rPr>
                  <a:t>: β</a:t>
                </a:r>
                <a:r>
                  <a:rPr lang="en-US" sz="3000" baseline="-25000" dirty="0">
                    <a:latin typeface="Times New Roman" pitchFamily="18" charset="0"/>
                    <a:cs typeface="Times New Roman" pitchFamily="18" charset="0"/>
                  </a:rPr>
                  <a:t>1</a:t>
                </a:r>
                <a:r>
                  <a:rPr lang="en-US" sz="3000" dirty="0">
                    <a:latin typeface="Times New Roman" pitchFamily="18" charset="0"/>
                    <a:cs typeface="Times New Roman" pitchFamily="18" charset="0"/>
                  </a:rPr>
                  <a:t> ≠ 0</a:t>
                </a:r>
              </a:p>
              <a:p>
                <a:pPr marL="82296" indent="0">
                  <a:buNone/>
                </a:pPr>
                <a:r>
                  <a:rPr lang="en-US" sz="3000" dirty="0" smtClean="0">
                    <a:latin typeface="Times New Roman" pitchFamily="18" charset="0"/>
                    <a:cs typeface="Times New Roman" pitchFamily="18" charset="0"/>
                  </a:rPr>
                  <a:t>F = </a:t>
                </a:r>
                <a14:m>
                  <m:oMath xmlns:m="http://schemas.openxmlformats.org/officeDocument/2006/math">
                    <m:f>
                      <m:fPr>
                        <m:ctrlPr>
                          <a:rPr lang="en-US" sz="3000" i="1">
                            <a:latin typeface="Cambria Math"/>
                          </a:rPr>
                        </m:ctrlPr>
                      </m:fPr>
                      <m:num>
                        <m:r>
                          <a:rPr lang="en-US" sz="3000" i="1">
                            <a:latin typeface="Cambria Math"/>
                          </a:rPr>
                          <m:t>𝑀𝑆𝑀</m:t>
                        </m:r>
                      </m:num>
                      <m:den>
                        <m:r>
                          <a:rPr lang="en-US" sz="3000" i="1">
                            <a:latin typeface="Cambria Math"/>
                          </a:rPr>
                          <m:t>𝑀𝑆𝐸</m:t>
                        </m:r>
                      </m:den>
                    </m:f>
                  </m:oMath>
                </a14:m>
                <a:r>
                  <a:rPr lang="en-US" sz="3000" dirty="0" smtClean="0">
                    <a:latin typeface="Times New Roman" pitchFamily="18" charset="0"/>
                    <a:cs typeface="Times New Roman" pitchFamily="18" charset="0"/>
                  </a:rPr>
                  <a:t>                  </a:t>
                </a:r>
                <a:endParaRPr lang="en-US" sz="3000" dirty="0">
                  <a:latin typeface="Times New Roman" pitchFamily="18" charset="0"/>
                  <a:cs typeface="Times New Roman" pitchFamily="18" charset="0"/>
                </a:endParaRPr>
              </a:p>
              <a:p>
                <a:pPr marL="82296" indent="0">
                  <a:buNone/>
                </a:pPr>
                <a:r>
                  <a:rPr lang="en-US" sz="3000" dirty="0" smtClean="0">
                    <a:latin typeface="Times New Roman" pitchFamily="18" charset="0"/>
                    <a:cs typeface="Times New Roman" pitchFamily="18" charset="0"/>
                  </a:rPr>
                  <a:t>Compare with F(</a:t>
                </a:r>
                <a:r>
                  <a:rPr lang="el-GR" sz="3000" dirty="0">
                    <a:latin typeface="Times New Roman" pitchFamily="18" charset="0"/>
                    <a:cs typeface="Times New Roman" pitchFamily="18" charset="0"/>
                  </a:rPr>
                  <a:t>α </a:t>
                </a:r>
                <a:r>
                  <a:rPr lang="en-US" sz="3000" dirty="0" smtClean="0">
                    <a:latin typeface="Times New Roman" pitchFamily="18" charset="0"/>
                    <a:cs typeface="Times New Roman" pitchFamily="18" charset="0"/>
                  </a:rPr>
                  <a:t>,1, n-2)</a:t>
                </a:r>
              </a:p>
              <a:p>
                <a:pPr marL="82296" indent="0">
                  <a:buNone/>
                </a:pPr>
                <a:r>
                  <a:rPr lang="en-US" sz="3000" dirty="0" smtClean="0">
                    <a:latin typeface="Times New Roman" pitchFamily="18" charset="0"/>
                    <a:cs typeface="Times New Roman" pitchFamily="18" charset="0"/>
                  </a:rPr>
                  <a:t>Reject H</a:t>
                </a:r>
                <a:r>
                  <a:rPr lang="en-US" sz="3000" baseline="-25000" dirty="0" smtClean="0">
                    <a:latin typeface="Times New Roman" pitchFamily="18" charset="0"/>
                    <a:cs typeface="Times New Roman" pitchFamily="18" charset="0"/>
                  </a:rPr>
                  <a:t>0</a:t>
                </a:r>
                <a:r>
                  <a:rPr lang="en-US" sz="3000" dirty="0" smtClean="0">
                    <a:latin typeface="Times New Roman" pitchFamily="18" charset="0"/>
                    <a:cs typeface="Times New Roman" pitchFamily="18" charset="0"/>
                  </a:rPr>
                  <a:t> if F ≥ F(</a:t>
                </a:r>
                <a:r>
                  <a:rPr lang="el-GR" sz="3000" dirty="0" smtClean="0">
                    <a:latin typeface="Times New Roman" pitchFamily="18" charset="0"/>
                    <a:cs typeface="Times New Roman" pitchFamily="18" charset="0"/>
                  </a:rPr>
                  <a:t>α</a:t>
                </a:r>
                <a:r>
                  <a:rPr lang="en-US" sz="3000" dirty="0" smtClean="0">
                    <a:latin typeface="Times New Roman" pitchFamily="18" charset="0"/>
                    <a:cs typeface="Times New Roman" pitchFamily="18" charset="0"/>
                  </a:rPr>
                  <a:t>, 1</a:t>
                </a:r>
                <a:r>
                  <a:rPr lang="en-US" sz="3000" dirty="0">
                    <a:latin typeface="Times New Roman" pitchFamily="18" charset="0"/>
                    <a:cs typeface="Times New Roman" pitchFamily="18" charset="0"/>
                  </a:rPr>
                  <a:t>, n-2)</a:t>
                </a:r>
              </a:p>
              <a:p>
                <a:pPr marL="82296" indent="0">
                  <a:buNone/>
                </a:pPr>
                <a:r>
                  <a:rPr lang="en-US" dirty="0" smtClean="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366" t="-216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6C06D09E-813C-9342-A936-A0F7564955C1}" type="slidenum">
              <a:rPr lang="en-US" smtClean="0"/>
              <a:pPr/>
              <a:t>9</a:t>
            </a:fld>
            <a:endParaRPr lang="en-US"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8278" y="3585481"/>
            <a:ext cx="4287700" cy="2015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0612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7930"/>
          </a:xfrm>
        </p:spPr>
        <p:txBody>
          <a:bodyPr>
            <a:normAutofit/>
          </a:bodyPr>
          <a:lstStyle/>
          <a:p>
            <a:pPr algn="ctr"/>
            <a:r>
              <a:rPr lang="en-US" sz="2800" dirty="0">
                <a:latin typeface="+mn-lt"/>
              </a:rPr>
              <a:t>Simple Linear Regression</a:t>
            </a:r>
          </a:p>
        </p:txBody>
      </p:sp>
      <p:sp>
        <p:nvSpPr>
          <p:cNvPr id="3" name="Content Placeholder 2"/>
          <p:cNvSpPr>
            <a:spLocks noGrp="1"/>
          </p:cNvSpPr>
          <p:nvPr>
            <p:ph idx="1"/>
          </p:nvPr>
        </p:nvSpPr>
        <p:spPr>
          <a:xfrm>
            <a:off x="1482436" y="1233056"/>
            <a:ext cx="10099964" cy="5389417"/>
          </a:xfrm>
        </p:spPr>
        <p:txBody>
          <a:bodyPr>
            <a:normAutofit/>
          </a:bodyPr>
          <a:lstStyle/>
          <a:p>
            <a:pPr marL="82296" indent="0">
              <a:buNone/>
            </a:pPr>
            <a:r>
              <a:rPr lang="en-US" sz="2800" b="1" i="1" dirty="0" smtClean="0">
                <a:latin typeface="Times New Roman" pitchFamily="18" charset="0"/>
                <a:cs typeface="Times New Roman" pitchFamily="18" charset="0"/>
              </a:rPr>
              <a:t>Example. </a:t>
            </a:r>
          </a:p>
          <a:p>
            <a:pPr marL="82296" indent="0">
              <a:buNone/>
            </a:pPr>
            <a:r>
              <a:rPr lang="en-US" sz="2800" dirty="0" smtClean="0">
                <a:latin typeface="Times New Roman" pitchFamily="18" charset="0"/>
                <a:cs typeface="Times New Roman" pitchFamily="18" charset="0"/>
              </a:rPr>
              <a:t>The following data was </a:t>
            </a:r>
            <a:r>
              <a:rPr lang="en-US" sz="2800" dirty="0">
                <a:latin typeface="Times New Roman" pitchFamily="18" charset="0"/>
                <a:cs typeface="Times New Roman" pitchFamily="18" charset="0"/>
              </a:rPr>
              <a:t>obtained from </a:t>
            </a:r>
            <a:r>
              <a:rPr lang="en-US" sz="2800" dirty="0" smtClean="0">
                <a:latin typeface="Times New Roman" pitchFamily="18" charset="0"/>
                <a:cs typeface="Times New Roman" pitchFamily="18" charset="0"/>
              </a:rPr>
              <a:t>the website </a:t>
            </a:r>
            <a:r>
              <a:rPr lang="en-US" sz="2800" dirty="0" smtClean="0">
                <a:solidFill>
                  <a:srgbClr val="00B0F0"/>
                </a:solidFill>
                <a:latin typeface="Times New Roman" pitchFamily="18" charset="0"/>
                <a:cs typeface="Times New Roman" pitchFamily="18" charset="0"/>
              </a:rPr>
              <a:t>https</a:t>
            </a:r>
            <a:r>
              <a:rPr lang="en-US" sz="2800" dirty="0">
                <a:solidFill>
                  <a:srgbClr val="00B0F0"/>
                </a:solidFill>
                <a:latin typeface="Times New Roman" pitchFamily="18" charset="0"/>
                <a:cs typeface="Times New Roman" pitchFamily="18" charset="0"/>
              </a:rPr>
              <a:t>://</a:t>
            </a:r>
            <a:r>
              <a:rPr lang="en-US" sz="2800" dirty="0" smtClean="0">
                <a:solidFill>
                  <a:srgbClr val="00B0F0"/>
                </a:solidFill>
                <a:latin typeface="Times New Roman" pitchFamily="18" charset="0"/>
                <a:cs typeface="Times New Roman" pitchFamily="18" charset="0"/>
              </a:rPr>
              <a:t>olx.uz.  </a:t>
            </a:r>
            <a:r>
              <a:rPr lang="en-US" sz="2800" dirty="0" smtClean="0">
                <a:latin typeface="Times New Roman" pitchFamily="18" charset="0"/>
                <a:cs typeface="Times New Roman" pitchFamily="18" charset="0"/>
              </a:rPr>
              <a:t>Asking price and odometer of 10 cars</a:t>
            </a:r>
          </a:p>
          <a:p>
            <a:pPr marL="82296" indent="0">
              <a:buNone/>
            </a:pPr>
            <a:r>
              <a:rPr lang="en-US" sz="2800" dirty="0" smtClean="0">
                <a:latin typeface="Times New Roman" pitchFamily="18" charset="0"/>
                <a:cs typeface="Times New Roman" pitchFamily="18" charset="0"/>
              </a:rPr>
              <a:t>of the same model (Toyota Camry) </a:t>
            </a:r>
          </a:p>
          <a:p>
            <a:pPr marL="82296" indent="0">
              <a:buNone/>
            </a:pPr>
            <a:r>
              <a:rPr lang="en-US" sz="2800" dirty="0">
                <a:latin typeface="Times New Roman" pitchFamily="18" charset="0"/>
                <a:cs typeface="Times New Roman" pitchFamily="18" charset="0"/>
              </a:rPr>
              <a:t>w</a:t>
            </a:r>
            <a:r>
              <a:rPr lang="en-US" sz="2800" dirty="0" smtClean="0">
                <a:latin typeface="Times New Roman" pitchFamily="18" charset="0"/>
                <a:cs typeface="Times New Roman" pitchFamily="18" charset="0"/>
              </a:rPr>
              <a:t>ere collected. Our goal is to build a</a:t>
            </a:r>
          </a:p>
          <a:p>
            <a:pPr marL="82296" indent="0">
              <a:buNone/>
            </a:pPr>
            <a:r>
              <a:rPr lang="en-US" sz="2800" dirty="0">
                <a:latin typeface="Times New Roman" pitchFamily="18" charset="0"/>
                <a:cs typeface="Times New Roman" pitchFamily="18" charset="0"/>
              </a:rPr>
              <a:t>s</a:t>
            </a:r>
            <a:r>
              <a:rPr lang="en-US" sz="2800" dirty="0" smtClean="0">
                <a:latin typeface="Times New Roman" pitchFamily="18" charset="0"/>
                <a:cs typeface="Times New Roman" pitchFamily="18" charset="0"/>
              </a:rPr>
              <a:t>imple regression model to predict</a:t>
            </a:r>
          </a:p>
          <a:p>
            <a:pPr marL="82296" indent="0">
              <a:buNone/>
            </a:pPr>
            <a:r>
              <a:rPr lang="en-US" sz="2800" dirty="0">
                <a:latin typeface="Times New Roman" pitchFamily="18" charset="0"/>
                <a:cs typeface="Times New Roman" pitchFamily="18" charset="0"/>
              </a:rPr>
              <a:t>c</a:t>
            </a:r>
            <a:r>
              <a:rPr lang="en-US" sz="2800" dirty="0" smtClean="0">
                <a:latin typeface="Times New Roman" pitchFamily="18" charset="0"/>
                <a:cs typeface="Times New Roman" pitchFamily="18" charset="0"/>
              </a:rPr>
              <a:t>ar price based on its odometer. </a:t>
            </a:r>
            <a:endParaRPr lang="en-US" sz="28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C06D09E-813C-9342-A936-A0F7564955C1}" type="slidenum">
              <a:rPr lang="en-US" smtClean="0"/>
              <a:t>10</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12560339"/>
              </p:ext>
            </p:extLst>
          </p:nvPr>
        </p:nvGraphicFramePr>
        <p:xfrm>
          <a:off x="7432963" y="2355269"/>
          <a:ext cx="3934691" cy="4109840"/>
        </p:xfrm>
        <a:graphic>
          <a:graphicData uri="http://schemas.openxmlformats.org/drawingml/2006/table">
            <a:tbl>
              <a:tblPr>
                <a:tableStyleId>{5C22544A-7EE6-4342-B048-85BDC9FD1C3A}</a:tableStyleId>
              </a:tblPr>
              <a:tblGrid>
                <a:gridCol w="1995055"/>
                <a:gridCol w="1939636"/>
              </a:tblGrid>
              <a:tr h="561960">
                <a:tc>
                  <a:txBody>
                    <a:bodyPr/>
                    <a:lstStyle/>
                    <a:p>
                      <a:pPr algn="ctr" fontAlgn="b"/>
                      <a:r>
                        <a:rPr lang="en-US" sz="1800" b="1" u="none" strike="noStrike" baseline="0" dirty="0">
                          <a:solidFill>
                            <a:schemeClr val="tx1"/>
                          </a:solidFill>
                          <a:effectLst/>
                        </a:rPr>
                        <a:t>Asking </a:t>
                      </a:r>
                      <a:r>
                        <a:rPr lang="en-US" sz="1800" b="1" u="none" strike="noStrike" baseline="0" dirty="0" smtClean="0">
                          <a:solidFill>
                            <a:schemeClr val="tx1"/>
                          </a:solidFill>
                          <a:effectLst/>
                        </a:rPr>
                        <a:t>Price ($)</a:t>
                      </a:r>
                      <a:endParaRPr lang="en-US" sz="1800" b="1" i="0" u="none" strike="noStrike" baseline="0" dirty="0">
                        <a:solidFill>
                          <a:schemeClr val="tx1"/>
                        </a:solidFill>
                        <a:effectLst/>
                        <a:latin typeface="Calibri"/>
                      </a:endParaRPr>
                    </a:p>
                  </a:txBody>
                  <a:tcPr marL="9525" marR="9525" marT="9525" marB="0" anchor="b"/>
                </a:tc>
                <a:tc>
                  <a:txBody>
                    <a:bodyPr/>
                    <a:lstStyle/>
                    <a:p>
                      <a:pPr algn="ctr" fontAlgn="b"/>
                      <a:r>
                        <a:rPr lang="en-US" sz="1800" b="1" u="none" strike="noStrike" baseline="0" dirty="0" smtClean="0">
                          <a:solidFill>
                            <a:schemeClr val="tx1"/>
                          </a:solidFill>
                          <a:effectLst/>
                        </a:rPr>
                        <a:t>Odometer (km)</a:t>
                      </a:r>
                      <a:endParaRPr lang="en-US" sz="1800" b="1" i="0" u="none" strike="noStrike" baseline="0" dirty="0">
                        <a:solidFill>
                          <a:schemeClr val="tx1"/>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$18,500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209000</a:t>
                      </a:r>
                      <a:endParaRPr lang="en-US" sz="1800" b="0" i="0" u="none" strike="noStrike" dirty="0">
                        <a:solidFill>
                          <a:srgbClr val="000000"/>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$12,500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238600</a:t>
                      </a:r>
                      <a:endParaRPr lang="en-US" sz="1800" b="0" i="0" u="none" strike="noStrike" dirty="0">
                        <a:solidFill>
                          <a:srgbClr val="000000"/>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$37,000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30000</a:t>
                      </a:r>
                      <a:endParaRPr lang="en-US" sz="1800" b="0" i="0" u="none" strike="noStrike" dirty="0">
                        <a:solidFill>
                          <a:srgbClr val="000000"/>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$13,500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319000</a:t>
                      </a:r>
                      <a:endParaRPr lang="en-US" sz="1800" b="0" i="0" u="none" strike="noStrike" dirty="0">
                        <a:solidFill>
                          <a:srgbClr val="000000"/>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$15,000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320000</a:t>
                      </a:r>
                      <a:endParaRPr lang="en-US" sz="1800" b="0" i="0" u="none" strike="noStrike" dirty="0">
                        <a:solidFill>
                          <a:srgbClr val="000000"/>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$48,000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38257</a:t>
                      </a:r>
                      <a:endParaRPr lang="en-US" sz="1800" b="0" i="0" u="none" strike="noStrike" dirty="0">
                        <a:solidFill>
                          <a:srgbClr val="000000"/>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$15,000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180000</a:t>
                      </a:r>
                      <a:endParaRPr lang="en-US" sz="1800" b="0" i="0" u="none" strike="noStrike" dirty="0">
                        <a:solidFill>
                          <a:srgbClr val="000000"/>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$14,500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125000</a:t>
                      </a:r>
                      <a:endParaRPr lang="en-US" sz="1800" b="0" i="0" u="none" strike="noStrike" dirty="0">
                        <a:solidFill>
                          <a:srgbClr val="000000"/>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$15,000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220000</a:t>
                      </a:r>
                      <a:endParaRPr lang="en-US" sz="1800" b="0" i="0" u="none" strike="noStrike" dirty="0">
                        <a:solidFill>
                          <a:srgbClr val="000000"/>
                        </a:solidFill>
                        <a:effectLst/>
                        <a:latin typeface="Calibri"/>
                      </a:endParaRPr>
                    </a:p>
                  </a:txBody>
                  <a:tcPr marL="9525" marR="9525" marT="9525" marB="0" anchor="b"/>
                </a:tc>
              </a:tr>
              <a:tr h="354788">
                <a:tc>
                  <a:txBody>
                    <a:bodyPr/>
                    <a:lstStyle/>
                    <a:p>
                      <a:pPr algn="r" fontAlgn="b"/>
                      <a:r>
                        <a:rPr lang="en-US" sz="1800" u="none" strike="noStrike" dirty="0">
                          <a:effectLst/>
                        </a:rPr>
                        <a:t> </a:t>
                      </a:r>
                      <a:r>
                        <a:rPr lang="en-US" sz="1800" u="none" strike="noStrike" dirty="0" smtClean="0">
                          <a:effectLst/>
                        </a:rPr>
                        <a:t>$13,500 </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192000</a:t>
                      </a:r>
                      <a:endParaRPr lang="en-US" sz="1800" b="0" i="0" u="none" strike="noStrike" dirty="0">
                        <a:solidFill>
                          <a:srgbClr val="000000"/>
                        </a:solidFill>
                        <a:effectLst/>
                        <a:latin typeface="Calibri"/>
                      </a:endParaRPr>
                    </a:p>
                  </a:txBody>
                  <a:tcPr marL="9525" marR="9525" marT="9525" marB="0" anchor="b"/>
                </a:tc>
              </a:tr>
            </a:tbl>
          </a:graphicData>
        </a:graphic>
      </p:graphicFrame>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9440" y="-3"/>
            <a:ext cx="2674360" cy="1828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62354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141903"/>
            <a:ext cx="9997440" cy="595516"/>
          </a:xfrm>
        </p:spPr>
        <p:txBody>
          <a:bodyPr>
            <a:normAutofit fontScale="90000"/>
          </a:bodyPr>
          <a:lstStyle/>
          <a:p>
            <a:pPr algn="ctr"/>
            <a:r>
              <a:rPr lang="en-US" dirty="0" smtClean="0"/>
              <a:t>Diagnostics</a:t>
            </a:r>
            <a:endParaRPr lang="en-US" dirty="0"/>
          </a:p>
        </p:txBody>
      </p:sp>
      <p:sp>
        <p:nvSpPr>
          <p:cNvPr id="4" name="Slide Number Placeholder 3"/>
          <p:cNvSpPr>
            <a:spLocks noGrp="1"/>
          </p:cNvSpPr>
          <p:nvPr>
            <p:ph type="sldNum" sz="quarter" idx="12"/>
          </p:nvPr>
        </p:nvSpPr>
        <p:spPr/>
        <p:txBody>
          <a:bodyPr/>
          <a:lstStyle/>
          <a:p>
            <a:fld id="{6C06D09E-813C-9342-A936-A0F7564955C1}" type="slidenum">
              <a:rPr lang="en-US" smtClean="0"/>
              <a:pPr/>
              <a:t>11</a:t>
            </a:fld>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0336" y="3959942"/>
            <a:ext cx="4860464" cy="257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6423" y="1068687"/>
            <a:ext cx="5164531" cy="2736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0336" y="1068688"/>
            <a:ext cx="4748980" cy="2866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4763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10515600" cy="1233488"/>
          </a:xfrm>
        </p:spPr>
        <p:txBody>
          <a:bodyPr/>
          <a:lstStyle/>
          <a:p>
            <a:pPr algn="ctr"/>
            <a:r>
              <a:rPr lang="en-US" dirty="0" smtClean="0"/>
              <a:t>Excel Output</a:t>
            </a:r>
            <a:endParaRPr lang="en-US" dirty="0"/>
          </a:p>
        </p:txBody>
      </p:sp>
      <p:sp>
        <p:nvSpPr>
          <p:cNvPr id="3" name="Content Placeholder 2"/>
          <p:cNvSpPr>
            <a:spLocks noGrp="1"/>
          </p:cNvSpPr>
          <p:nvPr>
            <p:ph idx="1"/>
          </p:nvPr>
        </p:nvSpPr>
        <p:spPr>
          <a:xfrm>
            <a:off x="1427018" y="1447799"/>
            <a:ext cx="10484566" cy="4980709"/>
          </a:xfrm>
        </p:spPr>
        <p:txBody>
          <a:bodyPr>
            <a:normAutofit/>
          </a:bodyPr>
          <a:lstStyle/>
          <a:p>
            <a:pPr marL="0" indent="0" algn="just">
              <a:buNone/>
            </a:pPr>
            <a:endParaRPr lang="en-US" dirty="0"/>
          </a:p>
          <a:p>
            <a:endParaRPr lang="en-US" dirty="0"/>
          </a:p>
        </p:txBody>
      </p:sp>
      <p:sp>
        <p:nvSpPr>
          <p:cNvPr id="4" name="Slide Number Placeholder 3"/>
          <p:cNvSpPr>
            <a:spLocks noGrp="1"/>
          </p:cNvSpPr>
          <p:nvPr>
            <p:ph type="sldNum" sz="quarter" idx="12"/>
          </p:nvPr>
        </p:nvSpPr>
        <p:spPr/>
        <p:txBody>
          <a:bodyPr/>
          <a:lstStyle/>
          <a:p>
            <a:fld id="{6C06D09E-813C-9342-A936-A0F7564955C1}" type="slidenum">
              <a:rPr lang="en-US" smtClean="0"/>
              <a:t>12</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531910149"/>
              </p:ext>
            </p:extLst>
          </p:nvPr>
        </p:nvGraphicFramePr>
        <p:xfrm>
          <a:off x="1583942" y="1747840"/>
          <a:ext cx="9551418" cy="4673583"/>
        </p:xfrm>
        <a:graphic>
          <a:graphicData uri="http://schemas.openxmlformats.org/drawingml/2006/table">
            <a:tbl>
              <a:tblPr>
                <a:tableStyleId>{5C22544A-7EE6-4342-B048-85BDC9FD1C3A}</a:tableStyleId>
              </a:tblPr>
              <a:tblGrid>
                <a:gridCol w="1159258"/>
                <a:gridCol w="1503680"/>
                <a:gridCol w="1483360"/>
                <a:gridCol w="1280160"/>
                <a:gridCol w="1320800"/>
                <a:gridCol w="1320800"/>
                <a:gridCol w="1483360"/>
              </a:tblGrid>
              <a:tr h="442292">
                <a:tc>
                  <a:txBody>
                    <a:bodyPr/>
                    <a:lstStyle/>
                    <a:p>
                      <a:pPr algn="l" fontAlgn="b"/>
                      <a:r>
                        <a:rPr lang="en-US" sz="1800" u="none" strike="noStrike" dirty="0">
                          <a:effectLst/>
                        </a:rPr>
                        <a:t>ANOVA</a:t>
                      </a:r>
                      <a:endParaRPr lang="en-US" sz="1800" b="0" i="0" u="none" strike="noStrike" dirty="0">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r>
              <a:tr h="762426">
                <a:tc>
                  <a:txBody>
                    <a:bodyPr/>
                    <a:lstStyle/>
                    <a:p>
                      <a:pPr algn="ctr" fontAlgn="b"/>
                      <a:r>
                        <a:rPr lang="en-US" sz="1800" u="none" strike="noStrike" dirty="0">
                          <a:effectLst/>
                        </a:rPr>
                        <a:t> </a:t>
                      </a:r>
                      <a:endParaRPr lang="en-US" sz="1800" b="0" i="1" u="none" strike="noStrike" dirty="0">
                        <a:solidFill>
                          <a:srgbClr val="000000"/>
                        </a:solidFill>
                        <a:effectLst/>
                        <a:latin typeface="Calibri"/>
                      </a:endParaRPr>
                    </a:p>
                  </a:txBody>
                  <a:tcPr marL="9525" marR="9525" marT="9525" marB="0" anchor="b"/>
                </a:tc>
                <a:tc>
                  <a:txBody>
                    <a:bodyPr/>
                    <a:lstStyle/>
                    <a:p>
                      <a:pPr algn="ctr" fontAlgn="b"/>
                      <a:r>
                        <a:rPr lang="en-US" sz="1800" u="none" strike="noStrike">
                          <a:effectLst/>
                        </a:rPr>
                        <a:t>df</a:t>
                      </a:r>
                      <a:endParaRPr lang="en-US" sz="1800" b="0" i="1" u="none" strike="noStrike">
                        <a:solidFill>
                          <a:srgbClr val="000000"/>
                        </a:solidFill>
                        <a:effectLst/>
                        <a:latin typeface="Calibri"/>
                      </a:endParaRPr>
                    </a:p>
                  </a:txBody>
                  <a:tcPr marL="9525" marR="9525" marT="9525" marB="0" anchor="b"/>
                </a:tc>
                <a:tc>
                  <a:txBody>
                    <a:bodyPr/>
                    <a:lstStyle/>
                    <a:p>
                      <a:pPr algn="ctr" fontAlgn="b"/>
                      <a:r>
                        <a:rPr lang="en-US" sz="1800" u="none" strike="noStrike">
                          <a:effectLst/>
                        </a:rPr>
                        <a:t>SS</a:t>
                      </a:r>
                      <a:endParaRPr lang="en-US" sz="1800" b="0" i="1" u="none" strike="noStrike">
                        <a:solidFill>
                          <a:srgbClr val="000000"/>
                        </a:solidFill>
                        <a:effectLst/>
                        <a:latin typeface="Calibri"/>
                      </a:endParaRPr>
                    </a:p>
                  </a:txBody>
                  <a:tcPr marL="9525" marR="9525" marT="9525" marB="0" anchor="b"/>
                </a:tc>
                <a:tc>
                  <a:txBody>
                    <a:bodyPr/>
                    <a:lstStyle/>
                    <a:p>
                      <a:pPr algn="ctr" fontAlgn="b"/>
                      <a:r>
                        <a:rPr lang="en-US" sz="1800" u="none" strike="noStrike">
                          <a:effectLst/>
                        </a:rPr>
                        <a:t>MS</a:t>
                      </a:r>
                      <a:endParaRPr lang="en-US" sz="1800" b="0" i="1" u="none" strike="noStrike">
                        <a:solidFill>
                          <a:srgbClr val="000000"/>
                        </a:solidFill>
                        <a:effectLst/>
                        <a:latin typeface="Calibri"/>
                      </a:endParaRPr>
                    </a:p>
                  </a:txBody>
                  <a:tcPr marL="9525" marR="9525" marT="9525" marB="0" anchor="b"/>
                </a:tc>
                <a:tc>
                  <a:txBody>
                    <a:bodyPr/>
                    <a:lstStyle/>
                    <a:p>
                      <a:pPr algn="ctr" fontAlgn="b"/>
                      <a:r>
                        <a:rPr lang="en-US" sz="1800" u="none" strike="noStrike">
                          <a:effectLst/>
                        </a:rPr>
                        <a:t>F</a:t>
                      </a:r>
                      <a:endParaRPr lang="en-US" sz="1800" b="0" i="1" u="none" strike="noStrike">
                        <a:solidFill>
                          <a:srgbClr val="000000"/>
                        </a:solidFill>
                        <a:effectLst/>
                        <a:latin typeface="Calibri"/>
                      </a:endParaRPr>
                    </a:p>
                  </a:txBody>
                  <a:tcPr marL="9525" marR="9525" marT="9525" marB="0" anchor="b"/>
                </a:tc>
                <a:tc>
                  <a:txBody>
                    <a:bodyPr/>
                    <a:lstStyle/>
                    <a:p>
                      <a:pPr algn="ctr" fontAlgn="b"/>
                      <a:r>
                        <a:rPr lang="en-US" sz="1800" u="none" strike="noStrike">
                          <a:effectLst/>
                        </a:rPr>
                        <a:t>Significance F</a:t>
                      </a:r>
                      <a:endParaRPr lang="en-US" sz="1800" b="0" i="1"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r>
              <a:tr h="421230">
                <a:tc>
                  <a:txBody>
                    <a:bodyPr/>
                    <a:lstStyle/>
                    <a:p>
                      <a:pPr algn="l" fontAlgn="b"/>
                      <a:r>
                        <a:rPr lang="en-US" sz="1800" u="none" strike="noStrike" dirty="0">
                          <a:effectLst/>
                        </a:rPr>
                        <a:t>Regression</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a:effectLst/>
                        </a:rPr>
                        <a:t>1</a:t>
                      </a:r>
                      <a:endParaRPr lang="en-US" sz="1800" b="0" i="0" u="none" strike="noStrike">
                        <a:solidFill>
                          <a:srgbClr val="000000"/>
                        </a:solidFill>
                        <a:effectLst/>
                        <a:latin typeface="Calibri"/>
                      </a:endParaRPr>
                    </a:p>
                  </a:txBody>
                  <a:tcPr marL="9525" marR="9525" marT="9525" marB="0" anchor="b"/>
                </a:tc>
                <a:tc>
                  <a:txBody>
                    <a:bodyPr/>
                    <a:lstStyle/>
                    <a:p>
                      <a:pPr algn="r" fontAlgn="b"/>
                      <a:r>
                        <a:rPr lang="en-US" sz="1800" u="none" strike="noStrike" dirty="0">
                          <a:effectLst/>
                        </a:rPr>
                        <a:t>8.21E+08</a:t>
                      </a:r>
                      <a:endParaRPr lang="en-US" sz="1800" b="0" i="0" u="none" strike="noStrike" dirty="0">
                        <a:solidFill>
                          <a:srgbClr val="000000"/>
                        </a:solidFill>
                        <a:effectLst/>
                        <a:latin typeface="Calibri"/>
                      </a:endParaRPr>
                    </a:p>
                  </a:txBody>
                  <a:tcPr marL="9525" marR="9525" marT="9525" marB="0" anchor="b">
                    <a:solidFill>
                      <a:srgbClr val="92D050"/>
                    </a:solidFill>
                  </a:tcPr>
                </a:tc>
                <a:tc>
                  <a:txBody>
                    <a:bodyPr/>
                    <a:lstStyle/>
                    <a:p>
                      <a:pPr algn="r" fontAlgn="b"/>
                      <a:r>
                        <a:rPr lang="en-US" sz="1800" u="none" strike="noStrike">
                          <a:effectLst/>
                        </a:rPr>
                        <a:t>8.21E+08</a:t>
                      </a:r>
                      <a:endParaRPr lang="en-US" sz="1800" b="0" i="0" u="none" strike="noStrike">
                        <a:solidFill>
                          <a:srgbClr val="000000"/>
                        </a:solidFill>
                        <a:effectLst/>
                        <a:latin typeface="Calibri"/>
                      </a:endParaRPr>
                    </a:p>
                  </a:txBody>
                  <a:tcPr marL="9525" marR="9525" marT="9525" marB="0" anchor="b"/>
                </a:tc>
                <a:tc>
                  <a:txBody>
                    <a:bodyPr/>
                    <a:lstStyle/>
                    <a:p>
                      <a:pPr algn="r" fontAlgn="b"/>
                      <a:r>
                        <a:rPr lang="en-US" sz="1800" u="none" strike="noStrike" dirty="0">
                          <a:effectLst/>
                        </a:rPr>
                        <a:t>13.15349</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solidFill>
                            <a:schemeClr val="tx1"/>
                          </a:solidFill>
                          <a:effectLst/>
                        </a:rPr>
                        <a:t>0.006716</a:t>
                      </a:r>
                      <a:endParaRPr lang="en-US" sz="1800" b="0" i="0" u="none" strike="noStrike" dirty="0">
                        <a:solidFill>
                          <a:schemeClr val="tx1"/>
                        </a:solidFill>
                        <a:effectLst/>
                        <a:latin typeface="Calibri"/>
                      </a:endParaRPr>
                    </a:p>
                  </a:txBody>
                  <a:tcPr marL="9525" marR="9525" marT="9525" marB="0" anchor="b">
                    <a:solidFill>
                      <a:srgbClr val="FFFF00"/>
                    </a:solidFill>
                  </a:tcPr>
                </a:tc>
                <a:tc>
                  <a:txBody>
                    <a:bodyPr/>
                    <a:lstStyle/>
                    <a:p>
                      <a:pPr algn="l" fontAlgn="b"/>
                      <a:endParaRPr lang="en-US" sz="1800" b="0" i="0" u="none" strike="noStrike" dirty="0">
                        <a:solidFill>
                          <a:srgbClr val="000000"/>
                        </a:solidFill>
                        <a:effectLst/>
                        <a:latin typeface="Calibri"/>
                      </a:endParaRPr>
                    </a:p>
                  </a:txBody>
                  <a:tcPr marL="9525" marR="9525" marT="9525" marB="0" anchor="b"/>
                </a:tc>
              </a:tr>
              <a:tr h="421230">
                <a:tc>
                  <a:txBody>
                    <a:bodyPr/>
                    <a:lstStyle/>
                    <a:p>
                      <a:pPr algn="l" fontAlgn="b"/>
                      <a:r>
                        <a:rPr lang="en-US" sz="1800" u="none" strike="noStrike" dirty="0">
                          <a:effectLst/>
                        </a:rPr>
                        <a:t>Residual</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a:effectLst/>
                        </a:rPr>
                        <a:t>8</a:t>
                      </a:r>
                      <a:endParaRPr lang="en-US" sz="1800" b="0" i="0" u="none" strike="noStrike">
                        <a:solidFill>
                          <a:srgbClr val="000000"/>
                        </a:solidFill>
                        <a:effectLst/>
                        <a:latin typeface="Calibri"/>
                      </a:endParaRPr>
                    </a:p>
                  </a:txBody>
                  <a:tcPr marL="9525" marR="9525" marT="9525" marB="0" anchor="b"/>
                </a:tc>
                <a:tc>
                  <a:txBody>
                    <a:bodyPr/>
                    <a:lstStyle/>
                    <a:p>
                      <a:pPr algn="r" fontAlgn="b"/>
                      <a:r>
                        <a:rPr lang="en-US" sz="1800" u="none" strike="noStrike">
                          <a:effectLst/>
                        </a:rPr>
                        <a:t>4.99E+08</a:t>
                      </a:r>
                      <a:endParaRPr lang="en-US" sz="1800" b="0" i="0" u="none" strike="noStrike">
                        <a:solidFill>
                          <a:srgbClr val="000000"/>
                        </a:solidFill>
                        <a:effectLst/>
                        <a:latin typeface="Calibri"/>
                      </a:endParaRPr>
                    </a:p>
                  </a:txBody>
                  <a:tcPr marL="9525" marR="9525" marT="9525" marB="0" anchor="b"/>
                </a:tc>
                <a:tc>
                  <a:txBody>
                    <a:bodyPr/>
                    <a:lstStyle/>
                    <a:p>
                      <a:pPr algn="r" fontAlgn="b"/>
                      <a:r>
                        <a:rPr lang="en-US" sz="1800" u="none" strike="noStrike">
                          <a:effectLst/>
                        </a:rPr>
                        <a:t>62430599</a:t>
                      </a:r>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r>
              <a:tr h="442292">
                <a:tc>
                  <a:txBody>
                    <a:bodyPr/>
                    <a:lstStyle/>
                    <a:p>
                      <a:pPr algn="l" fontAlgn="b"/>
                      <a:r>
                        <a:rPr lang="en-US" sz="1800" u="none" strike="noStrike" dirty="0">
                          <a:effectLst/>
                        </a:rPr>
                        <a:t>Total</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a:effectLst/>
                        </a:rPr>
                        <a:t>9</a:t>
                      </a:r>
                      <a:endParaRPr lang="en-US" sz="1800" b="0" i="0" u="none" strike="noStrike">
                        <a:solidFill>
                          <a:srgbClr val="000000"/>
                        </a:solidFill>
                        <a:effectLst/>
                        <a:latin typeface="Calibri"/>
                      </a:endParaRPr>
                    </a:p>
                  </a:txBody>
                  <a:tcPr marL="9525" marR="9525" marT="9525" marB="0" anchor="b"/>
                </a:tc>
                <a:tc>
                  <a:txBody>
                    <a:bodyPr/>
                    <a:lstStyle/>
                    <a:p>
                      <a:pPr algn="r" fontAlgn="b"/>
                      <a:r>
                        <a:rPr lang="en-US" sz="1800" u="none" strike="noStrike" dirty="0">
                          <a:effectLst/>
                        </a:rPr>
                        <a:t>1.32E+09</a:t>
                      </a:r>
                      <a:endParaRPr lang="en-US" sz="1800" b="0" i="0" u="none" strike="noStrike" dirty="0">
                        <a:solidFill>
                          <a:srgbClr val="000000"/>
                        </a:solidFill>
                        <a:effectLst/>
                        <a:latin typeface="Calibri"/>
                      </a:endParaRPr>
                    </a:p>
                  </a:txBody>
                  <a:tcPr marL="9525" marR="9525" marT="9525" marB="0" anchor="b">
                    <a:solidFill>
                      <a:srgbClr val="92D050"/>
                    </a:solidFill>
                  </a:tcPr>
                </a:tc>
                <a:tc>
                  <a:txBody>
                    <a:bodyPr/>
                    <a:lstStyle/>
                    <a:p>
                      <a:pPr algn="l" fontAlgn="b"/>
                      <a:r>
                        <a:rPr lang="en-US" sz="1800" u="none" strike="noStrike" dirty="0">
                          <a:effectLst/>
                        </a:rPr>
                        <a:t> </a:t>
                      </a:r>
                      <a:endParaRPr lang="en-US" sz="1800" b="0" i="0" u="none" strike="noStrike" dirty="0">
                        <a:solidFill>
                          <a:srgbClr val="000000"/>
                        </a:solidFill>
                        <a:effectLst/>
                        <a:latin typeface="Calibri"/>
                      </a:endParaRPr>
                    </a:p>
                  </a:txBody>
                  <a:tcPr marL="9525" marR="9525" marT="9525" marB="0" anchor="b"/>
                </a:tc>
                <a:tc>
                  <a:txBody>
                    <a:bodyPr/>
                    <a:lstStyle/>
                    <a:p>
                      <a:pPr algn="l" fontAlgn="b"/>
                      <a:r>
                        <a:rPr lang="en-US" sz="1800" u="none" strike="noStrike">
                          <a:effectLst/>
                        </a:rPr>
                        <a:t> </a:t>
                      </a:r>
                      <a:endParaRPr lang="en-US" sz="1800" b="0" i="0" u="none" strike="noStrike">
                        <a:solidFill>
                          <a:srgbClr val="000000"/>
                        </a:solidFill>
                        <a:effectLst/>
                        <a:latin typeface="Calibri"/>
                      </a:endParaRPr>
                    </a:p>
                  </a:txBody>
                  <a:tcPr marL="9525" marR="9525" marT="9525" marB="0" anchor="b"/>
                </a:tc>
                <a:tc>
                  <a:txBody>
                    <a:bodyPr/>
                    <a:lstStyle/>
                    <a:p>
                      <a:pPr algn="l" fontAlgn="b"/>
                      <a:r>
                        <a:rPr lang="en-US" sz="1800" u="none" strike="noStrike" dirty="0">
                          <a:effectLst/>
                        </a:rPr>
                        <a:t> </a:t>
                      </a:r>
                      <a:endParaRPr lang="en-US" sz="1800" b="0" i="0" u="none" strike="noStrike" dirty="0">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r>
              <a:tr h="442292">
                <a:tc>
                  <a:txBody>
                    <a:bodyPr/>
                    <a:lstStyle/>
                    <a:p>
                      <a:pPr algn="l" fontAlgn="b"/>
                      <a:endParaRPr lang="en-US" sz="1800" b="0" i="0" u="none" strike="noStrike" dirty="0">
                        <a:solidFill>
                          <a:srgbClr val="000000"/>
                        </a:solidFill>
                        <a:effectLst/>
                        <a:latin typeface="Calibri"/>
                      </a:endParaRPr>
                    </a:p>
                  </a:txBody>
                  <a:tcPr marL="9525" marR="9525" marT="9525" marB="0" anchor="b"/>
                </a:tc>
                <a:tc>
                  <a:txBody>
                    <a:bodyPr/>
                    <a:lstStyle/>
                    <a:p>
                      <a:pPr algn="l" fontAlgn="b"/>
                      <a:r>
                        <a:rPr lang="en-US" sz="1800" b="0" i="0" u="none" strike="noStrike" dirty="0" smtClean="0">
                          <a:solidFill>
                            <a:srgbClr val="000000"/>
                          </a:solidFill>
                          <a:effectLst/>
                          <a:latin typeface="Calibri"/>
                        </a:rPr>
                        <a:t>R Square = SSR/SST</a:t>
                      </a:r>
                      <a:endParaRPr lang="en-US" sz="1800" b="0" i="0" u="none" strike="noStrike" dirty="0">
                        <a:solidFill>
                          <a:srgbClr val="000000"/>
                        </a:solidFill>
                        <a:effectLst/>
                        <a:latin typeface="Calibri"/>
                      </a:endParaRPr>
                    </a:p>
                  </a:txBody>
                  <a:tcPr marL="9525" marR="9525" marT="9525" marB="0" anchor="b">
                    <a:solidFill>
                      <a:srgbClr val="92D050"/>
                    </a:solidFill>
                  </a:tcPr>
                </a:tc>
                <a:tc>
                  <a:txBody>
                    <a:bodyPr/>
                    <a:lstStyle/>
                    <a:p>
                      <a:pPr algn="l" fontAlgn="b"/>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a:solidFill>
                          <a:srgbClr val="000000"/>
                        </a:solidFill>
                        <a:effectLst/>
                        <a:latin typeface="Calibri"/>
                      </a:endParaRPr>
                    </a:p>
                  </a:txBody>
                  <a:tcPr marL="9525" marR="9525" marT="9525" marB="0" anchor="b"/>
                </a:tc>
                <a:tc>
                  <a:txBody>
                    <a:bodyPr/>
                    <a:lstStyle/>
                    <a:p>
                      <a:pPr algn="l" fontAlgn="b"/>
                      <a:endParaRPr lang="en-US" sz="1800" b="0" i="0" u="none" strike="noStrike" dirty="0">
                        <a:solidFill>
                          <a:srgbClr val="000000"/>
                        </a:solidFill>
                        <a:effectLst/>
                        <a:latin typeface="Calibri"/>
                      </a:endParaRPr>
                    </a:p>
                  </a:txBody>
                  <a:tcPr marL="9525" marR="9525" marT="9525" marB="0" anchor="b"/>
                </a:tc>
                <a:tc>
                  <a:txBody>
                    <a:bodyPr/>
                    <a:lstStyle/>
                    <a:p>
                      <a:pPr algn="l" fontAlgn="b"/>
                      <a:r>
                        <a:rPr lang="en-US" sz="2400" b="1" i="0" u="none" strike="noStrike" dirty="0" smtClean="0">
                          <a:solidFill>
                            <a:schemeClr val="tx1"/>
                          </a:solidFill>
                          <a:effectLst/>
                          <a:latin typeface="Calibri"/>
                        </a:rPr>
                        <a:t>Same</a:t>
                      </a:r>
                      <a:endParaRPr lang="en-US" sz="2400" b="1" i="0" u="none" strike="noStrike" dirty="0">
                        <a:solidFill>
                          <a:schemeClr val="tx1"/>
                        </a:solidFill>
                        <a:effectLst/>
                        <a:latin typeface="Calibri"/>
                      </a:endParaRPr>
                    </a:p>
                  </a:txBody>
                  <a:tcPr marL="9525" marR="9525" marT="9525" marB="0" anchor="b"/>
                </a:tc>
                <a:tc>
                  <a:txBody>
                    <a:bodyPr/>
                    <a:lstStyle/>
                    <a:p>
                      <a:pPr algn="l" fontAlgn="b"/>
                      <a:endParaRPr lang="en-US" sz="1800" b="0" i="0" u="none" strike="noStrike" dirty="0">
                        <a:solidFill>
                          <a:srgbClr val="000000"/>
                        </a:solidFill>
                        <a:effectLst/>
                        <a:latin typeface="Calibri"/>
                      </a:endParaRPr>
                    </a:p>
                  </a:txBody>
                  <a:tcPr marL="9525" marR="9525" marT="9525" marB="0" anchor="b"/>
                </a:tc>
              </a:tr>
              <a:tr h="762426">
                <a:tc>
                  <a:txBody>
                    <a:bodyPr/>
                    <a:lstStyle/>
                    <a:p>
                      <a:pPr algn="ctr" fontAlgn="b"/>
                      <a:r>
                        <a:rPr lang="en-US" sz="1800" u="none" strike="noStrike" dirty="0">
                          <a:effectLst/>
                        </a:rPr>
                        <a:t> </a:t>
                      </a:r>
                      <a:endParaRPr lang="en-US" sz="1800" b="0" i="1" u="none" strike="noStrike" dirty="0">
                        <a:solidFill>
                          <a:srgbClr val="000000"/>
                        </a:solidFill>
                        <a:effectLst/>
                        <a:latin typeface="Calibri"/>
                      </a:endParaRPr>
                    </a:p>
                  </a:txBody>
                  <a:tcPr marL="9525" marR="9525" marT="9525" marB="0" anchor="b"/>
                </a:tc>
                <a:tc>
                  <a:txBody>
                    <a:bodyPr/>
                    <a:lstStyle/>
                    <a:p>
                      <a:pPr algn="ctr" fontAlgn="b"/>
                      <a:r>
                        <a:rPr lang="en-US" sz="1800" u="none" strike="noStrike" dirty="0">
                          <a:effectLst/>
                        </a:rPr>
                        <a:t>Coefficients</a:t>
                      </a:r>
                      <a:endParaRPr lang="en-US" sz="1800" b="0" i="1" u="none" strike="noStrike" dirty="0">
                        <a:solidFill>
                          <a:srgbClr val="000000"/>
                        </a:solidFill>
                        <a:effectLst/>
                        <a:latin typeface="Calibri"/>
                      </a:endParaRPr>
                    </a:p>
                  </a:txBody>
                  <a:tcPr marL="9525" marR="9525" marT="9525" marB="0" anchor="b"/>
                </a:tc>
                <a:tc>
                  <a:txBody>
                    <a:bodyPr/>
                    <a:lstStyle/>
                    <a:p>
                      <a:pPr algn="ctr" fontAlgn="b"/>
                      <a:r>
                        <a:rPr lang="en-US" sz="1800" u="none" strike="noStrike">
                          <a:effectLst/>
                        </a:rPr>
                        <a:t>Standard Error</a:t>
                      </a:r>
                      <a:endParaRPr lang="en-US" sz="1800" b="0" i="1" u="none" strike="noStrike">
                        <a:solidFill>
                          <a:srgbClr val="000000"/>
                        </a:solidFill>
                        <a:effectLst/>
                        <a:latin typeface="Calibri"/>
                      </a:endParaRPr>
                    </a:p>
                  </a:txBody>
                  <a:tcPr marL="9525" marR="9525" marT="9525" marB="0" anchor="b"/>
                </a:tc>
                <a:tc>
                  <a:txBody>
                    <a:bodyPr/>
                    <a:lstStyle/>
                    <a:p>
                      <a:pPr algn="ctr" fontAlgn="b"/>
                      <a:r>
                        <a:rPr lang="en-US" sz="1800" u="none" strike="noStrike">
                          <a:effectLst/>
                        </a:rPr>
                        <a:t>t Stat</a:t>
                      </a:r>
                      <a:endParaRPr lang="en-US" sz="1800" b="0" i="1" u="none" strike="noStrike">
                        <a:solidFill>
                          <a:srgbClr val="000000"/>
                        </a:solidFill>
                        <a:effectLst/>
                        <a:latin typeface="Calibri"/>
                      </a:endParaRPr>
                    </a:p>
                  </a:txBody>
                  <a:tcPr marL="9525" marR="9525" marT="9525" marB="0" anchor="b"/>
                </a:tc>
                <a:tc>
                  <a:txBody>
                    <a:bodyPr/>
                    <a:lstStyle/>
                    <a:p>
                      <a:pPr algn="ctr" fontAlgn="b"/>
                      <a:r>
                        <a:rPr lang="en-US" sz="1800" u="none" strike="noStrike">
                          <a:effectLst/>
                        </a:rPr>
                        <a:t>P-value</a:t>
                      </a:r>
                      <a:endParaRPr lang="en-US" sz="1800" b="0" i="1" u="none" strike="noStrike">
                        <a:solidFill>
                          <a:srgbClr val="000000"/>
                        </a:solidFill>
                        <a:effectLst/>
                        <a:latin typeface="Calibri"/>
                      </a:endParaRPr>
                    </a:p>
                  </a:txBody>
                  <a:tcPr marL="9525" marR="9525" marT="9525" marB="0" anchor="b"/>
                </a:tc>
                <a:tc>
                  <a:txBody>
                    <a:bodyPr/>
                    <a:lstStyle/>
                    <a:p>
                      <a:pPr algn="ctr" fontAlgn="b"/>
                      <a:r>
                        <a:rPr lang="en-US" sz="1800" u="none" strike="noStrike">
                          <a:effectLst/>
                        </a:rPr>
                        <a:t>Lower 95%</a:t>
                      </a:r>
                      <a:endParaRPr lang="en-US" sz="1800" b="0" i="1" u="none" strike="noStrike">
                        <a:solidFill>
                          <a:srgbClr val="000000"/>
                        </a:solidFill>
                        <a:effectLst/>
                        <a:latin typeface="Calibri"/>
                      </a:endParaRPr>
                    </a:p>
                  </a:txBody>
                  <a:tcPr marL="9525" marR="9525" marT="9525" marB="0" anchor="b"/>
                </a:tc>
                <a:tc>
                  <a:txBody>
                    <a:bodyPr/>
                    <a:lstStyle/>
                    <a:p>
                      <a:pPr algn="ctr" fontAlgn="b"/>
                      <a:r>
                        <a:rPr lang="en-US" sz="1800" u="none" strike="noStrike">
                          <a:effectLst/>
                        </a:rPr>
                        <a:t>Upper 95%</a:t>
                      </a:r>
                      <a:endParaRPr lang="en-US" sz="1800" b="0" i="1" u="none" strike="noStrike">
                        <a:solidFill>
                          <a:srgbClr val="000000"/>
                        </a:solidFill>
                        <a:effectLst/>
                        <a:latin typeface="Calibri"/>
                      </a:endParaRPr>
                    </a:p>
                  </a:txBody>
                  <a:tcPr marL="9525" marR="9525" marT="9525" marB="0" anchor="b"/>
                </a:tc>
              </a:tr>
              <a:tr h="421230">
                <a:tc>
                  <a:txBody>
                    <a:bodyPr/>
                    <a:lstStyle/>
                    <a:p>
                      <a:pPr algn="l" fontAlgn="b"/>
                      <a:r>
                        <a:rPr lang="en-US" sz="1800" u="none" strike="noStrike">
                          <a:effectLst/>
                        </a:rPr>
                        <a:t>Intercept</a:t>
                      </a:r>
                      <a:endParaRPr lang="en-US" sz="1800" b="0" i="0" u="none" strike="noStrike">
                        <a:solidFill>
                          <a:srgbClr val="000000"/>
                        </a:solidFill>
                        <a:effectLst/>
                        <a:latin typeface="Calibri"/>
                      </a:endParaRPr>
                    </a:p>
                  </a:txBody>
                  <a:tcPr marL="9525" marR="9525" marT="9525" marB="0" anchor="b"/>
                </a:tc>
                <a:tc>
                  <a:txBody>
                    <a:bodyPr/>
                    <a:lstStyle/>
                    <a:p>
                      <a:pPr algn="r" fontAlgn="b"/>
                      <a:r>
                        <a:rPr lang="en-US" sz="1800" u="none" strike="noStrike" dirty="0">
                          <a:effectLst/>
                        </a:rPr>
                        <a:t>38126.1873</a:t>
                      </a:r>
                      <a:endParaRPr lang="en-US" sz="18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n-US" sz="1800" u="none" strike="noStrike" dirty="0">
                          <a:effectLst/>
                        </a:rPr>
                        <a:t>5526.084</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6.899313</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a:effectLst/>
                        </a:rPr>
                        <a:t>0.000125</a:t>
                      </a:r>
                      <a:endParaRPr lang="en-US" sz="1800" b="0" i="0" u="none" strike="noStrike">
                        <a:solidFill>
                          <a:srgbClr val="000000"/>
                        </a:solidFill>
                        <a:effectLst/>
                        <a:latin typeface="Calibri"/>
                      </a:endParaRPr>
                    </a:p>
                  </a:txBody>
                  <a:tcPr marL="9525" marR="9525" marT="9525" marB="0" anchor="b"/>
                </a:tc>
                <a:tc>
                  <a:txBody>
                    <a:bodyPr/>
                    <a:lstStyle/>
                    <a:p>
                      <a:pPr algn="r" fontAlgn="b"/>
                      <a:r>
                        <a:rPr lang="en-US" sz="1800" u="none" strike="noStrike" dirty="0">
                          <a:solidFill>
                            <a:schemeClr val="tx1"/>
                          </a:solidFill>
                          <a:effectLst/>
                        </a:rPr>
                        <a:t>25383.01</a:t>
                      </a:r>
                      <a:endParaRPr lang="en-US" sz="1800" b="0" i="0" u="none" strike="noStrike" dirty="0">
                        <a:solidFill>
                          <a:schemeClr val="tx1"/>
                        </a:solidFill>
                        <a:effectLst/>
                        <a:latin typeface="Calibri"/>
                      </a:endParaRPr>
                    </a:p>
                  </a:txBody>
                  <a:tcPr marL="9525" marR="9525" marT="9525" marB="0" anchor="b">
                    <a:solidFill>
                      <a:schemeClr val="bg2">
                        <a:lumMod val="90000"/>
                      </a:schemeClr>
                    </a:solidFill>
                  </a:tcPr>
                </a:tc>
                <a:tc>
                  <a:txBody>
                    <a:bodyPr/>
                    <a:lstStyle/>
                    <a:p>
                      <a:pPr algn="r" fontAlgn="b"/>
                      <a:r>
                        <a:rPr lang="en-US" sz="1800" u="none" strike="noStrike">
                          <a:solidFill>
                            <a:schemeClr val="tx1"/>
                          </a:solidFill>
                          <a:effectLst/>
                        </a:rPr>
                        <a:t>50869.36</a:t>
                      </a:r>
                      <a:endParaRPr lang="en-US" sz="1800" b="0" i="0" u="none" strike="noStrike">
                        <a:solidFill>
                          <a:schemeClr val="tx1"/>
                        </a:solidFill>
                        <a:effectLst/>
                        <a:latin typeface="Calibri"/>
                      </a:endParaRPr>
                    </a:p>
                  </a:txBody>
                  <a:tcPr marL="9525" marR="9525" marT="9525" marB="0" anchor="b">
                    <a:solidFill>
                      <a:schemeClr val="bg2">
                        <a:lumMod val="90000"/>
                      </a:schemeClr>
                    </a:solidFill>
                  </a:tcPr>
                </a:tc>
              </a:tr>
              <a:tr h="442292">
                <a:tc>
                  <a:txBody>
                    <a:bodyPr/>
                    <a:lstStyle/>
                    <a:p>
                      <a:pPr algn="l" fontAlgn="b"/>
                      <a:r>
                        <a:rPr lang="en-US" sz="1800" u="none" strike="noStrike">
                          <a:effectLst/>
                        </a:rPr>
                        <a:t>X Variable 1</a:t>
                      </a:r>
                      <a:endParaRPr lang="en-US" sz="1800" b="0" i="0" u="none" strike="noStrike">
                        <a:solidFill>
                          <a:srgbClr val="000000"/>
                        </a:solidFill>
                        <a:effectLst/>
                        <a:latin typeface="Calibri"/>
                      </a:endParaRPr>
                    </a:p>
                  </a:txBody>
                  <a:tcPr marL="9525" marR="9525" marT="9525" marB="0" anchor="b"/>
                </a:tc>
                <a:tc>
                  <a:txBody>
                    <a:bodyPr/>
                    <a:lstStyle/>
                    <a:p>
                      <a:pPr algn="r" fontAlgn="b"/>
                      <a:r>
                        <a:rPr lang="en-US" sz="1800" u="none" strike="noStrike" dirty="0">
                          <a:effectLst/>
                        </a:rPr>
                        <a:t>-0.0954997</a:t>
                      </a:r>
                      <a:endParaRPr lang="en-US" sz="1800" b="0" i="0" u="none" strike="noStrike" dirty="0">
                        <a:solidFill>
                          <a:srgbClr val="000000"/>
                        </a:solidFill>
                        <a:effectLst/>
                        <a:latin typeface="Calibri"/>
                      </a:endParaRPr>
                    </a:p>
                  </a:txBody>
                  <a:tcPr marL="9525" marR="9525" marT="9525" marB="0" anchor="b">
                    <a:solidFill>
                      <a:schemeClr val="accent2">
                        <a:lumMod val="40000"/>
                        <a:lumOff val="60000"/>
                      </a:schemeClr>
                    </a:solidFill>
                  </a:tcPr>
                </a:tc>
                <a:tc>
                  <a:txBody>
                    <a:bodyPr/>
                    <a:lstStyle/>
                    <a:p>
                      <a:pPr algn="r" fontAlgn="b"/>
                      <a:r>
                        <a:rPr lang="en-US" sz="1800" u="none" strike="noStrike" dirty="0">
                          <a:effectLst/>
                        </a:rPr>
                        <a:t>0.026332</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-3.62677</a:t>
                      </a:r>
                      <a:endParaRPr lang="en-US" sz="1800" b="0" i="0" u="none" strike="noStrike" dirty="0">
                        <a:solidFill>
                          <a:srgbClr val="000000"/>
                        </a:solidFill>
                        <a:effectLst/>
                        <a:latin typeface="Calibri"/>
                      </a:endParaRPr>
                    </a:p>
                  </a:txBody>
                  <a:tcPr marL="9525" marR="9525" marT="9525" marB="0" anchor="b"/>
                </a:tc>
                <a:tc>
                  <a:txBody>
                    <a:bodyPr/>
                    <a:lstStyle/>
                    <a:p>
                      <a:pPr algn="r" fontAlgn="b"/>
                      <a:r>
                        <a:rPr lang="en-US" sz="1800" u="none" strike="noStrike" dirty="0">
                          <a:effectLst/>
                        </a:rPr>
                        <a:t>0.006716</a:t>
                      </a:r>
                      <a:endParaRPr lang="en-US" sz="1800" b="0" i="0" u="none" strike="noStrike" dirty="0">
                        <a:solidFill>
                          <a:srgbClr val="000000"/>
                        </a:solidFill>
                        <a:effectLst/>
                        <a:latin typeface="Calibri"/>
                      </a:endParaRPr>
                    </a:p>
                  </a:txBody>
                  <a:tcPr marL="9525" marR="9525" marT="9525" marB="0" anchor="b">
                    <a:solidFill>
                      <a:srgbClr val="FFFF00"/>
                    </a:solidFill>
                  </a:tcPr>
                </a:tc>
                <a:tc>
                  <a:txBody>
                    <a:bodyPr/>
                    <a:lstStyle/>
                    <a:p>
                      <a:pPr algn="r" fontAlgn="b"/>
                      <a:r>
                        <a:rPr lang="en-US" sz="1800" u="none" strike="noStrike" dirty="0">
                          <a:solidFill>
                            <a:schemeClr val="tx1"/>
                          </a:solidFill>
                          <a:effectLst/>
                        </a:rPr>
                        <a:t>-0.15622</a:t>
                      </a:r>
                      <a:endParaRPr lang="en-US" sz="1800" b="0" i="0" u="none" strike="noStrike" dirty="0">
                        <a:solidFill>
                          <a:schemeClr val="tx1"/>
                        </a:solidFill>
                        <a:effectLst/>
                        <a:latin typeface="Calibri"/>
                      </a:endParaRPr>
                    </a:p>
                  </a:txBody>
                  <a:tcPr marL="9525" marR="9525" marT="9525" marB="0" anchor="b">
                    <a:solidFill>
                      <a:schemeClr val="bg2">
                        <a:lumMod val="90000"/>
                      </a:schemeClr>
                    </a:solidFill>
                  </a:tcPr>
                </a:tc>
                <a:tc>
                  <a:txBody>
                    <a:bodyPr/>
                    <a:lstStyle/>
                    <a:p>
                      <a:pPr algn="r" fontAlgn="b"/>
                      <a:r>
                        <a:rPr lang="en-US" sz="1800" u="none" strike="noStrike" dirty="0">
                          <a:solidFill>
                            <a:schemeClr val="tx1"/>
                          </a:solidFill>
                          <a:effectLst/>
                        </a:rPr>
                        <a:t>-0.03478</a:t>
                      </a:r>
                      <a:endParaRPr lang="en-US" sz="1800" b="0" i="0" u="none" strike="noStrike" dirty="0">
                        <a:solidFill>
                          <a:schemeClr val="tx1"/>
                        </a:solidFill>
                        <a:effectLst/>
                        <a:latin typeface="Calibri"/>
                      </a:endParaRPr>
                    </a:p>
                  </a:txBody>
                  <a:tcPr marL="9525" marR="9525" marT="9525" marB="0" anchor="b">
                    <a:solidFill>
                      <a:schemeClr val="bg2">
                        <a:lumMod val="90000"/>
                      </a:schemeClr>
                    </a:solidFill>
                  </a:tcPr>
                </a:tc>
              </a:tr>
            </a:tbl>
          </a:graphicData>
        </a:graphic>
      </p:graphicFrame>
      <p:cxnSp>
        <p:nvCxnSpPr>
          <p:cNvPr id="7" name="Straight Arrow Connector 6"/>
          <p:cNvCxnSpPr/>
          <p:nvPr/>
        </p:nvCxnSpPr>
        <p:spPr>
          <a:xfrm flipH="1">
            <a:off x="8178800" y="4754880"/>
            <a:ext cx="314960" cy="1239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8646160" y="3373120"/>
            <a:ext cx="193040" cy="894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17337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Interpretations of our linear fit model</a:t>
            </a:r>
            <a:endParaRPr lang="en-US" dirty="0"/>
          </a:p>
        </p:txBody>
      </p:sp>
      <p:sp>
        <p:nvSpPr>
          <p:cNvPr id="3" name="Content Placeholder 2"/>
          <p:cNvSpPr>
            <a:spLocks noGrp="1"/>
          </p:cNvSpPr>
          <p:nvPr>
            <p:ph idx="1"/>
          </p:nvPr>
        </p:nvSpPr>
        <p:spPr/>
        <p:txBody>
          <a:bodyPr>
            <a:normAutofit/>
          </a:bodyPr>
          <a:lstStyle/>
          <a:p>
            <a:pPr marL="82296" indent="0">
              <a:buNone/>
            </a:pPr>
            <a:r>
              <a:rPr lang="en-US" sz="2400" dirty="0" smtClean="0">
                <a:latin typeface="Times New Roman" pitchFamily="18" charset="0"/>
                <a:cs typeface="Times New Roman" pitchFamily="18" charset="0"/>
              </a:rPr>
              <a:t>Based on Excel results our model is:</a:t>
            </a:r>
          </a:p>
          <a:p>
            <a:pPr marL="82296" indent="0">
              <a:buNone/>
            </a:pPr>
            <a:r>
              <a:rPr lang="en-US" sz="2400" b="1" dirty="0" smtClean="0">
                <a:latin typeface="Times New Roman" pitchFamily="18" charset="0"/>
                <a:cs typeface="Times New Roman" pitchFamily="18" charset="0"/>
              </a:rPr>
              <a:t>Car Price = 38126 – 0.095*Odometer</a:t>
            </a:r>
          </a:p>
          <a:p>
            <a:pPr marL="82296" indent="0">
              <a:buNone/>
            </a:pPr>
            <a:r>
              <a:rPr lang="en-US" sz="2400" dirty="0" smtClean="0">
                <a:latin typeface="Times New Roman" pitchFamily="18" charset="0"/>
                <a:cs typeface="Times New Roman" pitchFamily="18" charset="0"/>
              </a:rPr>
              <a:t>b</a:t>
            </a:r>
            <a:r>
              <a:rPr lang="en-US" sz="2400" baseline="-25000" dirty="0" smtClean="0">
                <a:latin typeface="Times New Roman" pitchFamily="18" charset="0"/>
                <a:cs typeface="Times New Roman" pitchFamily="18" charset="0"/>
              </a:rPr>
              <a:t>0</a:t>
            </a:r>
            <a:r>
              <a:rPr lang="en-US" sz="2400" dirty="0" smtClean="0">
                <a:latin typeface="Times New Roman" pitchFamily="18" charset="0"/>
                <a:cs typeface="Times New Roman" pitchFamily="18" charset="0"/>
              </a:rPr>
              <a:t> = 38126 indicates average price for Toyota Camry when odometer = 0 km.</a:t>
            </a:r>
          </a:p>
          <a:p>
            <a:pPr marL="82296" indent="0">
              <a:buNone/>
            </a:pPr>
            <a:r>
              <a:rPr lang="en-US" sz="2400" dirty="0">
                <a:latin typeface="Times New Roman" pitchFamily="18" charset="0"/>
                <a:cs typeface="Times New Roman" pitchFamily="18" charset="0"/>
              </a:rPr>
              <a:t>b</a:t>
            </a:r>
            <a:r>
              <a:rPr lang="en-US" sz="2400" baseline="-250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indicates change in average price of Toyota Camry when the odometer changes by one unit. Hence, when odometer increases by 1 km, the price of Toyota Camry, on average, decreases by $0.095 or 10 cents.</a:t>
            </a:r>
          </a:p>
          <a:p>
            <a:pPr marL="82296" indent="0">
              <a:buNone/>
            </a:pPr>
            <a:endParaRPr lang="en-US" sz="2400" dirty="0" smtClean="0">
              <a:latin typeface="Times New Roman" pitchFamily="18" charset="0"/>
              <a:cs typeface="Times New Roman" pitchFamily="18" charset="0"/>
            </a:endParaRPr>
          </a:p>
          <a:p>
            <a:pPr marL="82296" indent="0">
              <a:buNone/>
            </a:pPr>
            <a:r>
              <a:rPr lang="en-US" sz="2400" b="1" dirty="0" smtClean="0">
                <a:latin typeface="Times New Roman" pitchFamily="18" charset="0"/>
                <a:cs typeface="Times New Roman" pitchFamily="18" charset="0"/>
              </a:rPr>
              <a:t>R Square = SSR/SST = 8.21/13.2 = 0.622 (62.2%)</a:t>
            </a:r>
          </a:p>
          <a:p>
            <a:pPr marL="82296" indent="0">
              <a:buNone/>
            </a:pPr>
            <a:r>
              <a:rPr lang="en-US" sz="2400" dirty="0" smtClean="0">
                <a:latin typeface="Times New Roman" pitchFamily="18" charset="0"/>
                <a:cs typeface="Times New Roman" pitchFamily="18" charset="0"/>
              </a:rPr>
              <a:t>R Square indicates that 62.2% of variation in car price can be explained by the given model. The remaining variation in the price (100-62.2 = 37.8 %) is coming from other factors which are unknown to us.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C06D09E-813C-9342-A936-A0F7564955C1}" type="slidenum">
              <a:rPr lang="en-US" smtClean="0"/>
              <a:pPr/>
              <a:t>13</a:t>
            </a:fld>
            <a:endParaRPr lang="en-US" dirty="0"/>
          </a:p>
        </p:txBody>
      </p:sp>
    </p:spTree>
    <p:extLst>
      <p:ext uri="{BB962C8B-B14F-4D97-AF65-F5344CB8AC3E}">
        <p14:creationId xmlns:p14="http://schemas.microsoft.com/office/powerpoint/2010/main" val="41556086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Confidence Intervals for regression coefficients.</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19927934"/>
              </p:ext>
            </p:extLst>
          </p:nvPr>
        </p:nvGraphicFramePr>
        <p:xfrm>
          <a:off x="2493817" y="1995057"/>
          <a:ext cx="8756073" cy="1856508"/>
        </p:xfrm>
        <a:graphic>
          <a:graphicData uri="http://schemas.openxmlformats.org/drawingml/2006/table">
            <a:tbl>
              <a:tblPr>
                <a:tableStyleId>{5C22544A-7EE6-4342-B048-85BDC9FD1C3A}</a:tableStyleId>
              </a:tblPr>
              <a:tblGrid>
                <a:gridCol w="1376698"/>
                <a:gridCol w="1578165"/>
                <a:gridCol w="1284502"/>
                <a:gridCol w="950886"/>
                <a:gridCol w="950886"/>
                <a:gridCol w="1335638"/>
                <a:gridCol w="1279298"/>
              </a:tblGrid>
              <a:tr h="870539">
                <a:tc>
                  <a:txBody>
                    <a:bodyPr/>
                    <a:lstStyle/>
                    <a:p>
                      <a:pPr algn="ctr" fontAlgn="b"/>
                      <a:r>
                        <a:rPr lang="en-US" sz="1600" u="none" strike="noStrike" dirty="0">
                          <a:effectLst/>
                        </a:rPr>
                        <a:t> </a:t>
                      </a:r>
                      <a:endParaRPr lang="en-US" sz="1600" b="0" i="1" u="none" strike="noStrike" dirty="0">
                        <a:solidFill>
                          <a:srgbClr val="000000"/>
                        </a:solidFill>
                        <a:effectLst/>
                        <a:latin typeface="Calibri"/>
                      </a:endParaRPr>
                    </a:p>
                  </a:txBody>
                  <a:tcPr marL="9525" marR="9525" marT="9525" marB="0" anchor="b"/>
                </a:tc>
                <a:tc>
                  <a:txBody>
                    <a:bodyPr/>
                    <a:lstStyle/>
                    <a:p>
                      <a:pPr algn="ctr" fontAlgn="b"/>
                      <a:r>
                        <a:rPr lang="en-US" sz="1600" u="none" strike="noStrike">
                          <a:effectLst/>
                        </a:rPr>
                        <a:t>Coefficients</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Standard Error</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t Stat</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P-value</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Lower 95%</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Upper 95%</a:t>
                      </a:r>
                      <a:endParaRPr lang="en-US" sz="1600" b="0" i="1" u="none" strike="noStrike">
                        <a:solidFill>
                          <a:srgbClr val="000000"/>
                        </a:solidFill>
                        <a:effectLst/>
                        <a:latin typeface="Calibri"/>
                      </a:endParaRPr>
                    </a:p>
                  </a:txBody>
                  <a:tcPr marL="9525" marR="9525" marT="9525" marB="0" anchor="b"/>
                </a:tc>
              </a:tr>
              <a:tr h="480960">
                <a:tc>
                  <a:txBody>
                    <a:bodyPr/>
                    <a:lstStyle/>
                    <a:p>
                      <a:pPr algn="l" fontAlgn="b"/>
                      <a:r>
                        <a:rPr lang="en-US" sz="1600" u="none" strike="noStrike" dirty="0">
                          <a:effectLst/>
                        </a:rPr>
                        <a:t>Intercept</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38126.1873</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5526.084</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6.899313</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a:effectLst/>
                        </a:rPr>
                        <a:t>0.000125</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dirty="0">
                          <a:effectLst/>
                        </a:rPr>
                        <a:t>25383.01398</a:t>
                      </a:r>
                      <a:endParaRPr lang="en-US" sz="1600" b="0" i="0" u="none" strike="noStrike" dirty="0">
                        <a:solidFill>
                          <a:srgbClr val="000000"/>
                        </a:solidFill>
                        <a:effectLst/>
                        <a:latin typeface="Calibri"/>
                      </a:endParaRPr>
                    </a:p>
                  </a:txBody>
                  <a:tcPr marL="9525" marR="9525" marT="9525" marB="0" anchor="b">
                    <a:solidFill>
                      <a:srgbClr val="FFFF00"/>
                    </a:solidFill>
                  </a:tcPr>
                </a:tc>
                <a:tc>
                  <a:txBody>
                    <a:bodyPr/>
                    <a:lstStyle/>
                    <a:p>
                      <a:pPr algn="r" fontAlgn="b"/>
                      <a:r>
                        <a:rPr lang="en-US" sz="1600" u="none" strike="noStrike">
                          <a:effectLst/>
                        </a:rPr>
                        <a:t>50869.36</a:t>
                      </a:r>
                      <a:endParaRPr lang="en-US" sz="1600" b="0" i="0" u="none" strike="noStrike">
                        <a:solidFill>
                          <a:srgbClr val="000000"/>
                        </a:solidFill>
                        <a:effectLst/>
                        <a:latin typeface="Calibri"/>
                      </a:endParaRPr>
                    </a:p>
                  </a:txBody>
                  <a:tcPr marL="9525" marR="9525" marT="9525" marB="0" anchor="b">
                    <a:solidFill>
                      <a:srgbClr val="FFFF00"/>
                    </a:solidFill>
                  </a:tcPr>
                </a:tc>
              </a:tr>
              <a:tr h="505009">
                <a:tc>
                  <a:txBody>
                    <a:bodyPr/>
                    <a:lstStyle/>
                    <a:p>
                      <a:pPr algn="l" fontAlgn="b"/>
                      <a:r>
                        <a:rPr lang="en-US" sz="1600" u="none" strike="noStrike" dirty="0">
                          <a:effectLst/>
                        </a:rPr>
                        <a:t>X Variable 1</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-0.0954997</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0.026332</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-3.62677</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0.006716</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-0.156221155</a:t>
                      </a:r>
                      <a:endParaRPr lang="en-US" sz="1600" b="0" i="0" u="none" strike="noStrike" dirty="0">
                        <a:solidFill>
                          <a:srgbClr val="000000"/>
                        </a:solidFill>
                        <a:effectLst/>
                        <a:latin typeface="Calibri"/>
                      </a:endParaRPr>
                    </a:p>
                  </a:txBody>
                  <a:tcPr marL="9525" marR="9525" marT="9525" marB="0" anchor="b">
                    <a:solidFill>
                      <a:srgbClr val="FFFF00"/>
                    </a:solidFill>
                  </a:tcPr>
                </a:tc>
                <a:tc>
                  <a:txBody>
                    <a:bodyPr/>
                    <a:lstStyle/>
                    <a:p>
                      <a:pPr algn="r" fontAlgn="b"/>
                      <a:r>
                        <a:rPr lang="en-US" sz="1600" u="none" strike="noStrike" dirty="0">
                          <a:effectLst/>
                        </a:rPr>
                        <a:t>-0.03478</a:t>
                      </a:r>
                      <a:endParaRPr lang="en-US" sz="1600" b="0" i="0" u="none" strike="noStrike" dirty="0">
                        <a:solidFill>
                          <a:srgbClr val="000000"/>
                        </a:solidFill>
                        <a:effectLst/>
                        <a:latin typeface="Calibri"/>
                      </a:endParaRPr>
                    </a:p>
                  </a:txBody>
                  <a:tcPr marL="9525" marR="9525" marT="9525" marB="0" anchor="b">
                    <a:solidFill>
                      <a:srgbClr val="FFFF00"/>
                    </a:solidFill>
                  </a:tcPr>
                </a:tc>
              </a:tr>
            </a:tbl>
          </a:graphicData>
        </a:graphic>
      </p:graphicFrame>
      <p:sp>
        <p:nvSpPr>
          <p:cNvPr id="4" name="Slide Number Placeholder 3"/>
          <p:cNvSpPr>
            <a:spLocks noGrp="1"/>
          </p:cNvSpPr>
          <p:nvPr>
            <p:ph type="sldNum" sz="quarter" idx="12"/>
          </p:nvPr>
        </p:nvSpPr>
        <p:spPr/>
        <p:txBody>
          <a:bodyPr/>
          <a:lstStyle/>
          <a:p>
            <a:fld id="{6C06D09E-813C-9342-A936-A0F7564955C1}" type="slidenum">
              <a:rPr lang="en-US" smtClean="0"/>
              <a:pPr/>
              <a:t>14</a:t>
            </a:fld>
            <a:endParaRPr lang="en-US" dirty="0"/>
          </a:p>
        </p:txBody>
      </p:sp>
      <p:sp>
        <p:nvSpPr>
          <p:cNvPr id="6" name="TextBox 5"/>
          <p:cNvSpPr txBox="1"/>
          <p:nvPr/>
        </p:nvSpPr>
        <p:spPr>
          <a:xfrm>
            <a:off x="2355272" y="4239491"/>
            <a:ext cx="8894617" cy="923330"/>
          </a:xfrm>
          <a:prstGeom prst="rect">
            <a:avLst/>
          </a:prstGeom>
          <a:noFill/>
        </p:spPr>
        <p:txBody>
          <a:bodyPr wrap="square" rtlCol="0">
            <a:spAutoFit/>
          </a:bodyPr>
          <a:lstStyle/>
          <a:p>
            <a:r>
              <a:rPr lang="en-US" dirty="0" smtClean="0"/>
              <a:t>We are 95% confident that intercept (</a:t>
            </a:r>
            <a:r>
              <a:rPr lang="el-GR" dirty="0" smtClean="0">
                <a:latin typeface="Times New Roman"/>
                <a:cs typeface="Times New Roman"/>
              </a:rPr>
              <a:t>β</a:t>
            </a:r>
            <a:r>
              <a:rPr lang="en-US" baseline="-25000" dirty="0" smtClean="0">
                <a:latin typeface="Times New Roman"/>
                <a:cs typeface="Times New Roman"/>
              </a:rPr>
              <a:t>0</a:t>
            </a:r>
            <a:r>
              <a:rPr lang="en-US" dirty="0" smtClean="0">
                <a:latin typeface="Times New Roman"/>
                <a:cs typeface="Times New Roman"/>
              </a:rPr>
              <a:t>)</a:t>
            </a:r>
            <a:r>
              <a:rPr lang="en-US" dirty="0" smtClean="0"/>
              <a:t> of our model is between 25,383 and 50,869.</a:t>
            </a:r>
          </a:p>
          <a:p>
            <a:endParaRPr lang="en-US" dirty="0"/>
          </a:p>
          <a:p>
            <a:r>
              <a:rPr lang="en-US" dirty="0" smtClean="0"/>
              <a:t>We are 95% confident that slope (</a:t>
            </a:r>
            <a:r>
              <a:rPr lang="el-GR" dirty="0" smtClean="0">
                <a:latin typeface="Times New Roman"/>
                <a:cs typeface="Times New Roman"/>
              </a:rPr>
              <a:t>β</a:t>
            </a:r>
            <a:r>
              <a:rPr lang="en-US" baseline="-25000" dirty="0" smtClean="0">
                <a:latin typeface="Times New Roman"/>
                <a:cs typeface="Times New Roman"/>
              </a:rPr>
              <a:t>1</a:t>
            </a:r>
            <a:r>
              <a:rPr lang="en-US" dirty="0" smtClean="0">
                <a:latin typeface="Times New Roman"/>
                <a:cs typeface="Times New Roman"/>
              </a:rPr>
              <a:t>)</a:t>
            </a:r>
            <a:r>
              <a:rPr lang="en-US" dirty="0" smtClean="0"/>
              <a:t> of our model is between -0.156 and -0.034. </a:t>
            </a:r>
            <a:endParaRPr lang="en-US" dirty="0"/>
          </a:p>
        </p:txBody>
      </p:sp>
    </p:spTree>
    <p:extLst>
      <p:ext uri="{BB962C8B-B14F-4D97-AF65-F5344CB8AC3E}">
        <p14:creationId xmlns:p14="http://schemas.microsoft.com/office/powerpoint/2010/main" val="3519565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Hypothesis testing</a:t>
            </a:r>
            <a:endParaRPr lang="en-US" dirty="0"/>
          </a:p>
        </p:txBody>
      </p:sp>
      <p:sp>
        <p:nvSpPr>
          <p:cNvPr id="3" name="Content Placeholder 2"/>
          <p:cNvSpPr>
            <a:spLocks noGrp="1"/>
          </p:cNvSpPr>
          <p:nvPr>
            <p:ph idx="1"/>
          </p:nvPr>
        </p:nvSpPr>
        <p:spPr/>
        <p:txBody>
          <a:bodyPr>
            <a:normAutofit/>
          </a:bodyPr>
          <a:lstStyle/>
          <a:p>
            <a:pPr marL="82296" indent="0">
              <a:buNone/>
            </a:pPr>
            <a:r>
              <a:rPr lang="en-US" sz="2400" dirty="0" smtClean="0"/>
              <a:t>Hypothesis:</a:t>
            </a:r>
          </a:p>
          <a:p>
            <a:pPr marL="82296" indent="0">
              <a:buNone/>
            </a:pPr>
            <a:r>
              <a:rPr lang="en-US" sz="2400" dirty="0" smtClean="0"/>
              <a:t>H</a:t>
            </a:r>
            <a:r>
              <a:rPr lang="en-US" sz="2400" baseline="-25000" dirty="0" smtClean="0"/>
              <a:t>0</a:t>
            </a:r>
            <a:r>
              <a:rPr lang="en-US" sz="2400" dirty="0"/>
              <a:t>: β</a:t>
            </a:r>
            <a:r>
              <a:rPr lang="en-US" sz="2400" baseline="-25000" dirty="0"/>
              <a:t>1</a:t>
            </a:r>
            <a:r>
              <a:rPr lang="en-US" sz="2400" dirty="0"/>
              <a:t> = </a:t>
            </a:r>
            <a:r>
              <a:rPr lang="en-US" sz="2400" dirty="0" smtClean="0"/>
              <a:t>0   or</a:t>
            </a:r>
          </a:p>
          <a:p>
            <a:pPr marL="82296" indent="0">
              <a:buNone/>
            </a:pPr>
            <a:r>
              <a:rPr lang="en-US" sz="2400" dirty="0" smtClean="0"/>
              <a:t>There is no significant linear relationship between car price and its odometer. </a:t>
            </a:r>
            <a:endParaRPr lang="en-US" sz="2400" dirty="0"/>
          </a:p>
          <a:p>
            <a:pPr marL="82296" indent="0">
              <a:buNone/>
            </a:pPr>
            <a:r>
              <a:rPr lang="en-US" sz="2400" dirty="0"/>
              <a:t>H</a:t>
            </a:r>
            <a:r>
              <a:rPr lang="en-US" sz="2400" baseline="-25000" dirty="0"/>
              <a:t>a</a:t>
            </a:r>
            <a:r>
              <a:rPr lang="en-US" sz="2400" dirty="0"/>
              <a:t>: β</a:t>
            </a:r>
            <a:r>
              <a:rPr lang="en-US" sz="2400" baseline="-25000" dirty="0"/>
              <a:t>1</a:t>
            </a:r>
            <a:r>
              <a:rPr lang="en-US" sz="2400" dirty="0"/>
              <a:t> ≠ </a:t>
            </a:r>
            <a:r>
              <a:rPr lang="en-US" sz="2400" dirty="0" smtClean="0"/>
              <a:t>0   or</a:t>
            </a:r>
            <a:endParaRPr lang="en-US" sz="2400" dirty="0"/>
          </a:p>
          <a:p>
            <a:pPr marL="82296" indent="0">
              <a:buNone/>
            </a:pPr>
            <a:r>
              <a:rPr lang="en-US" sz="2400" dirty="0" smtClean="0"/>
              <a:t>There is a significant linear relationship between car price and its odometer.</a:t>
            </a:r>
          </a:p>
          <a:p>
            <a:pPr marL="82296" indent="0">
              <a:buNone/>
            </a:pPr>
            <a:r>
              <a:rPr lang="en-US" sz="2400" dirty="0" smtClean="0"/>
              <a:t>Rejection: </a:t>
            </a:r>
            <a:r>
              <a:rPr lang="en-US" sz="2400" dirty="0"/>
              <a:t>(We will use </a:t>
            </a:r>
            <a:r>
              <a:rPr lang="el-GR" sz="2400" dirty="0"/>
              <a:t>α</a:t>
            </a:r>
            <a:r>
              <a:rPr lang="en-US" sz="2400" dirty="0"/>
              <a:t>=0.05 for this exercise</a:t>
            </a:r>
            <a:r>
              <a:rPr lang="en-US" sz="2400" dirty="0" smtClean="0"/>
              <a:t>)</a:t>
            </a:r>
          </a:p>
          <a:p>
            <a:pPr marL="82296" indent="0">
              <a:buNone/>
            </a:pPr>
            <a:r>
              <a:rPr lang="en-US" sz="2400" dirty="0"/>
              <a:t>We reject H</a:t>
            </a:r>
            <a:r>
              <a:rPr lang="en-US" sz="2400" baseline="-25000" dirty="0"/>
              <a:t>0</a:t>
            </a:r>
            <a:r>
              <a:rPr lang="en-US" sz="2400" dirty="0"/>
              <a:t> if p-value ≤ </a:t>
            </a:r>
            <a:r>
              <a:rPr lang="el-GR" sz="2400" dirty="0" smtClean="0"/>
              <a:t>α</a:t>
            </a:r>
            <a:endParaRPr lang="en-US" sz="2400" dirty="0" smtClean="0"/>
          </a:p>
          <a:p>
            <a:pPr marL="82296" indent="0">
              <a:buNone/>
            </a:pPr>
            <a:r>
              <a:rPr lang="en-US" sz="2400" dirty="0" smtClean="0"/>
              <a:t>For simple linear regression we can use either t-test or F-test, because both will give the same conclusion. (But they have different interpretations in Multiple Regression).</a:t>
            </a:r>
            <a:endParaRPr lang="en-US" sz="2400" dirty="0"/>
          </a:p>
          <a:p>
            <a:pPr marL="0" indent="0">
              <a:buNone/>
            </a:pPr>
            <a:endParaRPr lang="en-US" sz="2400" dirty="0" smtClean="0"/>
          </a:p>
          <a:p>
            <a:endParaRPr lang="en-US" sz="2400" dirty="0"/>
          </a:p>
        </p:txBody>
      </p:sp>
      <p:sp>
        <p:nvSpPr>
          <p:cNvPr id="4" name="Slide Number Placeholder 3"/>
          <p:cNvSpPr>
            <a:spLocks noGrp="1"/>
          </p:cNvSpPr>
          <p:nvPr>
            <p:ph type="sldNum" sz="quarter" idx="12"/>
          </p:nvPr>
        </p:nvSpPr>
        <p:spPr/>
        <p:txBody>
          <a:bodyPr/>
          <a:lstStyle/>
          <a:p>
            <a:fld id="{6C06D09E-813C-9342-A936-A0F7564955C1}" type="slidenum">
              <a:rPr lang="en-US" smtClean="0"/>
              <a:t>15</a:t>
            </a:fld>
            <a:endParaRPr lang="en-US"/>
          </a:p>
        </p:txBody>
      </p:sp>
      <p:sp>
        <p:nvSpPr>
          <p:cNvPr id="5" name="Rectangle 4"/>
          <p:cNvSpPr/>
          <p:nvPr/>
        </p:nvSpPr>
        <p:spPr>
          <a:xfrm>
            <a:off x="2036618" y="4059382"/>
            <a:ext cx="3560618" cy="526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spTree>
    <p:extLst>
      <p:ext uri="{BB962C8B-B14F-4D97-AF65-F5344CB8AC3E}">
        <p14:creationId xmlns:p14="http://schemas.microsoft.com/office/powerpoint/2010/main" val="8431331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75748"/>
          </a:xfrm>
        </p:spPr>
        <p:txBody>
          <a:bodyPr/>
          <a:lstStyle/>
          <a:p>
            <a:pPr algn="ctr"/>
            <a:r>
              <a:rPr lang="en-US" dirty="0" smtClean="0"/>
              <a:t>Conclusion</a:t>
            </a:r>
            <a:endParaRPr lang="en-US" dirty="0"/>
          </a:p>
        </p:txBody>
      </p:sp>
      <p:sp>
        <p:nvSpPr>
          <p:cNvPr id="3" name="Content Placeholder 2"/>
          <p:cNvSpPr>
            <a:spLocks noGrp="1"/>
          </p:cNvSpPr>
          <p:nvPr>
            <p:ph idx="1"/>
          </p:nvPr>
        </p:nvSpPr>
        <p:spPr>
          <a:xfrm>
            <a:off x="1914144" y="1447800"/>
            <a:ext cx="9751383" cy="4800600"/>
          </a:xfrm>
        </p:spPr>
        <p:txBody>
          <a:bodyPr>
            <a:normAutofit fontScale="77500" lnSpcReduction="20000"/>
          </a:bodyPr>
          <a:lstStyle/>
          <a:p>
            <a:pPr marL="82296" indent="0">
              <a:buNone/>
            </a:pPr>
            <a:r>
              <a:rPr lang="en-US" sz="2800" dirty="0" smtClean="0"/>
              <a:t>Excel output only provides t-stat and F-stat. If you want to find out critical values, you should refer to either distribution tables or Excel functions (t.inv.2t(0.05</a:t>
            </a:r>
            <a:r>
              <a:rPr lang="en-US" sz="2800" dirty="0"/>
              <a:t>,</a:t>
            </a:r>
            <a:r>
              <a:rPr lang="en-US" sz="2800" dirty="0" smtClean="0"/>
              <a:t> 8), </a:t>
            </a:r>
            <a:r>
              <a:rPr lang="en-US" sz="2800" dirty="0" err="1" smtClean="0"/>
              <a:t>F.inv.rt</a:t>
            </a:r>
            <a:r>
              <a:rPr lang="en-US" sz="2800" dirty="0" smtClean="0"/>
              <a:t>(0.05, 1, 8).</a:t>
            </a:r>
          </a:p>
          <a:p>
            <a:pPr marL="82296" indent="0">
              <a:buNone/>
            </a:pPr>
            <a:r>
              <a:rPr lang="en-US" sz="2800" b="1" u="sng" dirty="0" smtClean="0"/>
              <a:t>t-test. </a:t>
            </a:r>
          </a:p>
          <a:p>
            <a:pPr marL="82296" indent="0">
              <a:buNone/>
            </a:pPr>
            <a:r>
              <a:rPr lang="en-US" sz="2800" dirty="0" smtClean="0"/>
              <a:t>I t-stat I = I -3.63 I &gt; t-</a:t>
            </a:r>
            <a:r>
              <a:rPr lang="en-US" sz="2800" dirty="0" err="1" smtClean="0"/>
              <a:t>crit</a:t>
            </a:r>
            <a:r>
              <a:rPr lang="en-US" sz="2800" dirty="0" smtClean="0"/>
              <a:t>(0.025, </a:t>
            </a:r>
            <a:r>
              <a:rPr lang="en-US" sz="2800" dirty="0" err="1" smtClean="0"/>
              <a:t>df</a:t>
            </a:r>
            <a:r>
              <a:rPr lang="en-US" sz="2800" dirty="0" smtClean="0"/>
              <a:t>=8) =2.31 or</a:t>
            </a:r>
          </a:p>
          <a:p>
            <a:pPr marL="82296" indent="0">
              <a:buNone/>
            </a:pPr>
            <a:r>
              <a:rPr lang="en-US" sz="2800" dirty="0"/>
              <a:t>p</a:t>
            </a:r>
            <a:r>
              <a:rPr lang="en-US" sz="2800" dirty="0" smtClean="0"/>
              <a:t>-value = 0.0067 &lt; </a:t>
            </a:r>
            <a:r>
              <a:rPr lang="el-GR" sz="2800" dirty="0"/>
              <a:t>α</a:t>
            </a:r>
            <a:r>
              <a:rPr lang="en-US" sz="2800" dirty="0"/>
              <a:t> = </a:t>
            </a:r>
            <a:r>
              <a:rPr lang="en-US" sz="2800" dirty="0" smtClean="0"/>
              <a:t>0.05</a:t>
            </a:r>
          </a:p>
          <a:p>
            <a:pPr marL="82296" indent="0">
              <a:buNone/>
            </a:pPr>
            <a:r>
              <a:rPr lang="en-US" sz="2800" b="1" u="sng" dirty="0" smtClean="0"/>
              <a:t>F-test.</a:t>
            </a:r>
          </a:p>
          <a:p>
            <a:pPr marL="82296" indent="0">
              <a:buNone/>
            </a:pPr>
            <a:r>
              <a:rPr lang="en-US" sz="2800" dirty="0" smtClean="0"/>
              <a:t>F-stat = 13.15 &gt; F-</a:t>
            </a:r>
            <a:r>
              <a:rPr lang="en-US" sz="2800" dirty="0" err="1" smtClean="0"/>
              <a:t>crit</a:t>
            </a:r>
            <a:r>
              <a:rPr lang="en-US" sz="2800" dirty="0" smtClean="0"/>
              <a:t>(0.05, 1, 8) = 5.32 or</a:t>
            </a:r>
          </a:p>
          <a:p>
            <a:pPr marL="82296" indent="0">
              <a:buNone/>
            </a:pPr>
            <a:r>
              <a:rPr lang="en-US" sz="2800" dirty="0"/>
              <a:t>p-value = 0.0067 &lt; </a:t>
            </a:r>
            <a:r>
              <a:rPr lang="el-GR" sz="2800" dirty="0"/>
              <a:t>α</a:t>
            </a:r>
            <a:r>
              <a:rPr lang="en-US" sz="2800" dirty="0"/>
              <a:t> = </a:t>
            </a:r>
            <a:r>
              <a:rPr lang="en-US" sz="2800" dirty="0" smtClean="0"/>
              <a:t>0.05</a:t>
            </a:r>
          </a:p>
          <a:p>
            <a:pPr marL="82296" indent="0">
              <a:buNone/>
            </a:pPr>
            <a:endParaRPr lang="en-US" sz="2800" dirty="0" smtClean="0"/>
          </a:p>
          <a:p>
            <a:pPr marL="82296" indent="0">
              <a:buNone/>
            </a:pPr>
            <a:r>
              <a:rPr lang="en-US" sz="2800" dirty="0" smtClean="0"/>
              <a:t>In both tests we reject the null hypothesis and conclude that our linear model fits the data better than the intercept-only model. There is a significant linear relationship between the price of the car and its odometer. </a:t>
            </a:r>
            <a:endParaRPr lang="en-US" sz="2800" dirty="0"/>
          </a:p>
          <a:p>
            <a:pPr marL="82296" indent="0">
              <a:buNone/>
            </a:pPr>
            <a:r>
              <a:rPr lang="en-US" sz="2800" dirty="0" smtClean="0"/>
              <a:t> </a:t>
            </a:r>
            <a:endParaRPr lang="en-US" sz="2800" dirty="0"/>
          </a:p>
        </p:txBody>
      </p:sp>
      <p:sp>
        <p:nvSpPr>
          <p:cNvPr id="4" name="Slide Number Placeholder 3"/>
          <p:cNvSpPr>
            <a:spLocks noGrp="1"/>
          </p:cNvSpPr>
          <p:nvPr>
            <p:ph type="sldNum" sz="quarter" idx="12"/>
          </p:nvPr>
        </p:nvSpPr>
        <p:spPr/>
        <p:txBody>
          <a:bodyPr/>
          <a:lstStyle/>
          <a:p>
            <a:fld id="{6C06D09E-813C-9342-A936-A0F7564955C1}" type="slidenum">
              <a:rPr lang="en-US" smtClean="0"/>
              <a:t>16</a:t>
            </a:fld>
            <a:endParaRPr lang="en-US"/>
          </a:p>
        </p:txBody>
      </p:sp>
    </p:spTree>
    <p:extLst>
      <p:ext uri="{BB962C8B-B14F-4D97-AF65-F5344CB8AC3E}">
        <p14:creationId xmlns:p14="http://schemas.microsoft.com/office/powerpoint/2010/main" val="17775860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a:t>
            </a:r>
            <a:endParaRPr lang="en-US" dirty="0"/>
          </a:p>
        </p:txBody>
      </p:sp>
      <p:sp>
        <p:nvSpPr>
          <p:cNvPr id="3" name="Content Placeholder 2"/>
          <p:cNvSpPr>
            <a:spLocks noGrp="1"/>
          </p:cNvSpPr>
          <p:nvPr>
            <p:ph idx="1"/>
          </p:nvPr>
        </p:nvSpPr>
        <p:spPr/>
        <p:txBody>
          <a:bodyPr>
            <a:normAutofit/>
          </a:bodyPr>
          <a:lstStyle/>
          <a:p>
            <a:pPr marL="596646" indent="-514350">
              <a:buFont typeface="+mj-lt"/>
              <a:buAutoNum type="arabicPeriod"/>
            </a:pPr>
            <a:r>
              <a:rPr lang="en-US" sz="2400" dirty="0" smtClean="0"/>
              <a:t>Holmes et al. </a:t>
            </a:r>
            <a:r>
              <a:rPr lang="en-GB" sz="2400" dirty="0"/>
              <a:t>Introductory Business </a:t>
            </a:r>
            <a:r>
              <a:rPr lang="en-GB" sz="2400" dirty="0" smtClean="0"/>
              <a:t>Statistics. Chapter 13.</a:t>
            </a:r>
          </a:p>
          <a:p>
            <a:pPr marL="596646" indent="-514350">
              <a:buFont typeface="+mj-lt"/>
              <a:buAutoNum type="arabicPeriod"/>
            </a:pPr>
            <a:r>
              <a:rPr lang="en-GB" sz="2400" dirty="0" err="1" smtClean="0"/>
              <a:t>McClave</a:t>
            </a:r>
            <a:r>
              <a:rPr lang="en-GB" sz="2400" dirty="0" smtClean="0"/>
              <a:t>, </a:t>
            </a:r>
            <a:r>
              <a:rPr lang="en-GB" sz="2400" dirty="0" err="1" smtClean="0"/>
              <a:t>Sincich</a:t>
            </a:r>
            <a:r>
              <a:rPr lang="en-GB" sz="2400" dirty="0" smtClean="0"/>
              <a:t>. Statistics. Chapter 11.</a:t>
            </a:r>
          </a:p>
          <a:p>
            <a:pPr marL="596646" indent="-514350">
              <a:buFont typeface="+mj-lt"/>
              <a:buAutoNum type="arabicPeriod"/>
            </a:pPr>
            <a:r>
              <a:rPr lang="en-US" sz="2400" dirty="0"/>
              <a:t>https://www.coursera.org/lecture/business-statistics/3-4-2-simple-linear-regression-excel-output-analysis-JYZRG</a:t>
            </a:r>
          </a:p>
        </p:txBody>
      </p:sp>
      <p:sp>
        <p:nvSpPr>
          <p:cNvPr id="4" name="Slide Number Placeholder 3"/>
          <p:cNvSpPr>
            <a:spLocks noGrp="1"/>
          </p:cNvSpPr>
          <p:nvPr>
            <p:ph type="sldNum" sz="quarter" idx="12"/>
          </p:nvPr>
        </p:nvSpPr>
        <p:spPr/>
        <p:txBody>
          <a:bodyPr/>
          <a:lstStyle/>
          <a:p>
            <a:fld id="{6C06D09E-813C-9342-A936-A0F7564955C1}" type="slidenum">
              <a:rPr lang="en-US" smtClean="0"/>
              <a:pPr/>
              <a:t>17</a:t>
            </a:fld>
            <a:endParaRPr lang="en-US" dirty="0"/>
          </a:p>
        </p:txBody>
      </p:sp>
    </p:spTree>
    <p:extLst>
      <p:ext uri="{BB962C8B-B14F-4D97-AF65-F5344CB8AC3E}">
        <p14:creationId xmlns:p14="http://schemas.microsoft.com/office/powerpoint/2010/main" val="32861553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1788</TotalTime>
  <Words>1175</Words>
  <Application>Microsoft Office PowerPoint</Application>
  <PresentationFormat>Custom</PresentationFormat>
  <Paragraphs>241</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Solstice</vt:lpstr>
      <vt:lpstr>Week 19 Simple Linear Regression(continuation)</vt:lpstr>
      <vt:lpstr>Main assumptions of simple linear regression model (Diagnostics)</vt:lpstr>
      <vt:lpstr>Coefficient of Determination (R Squared)</vt:lpstr>
      <vt:lpstr>Misconception 1:  A high R2 indicates that the estimated regression line is a good fit.</vt:lpstr>
      <vt:lpstr>Confidence intervals for regression coefficients</vt:lpstr>
      <vt:lpstr>ANOVA Table for Simple Linear Regression</vt:lpstr>
      <vt:lpstr>Hypothesis test in simple linear regression</vt:lpstr>
      <vt:lpstr>Statistical hypotheses for simple linear regression </vt:lpstr>
      <vt:lpstr>Statistical hypotheses for simple linear regression</vt:lpstr>
      <vt:lpstr>Simple Linear Regression</vt:lpstr>
      <vt:lpstr>Diagnostics</vt:lpstr>
      <vt:lpstr>Excel Output</vt:lpstr>
      <vt:lpstr>Interpretations of our linear fit model</vt:lpstr>
      <vt:lpstr>Confidence Intervals for regression coefficients.</vt:lpstr>
      <vt:lpstr>Hypothesis testing</vt:lpstr>
      <vt:lpstr>Conclusion</vt:lpstr>
      <vt:lpstr>Literature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Linear Regression</dc:title>
  <dc:creator>Microsoft Office User</dc:creator>
  <cp:lastModifiedBy>Olmas Isakov</cp:lastModifiedBy>
  <cp:revision>88</cp:revision>
  <dcterms:created xsi:type="dcterms:W3CDTF">2019-01-29T15:27:52Z</dcterms:created>
  <dcterms:modified xsi:type="dcterms:W3CDTF">2020-02-21T09:44:38Z</dcterms:modified>
</cp:coreProperties>
</file>