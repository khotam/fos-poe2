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6" r:id="rId2"/>
    <p:sldId id="349" r:id="rId3"/>
    <p:sldId id="350" r:id="rId4"/>
    <p:sldId id="351" r:id="rId5"/>
    <p:sldId id="352" r:id="rId6"/>
    <p:sldId id="353" r:id="rId7"/>
    <p:sldId id="354" r:id="rId8"/>
    <p:sldId id="355" r:id="rId9"/>
    <p:sldId id="356" r:id="rId10"/>
    <p:sldId id="357" r:id="rId11"/>
    <p:sldId id="358" r:id="rId12"/>
    <p:sldId id="359" r:id="rId13"/>
    <p:sldId id="360" r:id="rId14"/>
    <p:sldId id="361" r:id="rId15"/>
    <p:sldId id="347"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3840">
          <p15:clr>
            <a:srgbClr val="A4A3A4"/>
          </p15:clr>
        </p15:guide>
      </p15:sldGuideLst>
    </p:ext>
    <p:ext uri="{2D200454-40CA-4A62-9FC3-DE9A4176ACB9}">
      <p15:notes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67A5C"/>
    <a:srgbClr val="0000CC"/>
    <a:srgbClr val="083F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4C1A8A3-306A-4EB7-A6B1-4F7E0EB9C5D6}" styleName="Medium Style 3 - Acc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867" autoAdjust="0"/>
    <p:restoredTop sz="94660"/>
  </p:normalViewPr>
  <p:slideViewPr>
    <p:cSldViewPr snapToGrid="0">
      <p:cViewPr varScale="1">
        <p:scale>
          <a:sx n="51" d="100"/>
          <a:sy n="51" d="100"/>
        </p:scale>
        <p:origin x="-120" y="-180"/>
      </p:cViewPr>
      <p:guideLst>
        <p:guide orient="horz" pos="2160"/>
        <p:guide pos="3840"/>
      </p:guideLst>
    </p:cSldViewPr>
  </p:slideViewPr>
  <p:notesTextViewPr>
    <p:cViewPr>
      <p:scale>
        <a:sx n="1" d="1"/>
        <a:sy n="1" d="1"/>
      </p:scale>
      <p:origin x="0" y="0"/>
    </p:cViewPr>
  </p:notesTextViewPr>
  <p:notesViewPr>
    <p:cSldViewPr snapToGrid="0">
      <p:cViewPr varScale="1">
        <p:scale>
          <a:sx n="68" d="100"/>
          <a:sy n="68" d="100"/>
        </p:scale>
        <p:origin x="3101" y="6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C2272412-ECD9-4589-8F80-ED35644F1A6B}" type="datetimeFigureOut">
              <a:rPr lang="en-US" smtClean="0"/>
              <a:t>3/6/2020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6A4C0F7-5F49-42B7-B90C-A2B4D6FD848C}" type="slidenum">
              <a:rPr lang="en-US" smtClean="0"/>
              <a:t>‹#›</a:t>
            </a:fld>
            <a:endParaRPr lang="en-US"/>
          </a:p>
        </p:txBody>
      </p:sp>
    </p:spTree>
    <p:extLst>
      <p:ext uri="{BB962C8B-B14F-4D97-AF65-F5344CB8AC3E}">
        <p14:creationId xmlns:p14="http://schemas.microsoft.com/office/powerpoint/2010/main" val="27293724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8F45BA7-E16A-448D-AFA6-C7C5F831FC2B}" type="datetimeFigureOut">
              <a:rPr lang="en-US" smtClean="0"/>
              <a:t>3/6/2020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3CAA21-A97D-4DBF-8260-A26B87E292CD}" type="slidenum">
              <a:rPr lang="en-US" smtClean="0"/>
              <a:t>‹#›</a:t>
            </a:fld>
            <a:endParaRPr lang="en-US"/>
          </a:p>
        </p:txBody>
      </p:sp>
    </p:spTree>
    <p:extLst>
      <p:ext uri="{BB962C8B-B14F-4D97-AF65-F5344CB8AC3E}">
        <p14:creationId xmlns:p14="http://schemas.microsoft.com/office/powerpoint/2010/main" val="159754512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7" name="Rectangle 6"/>
          <p:cNvSpPr/>
          <p:nvPr userDrawn="1"/>
        </p:nvSpPr>
        <p:spPr>
          <a:xfrm>
            <a:off x="0" y="0"/>
            <a:ext cx="12192000" cy="775607"/>
          </a:xfrm>
          <a:prstGeom prst="rect">
            <a:avLst/>
          </a:prstGeom>
          <a:solidFill>
            <a:srgbClr val="083FA4">
              <a:shade val="30000"/>
              <a:satMod val="1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4821" y="65530"/>
            <a:ext cx="2925543" cy="640960"/>
          </a:xfrm>
          <a:prstGeom prst="rect">
            <a:avLst/>
          </a:prstGeom>
        </p:spPr>
      </p:pic>
      <p:sp>
        <p:nvSpPr>
          <p:cNvPr id="12" name="Text Placeholder 11"/>
          <p:cNvSpPr>
            <a:spLocks noGrp="1"/>
          </p:cNvSpPr>
          <p:nvPr>
            <p:ph type="body" sz="quarter" idx="10" hasCustomPrompt="1"/>
          </p:nvPr>
        </p:nvSpPr>
        <p:spPr>
          <a:xfrm>
            <a:off x="2709863" y="2522538"/>
            <a:ext cx="6753225" cy="1314450"/>
          </a:xfrm>
          <a:prstGeom prst="rect">
            <a:avLst/>
          </a:prstGeom>
        </p:spPr>
        <p:txBody>
          <a:bodyPr anchor="ctr"/>
          <a:lstStyle>
            <a:lvl1pPr marL="0" indent="0" algn="ctr">
              <a:buNone/>
              <a:defRPr sz="4400" b="1"/>
            </a:lvl1pPr>
          </a:lstStyle>
          <a:p>
            <a:pPr lvl="0"/>
            <a:r>
              <a:rPr lang="en-GB" dirty="0" smtClean="0"/>
              <a:t>Presentation Title </a:t>
            </a:r>
            <a:endParaRPr lang="en-US" dirty="0"/>
          </a:p>
        </p:txBody>
      </p:sp>
      <p:sp>
        <p:nvSpPr>
          <p:cNvPr id="6" name="Rectangle 5"/>
          <p:cNvSpPr/>
          <p:nvPr userDrawn="1"/>
        </p:nvSpPr>
        <p:spPr>
          <a:xfrm>
            <a:off x="0" y="6596743"/>
            <a:ext cx="12192000" cy="261257"/>
          </a:xfrm>
          <a:prstGeom prst="rect">
            <a:avLst/>
          </a:prstGeom>
          <a:solidFill>
            <a:srgbClr val="083FA4">
              <a:shade val="30000"/>
              <a:satMod val="1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73065374"/>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
        <p:nvSpPr>
          <p:cNvPr id="3" name="Rectangle 2"/>
          <p:cNvSpPr/>
          <p:nvPr userDrawn="1"/>
        </p:nvSpPr>
        <p:spPr>
          <a:xfrm>
            <a:off x="0" y="0"/>
            <a:ext cx="12192000" cy="775607"/>
          </a:xfrm>
          <a:prstGeom prst="rect">
            <a:avLst/>
          </a:prstGeom>
          <a:solidFill>
            <a:srgbClr val="083FA4">
              <a:shade val="30000"/>
              <a:satMod val="1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0" y="6596743"/>
            <a:ext cx="12192000" cy="261257"/>
          </a:xfrm>
          <a:prstGeom prst="rect">
            <a:avLst/>
          </a:prstGeom>
          <a:solidFill>
            <a:srgbClr val="083FA4">
              <a:shade val="30000"/>
              <a:satMod val="1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4821" y="65530"/>
            <a:ext cx="2925543" cy="640960"/>
          </a:xfrm>
          <a:prstGeom prst="rect">
            <a:avLst/>
          </a:prstGeom>
        </p:spPr>
      </p:pic>
      <p:sp>
        <p:nvSpPr>
          <p:cNvPr id="7" name="Text Placeholder 6"/>
          <p:cNvSpPr>
            <a:spLocks noGrp="1"/>
          </p:cNvSpPr>
          <p:nvPr>
            <p:ph type="body" sz="quarter" idx="10" hasCustomPrompt="1"/>
          </p:nvPr>
        </p:nvSpPr>
        <p:spPr>
          <a:xfrm>
            <a:off x="163513" y="130175"/>
            <a:ext cx="7151687" cy="522288"/>
          </a:xfrm>
          <a:prstGeom prst="rect">
            <a:avLst/>
          </a:prstGeom>
        </p:spPr>
        <p:txBody>
          <a:bodyPr anchor="ctr"/>
          <a:lstStyle>
            <a:lvl1pPr marL="0" indent="0">
              <a:buNone/>
              <a:defRPr sz="4000" b="1">
                <a:solidFill>
                  <a:schemeClr val="bg1"/>
                </a:solidFill>
              </a:defRPr>
            </a:lvl1pPr>
          </a:lstStyle>
          <a:p>
            <a:pPr lvl="0"/>
            <a:r>
              <a:rPr lang="en-GB" dirty="0" smtClean="0"/>
              <a:t>Slide title </a:t>
            </a:r>
            <a:endParaRPr lang="en-US" dirty="0" smtClean="0"/>
          </a:p>
        </p:txBody>
      </p:sp>
      <p:sp>
        <p:nvSpPr>
          <p:cNvPr id="9" name="Content Placeholder 8"/>
          <p:cNvSpPr>
            <a:spLocks noGrp="1"/>
          </p:cNvSpPr>
          <p:nvPr>
            <p:ph sz="quarter" idx="11" hasCustomPrompt="1"/>
          </p:nvPr>
        </p:nvSpPr>
        <p:spPr>
          <a:xfrm>
            <a:off x="538163" y="1143000"/>
            <a:ext cx="11193462" cy="5005388"/>
          </a:xfrm>
          <a:prstGeom prst="rect">
            <a:avLst/>
          </a:prstGeom>
        </p:spPr>
        <p:txBody>
          <a:bodyPr/>
          <a:lstStyle>
            <a:lvl1pPr>
              <a:defRPr sz="2400"/>
            </a:lvl1pPr>
          </a:lstStyle>
          <a:p>
            <a:pPr lvl="0"/>
            <a:r>
              <a:rPr lang="en-US" dirty="0" smtClean="0"/>
              <a:t>Text</a:t>
            </a:r>
          </a:p>
        </p:txBody>
      </p:sp>
    </p:spTree>
    <p:extLst>
      <p:ext uri="{BB962C8B-B14F-4D97-AF65-F5344CB8AC3E}">
        <p14:creationId xmlns:p14="http://schemas.microsoft.com/office/powerpoint/2010/main" val="336173840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1_Custom Layout">
    <p:spTree>
      <p:nvGrpSpPr>
        <p:cNvPr id="1" name=""/>
        <p:cNvGrpSpPr/>
        <p:nvPr/>
      </p:nvGrpSpPr>
      <p:grpSpPr>
        <a:xfrm>
          <a:off x="0" y="0"/>
          <a:ext cx="0" cy="0"/>
          <a:chOff x="0" y="0"/>
          <a:chExt cx="0" cy="0"/>
        </a:xfrm>
      </p:grpSpPr>
      <p:sp>
        <p:nvSpPr>
          <p:cNvPr id="3" name="Rectangle 2"/>
          <p:cNvSpPr/>
          <p:nvPr userDrawn="1"/>
        </p:nvSpPr>
        <p:spPr>
          <a:xfrm>
            <a:off x="0" y="0"/>
            <a:ext cx="12192000" cy="775607"/>
          </a:xfrm>
          <a:prstGeom prst="rect">
            <a:avLst/>
          </a:prstGeom>
          <a:solidFill>
            <a:srgbClr val="083FA4">
              <a:shade val="30000"/>
              <a:satMod val="1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userDrawn="1"/>
        </p:nvSpPr>
        <p:spPr>
          <a:xfrm>
            <a:off x="0" y="6596743"/>
            <a:ext cx="12192000" cy="261257"/>
          </a:xfrm>
          <a:prstGeom prst="rect">
            <a:avLst/>
          </a:prstGeom>
          <a:solidFill>
            <a:srgbClr val="083FA4">
              <a:shade val="30000"/>
              <a:satMod val="1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184821" y="65530"/>
            <a:ext cx="2925543" cy="640960"/>
          </a:xfrm>
          <a:prstGeom prst="rect">
            <a:avLst/>
          </a:prstGeom>
        </p:spPr>
      </p:pic>
      <p:sp>
        <p:nvSpPr>
          <p:cNvPr id="7" name="Text Placeholder 6"/>
          <p:cNvSpPr>
            <a:spLocks noGrp="1"/>
          </p:cNvSpPr>
          <p:nvPr>
            <p:ph type="body" sz="quarter" idx="10" hasCustomPrompt="1"/>
          </p:nvPr>
        </p:nvSpPr>
        <p:spPr>
          <a:xfrm>
            <a:off x="163513" y="130175"/>
            <a:ext cx="7151687" cy="522288"/>
          </a:xfrm>
          <a:prstGeom prst="rect">
            <a:avLst/>
          </a:prstGeom>
        </p:spPr>
        <p:txBody>
          <a:bodyPr anchor="ctr"/>
          <a:lstStyle>
            <a:lvl1pPr marL="0" indent="0">
              <a:buNone/>
              <a:defRPr sz="4000" b="1">
                <a:solidFill>
                  <a:schemeClr val="bg1"/>
                </a:solidFill>
              </a:defRPr>
            </a:lvl1pPr>
          </a:lstStyle>
          <a:p>
            <a:pPr lvl="0"/>
            <a:r>
              <a:rPr lang="en-GB" dirty="0" smtClean="0"/>
              <a:t>Slide title </a:t>
            </a:r>
            <a:endParaRPr lang="en-US" dirty="0" smtClean="0"/>
          </a:p>
        </p:txBody>
      </p:sp>
      <p:sp>
        <p:nvSpPr>
          <p:cNvPr id="9" name="Content Placeholder 8"/>
          <p:cNvSpPr>
            <a:spLocks noGrp="1"/>
          </p:cNvSpPr>
          <p:nvPr>
            <p:ph sz="quarter" idx="11" hasCustomPrompt="1"/>
          </p:nvPr>
        </p:nvSpPr>
        <p:spPr>
          <a:xfrm>
            <a:off x="538163" y="1143000"/>
            <a:ext cx="5303520" cy="5005388"/>
          </a:xfrm>
          <a:prstGeom prst="rect">
            <a:avLst/>
          </a:prstGeom>
        </p:spPr>
        <p:txBody>
          <a:bodyPr/>
          <a:lstStyle>
            <a:lvl1pPr>
              <a:defRPr sz="2400">
                <a:latin typeface="+mj-lt"/>
              </a:defRPr>
            </a:lvl1pPr>
          </a:lstStyle>
          <a:p>
            <a:pPr lvl="0"/>
            <a:r>
              <a:rPr lang="en-US" dirty="0" smtClean="0"/>
              <a:t>Text</a:t>
            </a:r>
          </a:p>
        </p:txBody>
      </p:sp>
      <p:sp>
        <p:nvSpPr>
          <p:cNvPr id="10" name="Content Placeholder 8"/>
          <p:cNvSpPr>
            <a:spLocks noGrp="1"/>
          </p:cNvSpPr>
          <p:nvPr>
            <p:ph sz="quarter" idx="12" hasCustomPrompt="1"/>
          </p:nvPr>
        </p:nvSpPr>
        <p:spPr>
          <a:xfrm>
            <a:off x="6347273" y="1143000"/>
            <a:ext cx="5303520" cy="5005388"/>
          </a:xfrm>
          <a:prstGeom prst="rect">
            <a:avLst/>
          </a:prstGeom>
        </p:spPr>
        <p:txBody>
          <a:bodyPr/>
          <a:lstStyle>
            <a:lvl1pPr>
              <a:defRPr sz="2400">
                <a:latin typeface="+mn-lt"/>
              </a:defRPr>
            </a:lvl1pPr>
          </a:lstStyle>
          <a:p>
            <a:pPr lvl="0"/>
            <a:r>
              <a:rPr lang="en-US" dirty="0" smtClean="0"/>
              <a:t>Text</a:t>
            </a:r>
          </a:p>
        </p:txBody>
      </p:sp>
    </p:spTree>
    <p:extLst>
      <p:ext uri="{BB962C8B-B14F-4D97-AF65-F5344CB8AC3E}">
        <p14:creationId xmlns:p14="http://schemas.microsoft.com/office/powerpoint/2010/main" val="4220893824"/>
      </p:ext>
    </p:extLst>
  </p:cSld>
  <p:clrMapOvr>
    <a:masterClrMapping/>
  </p:clrMapOvr>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userDrawn="1"/>
        </p:nvSpPr>
        <p:spPr>
          <a:xfrm>
            <a:off x="0" y="0"/>
            <a:ext cx="12192000" cy="6858000"/>
          </a:xfrm>
          <a:prstGeom prst="rect">
            <a:avLst/>
          </a:prstGeom>
          <a:solidFill>
            <a:srgbClr val="083FA4">
              <a:shade val="30000"/>
              <a:satMod val="1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743193" y="2694430"/>
            <a:ext cx="6705614" cy="1469139"/>
          </a:xfrm>
          <a:prstGeom prst="rect">
            <a:avLst/>
          </a:prstGeom>
        </p:spPr>
      </p:pic>
    </p:spTree>
    <p:extLst>
      <p:ext uri="{BB962C8B-B14F-4D97-AF65-F5344CB8AC3E}">
        <p14:creationId xmlns:p14="http://schemas.microsoft.com/office/powerpoint/2010/main" val="927638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2" r:id="rId3"/>
  </p:sldLayoutIdLst>
  <p:timing>
    <p:tnLst>
      <p:par>
        <p:cTn id="1" dur="indefinite" restart="never" nodeType="tmRoot"/>
      </p:par>
    </p:tnLst>
  </p:timing>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1680641" y="1847753"/>
            <a:ext cx="8849526" cy="2985433"/>
          </a:xfrm>
          <a:prstGeom prst="rect">
            <a:avLst/>
          </a:prstGeom>
          <a:noFill/>
        </p:spPr>
        <p:txBody>
          <a:bodyPr wrap="square" rtlCol="0" anchor="ctr">
            <a:spAutoFit/>
          </a:bodyPr>
          <a:lstStyle/>
          <a:p>
            <a:pPr algn="ctr"/>
            <a:r>
              <a:rPr lang="en-GB" sz="2800" b="1" dirty="0" smtClean="0"/>
              <a:t>WEEK 21</a:t>
            </a:r>
          </a:p>
          <a:p>
            <a:pPr algn="ctr"/>
            <a:endParaRPr lang="en-GB" sz="2800" b="1" dirty="0" smtClean="0"/>
          </a:p>
          <a:p>
            <a:pPr algn="ctr"/>
            <a:r>
              <a:rPr lang="en-US" sz="3200" b="1" dirty="0" smtClean="0"/>
              <a:t>Multiple Linear Regression (II)</a:t>
            </a:r>
          </a:p>
          <a:p>
            <a:pPr algn="ctr"/>
            <a:endParaRPr lang="en-US" sz="2800" b="1" dirty="0" smtClean="0"/>
          </a:p>
          <a:p>
            <a:pPr algn="ctr"/>
            <a:endParaRPr lang="en-GB" b="1" dirty="0" smtClean="0"/>
          </a:p>
          <a:p>
            <a:pPr algn="ctr"/>
            <a:endParaRPr lang="en-GB" b="1" dirty="0"/>
          </a:p>
          <a:p>
            <a:pPr algn="r"/>
            <a:endParaRPr lang="en-GB" b="1" dirty="0"/>
          </a:p>
          <a:p>
            <a:pPr algn="r"/>
            <a:endParaRPr lang="en-GB" b="1" dirty="0" smtClean="0"/>
          </a:p>
        </p:txBody>
      </p:sp>
    </p:spTree>
    <p:extLst>
      <p:ext uri="{BB962C8B-B14F-4D97-AF65-F5344CB8AC3E}">
        <p14:creationId xmlns:p14="http://schemas.microsoft.com/office/powerpoint/2010/main" val="349038380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Lecture outline</a:t>
            </a:r>
            <a:endParaRPr lang="en-US" dirty="0"/>
          </a:p>
        </p:txBody>
      </p:sp>
      <p:sp>
        <p:nvSpPr>
          <p:cNvPr id="3" name="Content Placeholder 2"/>
          <p:cNvSpPr>
            <a:spLocks noGrp="1"/>
          </p:cNvSpPr>
          <p:nvPr>
            <p:ph sz="quarter" idx="11"/>
          </p:nvPr>
        </p:nvSpPr>
        <p:spPr>
          <a:xfrm>
            <a:off x="538163" y="1143000"/>
            <a:ext cx="11193462" cy="5148618"/>
          </a:xfrm>
        </p:spPr>
        <p:txBody>
          <a:bodyPr/>
          <a:lstStyle/>
          <a:p>
            <a:pPr marL="0" indent="0">
              <a:buNone/>
            </a:pPr>
            <a:endParaRPr lang="en-US" dirty="0" smtClean="0"/>
          </a:p>
          <a:p>
            <a:pPr marL="457200" indent="-457200">
              <a:buFont typeface="Arial" panose="020B0604020202020204" pitchFamily="34" charset="0"/>
              <a:buAutoNum type="arabicPeriod"/>
            </a:pPr>
            <a:r>
              <a:rPr lang="en-US" dirty="0"/>
              <a:t>F-test for model significance</a:t>
            </a:r>
          </a:p>
          <a:p>
            <a:pPr marL="457200" indent="-457200">
              <a:buAutoNum type="arabicPeriod"/>
            </a:pPr>
            <a:r>
              <a:rPr lang="en-US" dirty="0" smtClean="0"/>
              <a:t>t-test for parameter significance</a:t>
            </a:r>
          </a:p>
          <a:p>
            <a:pPr marL="457200" indent="-457200">
              <a:buAutoNum type="arabicPeriod"/>
            </a:pPr>
            <a:r>
              <a:rPr lang="en-US" dirty="0" smtClean="0"/>
              <a:t>Model selection: stepwise selection</a:t>
            </a:r>
          </a:p>
        </p:txBody>
      </p:sp>
    </p:spTree>
    <p:extLst>
      <p:ext uri="{BB962C8B-B14F-4D97-AF65-F5344CB8AC3E}">
        <p14:creationId xmlns:p14="http://schemas.microsoft.com/office/powerpoint/2010/main" val="21880655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p:txBody>
          <a:bodyPr/>
          <a:lstStyle/>
          <a:p>
            <a:endParaRPr lang="en-US" dirty="0"/>
          </a:p>
        </p:txBody>
      </p:sp>
      <p:sp>
        <p:nvSpPr>
          <p:cNvPr id="4" name="Rectangle 3"/>
          <p:cNvSpPr>
            <a:spLocks noChangeArrowheads="1"/>
          </p:cNvSpPr>
          <p:nvPr/>
        </p:nvSpPr>
        <p:spPr bwMode="auto">
          <a:xfrm>
            <a:off x="2336895" y="2024418"/>
            <a:ext cx="7677150" cy="1123950"/>
          </a:xfrm>
          <a:prstGeom prst="rect">
            <a:avLst/>
          </a:prstGeom>
          <a:solidFill>
            <a:schemeClr val="accent1">
              <a:lumMod val="20000"/>
              <a:lumOff val="80000"/>
            </a:schemeClr>
          </a:solidFill>
          <a:ln w="6350">
            <a:solidFill>
              <a:schemeClr val="tx1"/>
            </a:solidFill>
            <a:miter lim="800000"/>
            <a:headEnd/>
            <a:tailEnd/>
          </a:ln>
          <a:effectLst>
            <a:outerShdw dist="53882" dir="2700000" algn="ctr" rotWithShape="0">
              <a:schemeClr val="bg2"/>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In simple linear regression, the </a:t>
            </a: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and </a:t>
            </a:r>
            <a:r>
              <a:rPr lang="en-US" sz="2400" i="1" dirty="0">
                <a:effectLst>
                  <a:outerShdw blurRad="38100" dist="38100" dir="2700000" algn="tl">
                    <a:srgbClr val="000000"/>
                  </a:outerShdw>
                </a:effectLst>
                <a:latin typeface="Book Antiqua" pitchFamily="18" charset="0"/>
              </a:rPr>
              <a:t>t</a:t>
            </a:r>
            <a:r>
              <a:rPr lang="en-US" sz="2400" dirty="0">
                <a:effectLst>
                  <a:outerShdw blurRad="38100" dist="38100" dir="2700000" algn="tl">
                    <a:srgbClr val="000000"/>
                  </a:outerShdw>
                </a:effectLst>
                <a:latin typeface="Book Antiqua" pitchFamily="18" charset="0"/>
              </a:rPr>
              <a:t> tests provide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the same conclusion.</a:t>
            </a:r>
          </a:p>
        </p:txBody>
      </p:sp>
      <p:sp>
        <p:nvSpPr>
          <p:cNvPr id="5" name="Rectangle 6"/>
          <p:cNvSpPr>
            <a:spLocks noChangeArrowheads="1"/>
          </p:cNvSpPr>
          <p:nvPr/>
        </p:nvSpPr>
        <p:spPr bwMode="auto">
          <a:xfrm>
            <a:off x="2336895" y="3262668"/>
            <a:ext cx="7677150" cy="1123950"/>
          </a:xfrm>
          <a:prstGeom prst="rect">
            <a:avLst/>
          </a:prstGeom>
          <a:solidFill>
            <a:schemeClr val="accent1">
              <a:lumMod val="20000"/>
              <a:lumOff val="80000"/>
            </a:schemeClr>
          </a:solidFill>
          <a:ln w="6350">
            <a:solidFill>
              <a:schemeClr val="tx1"/>
            </a:solidFill>
            <a:miter lim="800000"/>
            <a:headEnd/>
            <a:tailEnd/>
          </a:ln>
          <a:effectLst>
            <a:outerShdw dist="53882" dir="2700000" algn="ctr" rotWithShape="0">
              <a:schemeClr val="bg2"/>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In multiple regression, the </a:t>
            </a: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and </a:t>
            </a:r>
            <a:r>
              <a:rPr lang="en-US" sz="2400" i="1" dirty="0">
                <a:effectLst>
                  <a:outerShdw blurRad="38100" dist="38100" dir="2700000" algn="tl">
                    <a:srgbClr val="000000"/>
                  </a:outerShdw>
                </a:effectLst>
                <a:latin typeface="Book Antiqua" pitchFamily="18" charset="0"/>
              </a:rPr>
              <a:t>t</a:t>
            </a:r>
            <a:r>
              <a:rPr lang="en-US" sz="2400" dirty="0">
                <a:effectLst>
                  <a:outerShdw blurRad="38100" dist="38100" dir="2700000" algn="tl">
                    <a:srgbClr val="000000"/>
                  </a:outerShdw>
                </a:effectLst>
                <a:latin typeface="Book Antiqua" pitchFamily="18" charset="0"/>
              </a:rPr>
              <a:t> tests have different</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purposes.</a:t>
            </a:r>
          </a:p>
        </p:txBody>
      </p:sp>
      <p:sp>
        <p:nvSpPr>
          <p:cNvPr id="6" name="Rectangle 4"/>
          <p:cNvSpPr>
            <a:spLocks noGrp="1" noChangeArrowheads="1"/>
          </p:cNvSpPr>
          <p:nvPr>
            <p:ph type="body" sz="quarter" idx="10"/>
          </p:nvPr>
        </p:nvSpPr>
        <p:spPr bwMode="auto">
          <a:prstGeom prst="rect">
            <a:avLst/>
          </a:prstGeom>
        </p:spPr>
        <p:txBody>
          <a:bodyPr anchor="ctr"/>
          <a:lstStyle/>
          <a:p>
            <a:r>
              <a:rPr lang="en-US" sz="3200" dirty="0"/>
              <a:t>Testing for Significance</a:t>
            </a:r>
          </a:p>
        </p:txBody>
      </p:sp>
    </p:spTree>
    <p:extLst>
      <p:ext uri="{BB962C8B-B14F-4D97-AF65-F5344CB8AC3E}">
        <p14:creationId xmlns:p14="http://schemas.microsoft.com/office/powerpoint/2010/main" val="26454572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2800" dirty="0"/>
              <a:t>Testing for </a:t>
            </a:r>
            <a:r>
              <a:rPr lang="en-US" sz="2800" dirty="0" smtClean="0"/>
              <a:t>Significance: F-test</a:t>
            </a:r>
            <a:endParaRPr lang="en-US" sz="2800" dirty="0"/>
          </a:p>
        </p:txBody>
      </p:sp>
      <p:sp>
        <p:nvSpPr>
          <p:cNvPr id="3" name="Content Placeholder 2"/>
          <p:cNvSpPr>
            <a:spLocks noGrp="1"/>
          </p:cNvSpPr>
          <p:nvPr>
            <p:ph sz="quarter" idx="11"/>
          </p:nvPr>
        </p:nvSpPr>
        <p:spPr/>
        <p:txBody>
          <a:bodyPr/>
          <a:lstStyle/>
          <a:p>
            <a:endParaRPr lang="en-US" dirty="0"/>
          </a:p>
        </p:txBody>
      </p:sp>
      <p:sp>
        <p:nvSpPr>
          <p:cNvPr id="4" name="Rectangle 5"/>
          <p:cNvSpPr>
            <a:spLocks noChangeArrowheads="1"/>
          </p:cNvSpPr>
          <p:nvPr/>
        </p:nvSpPr>
        <p:spPr bwMode="auto">
          <a:xfrm>
            <a:off x="2235571" y="3291655"/>
            <a:ext cx="7677150" cy="1123950"/>
          </a:xfrm>
          <a:prstGeom prst="rect">
            <a:avLst/>
          </a:prstGeom>
          <a:solidFill>
            <a:schemeClr val="accent1">
              <a:lumMod val="20000"/>
              <a:lumOff val="80000"/>
            </a:schemeClr>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The </a:t>
            </a:r>
            <a:r>
              <a:rPr lang="en-US" sz="2400" i="1">
                <a:effectLst>
                  <a:outerShdw blurRad="38100" dist="38100" dir="2700000" algn="tl">
                    <a:srgbClr val="000000"/>
                  </a:outerShdw>
                </a:effectLst>
                <a:latin typeface="Book Antiqua" pitchFamily="18" charset="0"/>
              </a:rPr>
              <a:t>F</a:t>
            </a:r>
            <a:r>
              <a:rPr lang="en-US" sz="2400">
                <a:effectLst>
                  <a:outerShdw blurRad="38100" dist="38100" dir="2700000" algn="tl">
                    <a:srgbClr val="000000"/>
                  </a:outerShdw>
                </a:effectLst>
                <a:latin typeface="Book Antiqua" pitchFamily="18" charset="0"/>
              </a:rPr>
              <a:t> test is referred to as the </a:t>
            </a:r>
            <a:r>
              <a:rPr lang="en-US" sz="2400" u="sng">
                <a:effectLst>
                  <a:outerShdw blurRad="38100" dist="38100" dir="2700000" algn="tl">
                    <a:srgbClr val="000000"/>
                  </a:outerShdw>
                </a:effectLst>
                <a:latin typeface="Book Antiqua" pitchFamily="18" charset="0"/>
              </a:rPr>
              <a:t>test for overall</a:t>
            </a:r>
          </a:p>
          <a:p>
            <a:pPr algn="l">
              <a:buClr>
                <a:srgbClr val="66FFFF"/>
              </a:buClr>
              <a:buFont typeface="Wingdings" pitchFamily="2" charset="2"/>
              <a:buNone/>
              <a:defRPr/>
            </a:pPr>
            <a:r>
              <a:rPr lang="en-US" sz="2400">
                <a:effectLst>
                  <a:outerShdw blurRad="38100" dist="38100" dir="2700000" algn="tl">
                    <a:srgbClr val="000000"/>
                  </a:outerShdw>
                </a:effectLst>
                <a:latin typeface="Book Antiqua" pitchFamily="18" charset="0"/>
              </a:rPr>
              <a:t> </a:t>
            </a:r>
            <a:r>
              <a:rPr lang="en-US" sz="2400" u="sng">
                <a:effectLst>
                  <a:outerShdw blurRad="38100" dist="38100" dir="2700000" algn="tl">
                    <a:srgbClr val="000000"/>
                  </a:outerShdw>
                </a:effectLst>
                <a:latin typeface="Book Antiqua" pitchFamily="18" charset="0"/>
              </a:rPr>
              <a:t>significance</a:t>
            </a:r>
            <a:r>
              <a:rPr lang="en-US" sz="2400">
                <a:effectLst>
                  <a:outerShdw blurRad="38100" dist="38100" dir="2700000" algn="tl">
                    <a:srgbClr val="000000"/>
                  </a:outerShdw>
                </a:effectLst>
                <a:latin typeface="Book Antiqua" pitchFamily="18" charset="0"/>
              </a:rPr>
              <a:t>.</a:t>
            </a:r>
          </a:p>
        </p:txBody>
      </p:sp>
      <p:sp>
        <p:nvSpPr>
          <p:cNvPr id="5" name="Rectangle 7"/>
          <p:cNvSpPr>
            <a:spLocks noChangeArrowheads="1"/>
          </p:cNvSpPr>
          <p:nvPr/>
        </p:nvSpPr>
        <p:spPr bwMode="auto">
          <a:xfrm>
            <a:off x="2235571" y="1913864"/>
            <a:ext cx="7677150" cy="1390650"/>
          </a:xfrm>
          <a:prstGeom prst="rect">
            <a:avLst/>
          </a:prstGeom>
          <a:solidFill>
            <a:schemeClr val="accent1">
              <a:lumMod val="20000"/>
              <a:lumOff val="80000"/>
            </a:schemeClr>
          </a:solidFill>
          <a:ln w="6350">
            <a:solidFill>
              <a:schemeClr val="tx1"/>
            </a:solidFill>
            <a:miter lim="800000"/>
            <a:headEnd/>
            <a:tailEnd/>
          </a:ln>
          <a:effectLst>
            <a:outerShdw dist="53882" dir="2700000" algn="ctr" rotWithShape="0">
              <a:srgbClr val="000000"/>
            </a:outerShdw>
          </a:effectLst>
        </p:spPr>
        <p:txBody>
          <a:bodyPr wrap="none" anchor="ctr"/>
          <a:lstStyle/>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The </a:t>
            </a: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test is used to determine whether a significant</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relationship exists between the dependent variable</a:t>
            </a:r>
          </a:p>
          <a:p>
            <a:pPr algn="l">
              <a:buClr>
                <a:srgbClr val="66FFFF"/>
              </a:buClr>
              <a:buFont typeface="Wingdings" pitchFamily="2" charset="2"/>
              <a:buNone/>
              <a:defRPr/>
            </a:pPr>
            <a:r>
              <a:rPr lang="en-US" sz="2400" dirty="0">
                <a:effectLst>
                  <a:outerShdw blurRad="38100" dist="38100" dir="2700000" algn="tl">
                    <a:srgbClr val="000000"/>
                  </a:outerShdw>
                </a:effectLst>
                <a:latin typeface="Book Antiqua" pitchFamily="18" charset="0"/>
              </a:rPr>
              <a:t> and the set of </a:t>
            </a:r>
            <a:r>
              <a:rPr lang="en-US" sz="2400" u="sng" dirty="0">
                <a:effectLst>
                  <a:outerShdw blurRad="38100" dist="38100" dir="2700000" algn="tl">
                    <a:srgbClr val="000000"/>
                  </a:outerShdw>
                </a:effectLst>
                <a:latin typeface="Book Antiqua" pitchFamily="18" charset="0"/>
              </a:rPr>
              <a:t>all the independent variables</a:t>
            </a:r>
            <a:r>
              <a:rPr lang="en-US" sz="2400" dirty="0">
                <a:effectLst>
                  <a:outerShdw blurRad="38100" dist="38100" dir="2700000" algn="tl">
                    <a:srgbClr val="000000"/>
                  </a:outerShdw>
                </a:effectLst>
                <a:latin typeface="Book Antiqua" pitchFamily="18" charset="0"/>
              </a:rPr>
              <a:t>.</a:t>
            </a:r>
          </a:p>
        </p:txBody>
      </p:sp>
    </p:spTree>
    <p:extLst>
      <p:ext uri="{BB962C8B-B14F-4D97-AF65-F5344CB8AC3E}">
        <p14:creationId xmlns:p14="http://schemas.microsoft.com/office/powerpoint/2010/main" val="29785732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a:spLocks noChangeArrowheads="1"/>
          </p:cNvSpPr>
          <p:nvPr/>
        </p:nvSpPr>
        <p:spPr bwMode="auto">
          <a:xfrm>
            <a:off x="779486" y="1647825"/>
            <a:ext cx="2228850" cy="55245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Hypotheses</a:t>
            </a:r>
          </a:p>
        </p:txBody>
      </p:sp>
      <p:sp>
        <p:nvSpPr>
          <p:cNvPr id="5" name="Rectangle 4"/>
          <p:cNvSpPr>
            <a:spLocks noChangeArrowheads="1"/>
          </p:cNvSpPr>
          <p:nvPr/>
        </p:nvSpPr>
        <p:spPr bwMode="auto">
          <a:xfrm>
            <a:off x="779486" y="4105133"/>
            <a:ext cx="2228850" cy="55245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Rejection Rule</a:t>
            </a:r>
          </a:p>
        </p:txBody>
      </p:sp>
      <p:sp>
        <p:nvSpPr>
          <p:cNvPr id="6" name="Rectangle 5"/>
          <p:cNvSpPr>
            <a:spLocks noChangeArrowheads="1"/>
          </p:cNvSpPr>
          <p:nvPr/>
        </p:nvSpPr>
        <p:spPr bwMode="auto">
          <a:xfrm>
            <a:off x="781050" y="2781300"/>
            <a:ext cx="2228850" cy="55245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Test Statistics</a:t>
            </a:r>
          </a:p>
        </p:txBody>
      </p:sp>
      <p:sp>
        <p:nvSpPr>
          <p:cNvPr id="7" name="Text Placeholder 1"/>
          <p:cNvSpPr>
            <a:spLocks noGrp="1"/>
          </p:cNvSpPr>
          <p:nvPr>
            <p:ph type="body" sz="quarter" idx="10"/>
          </p:nvPr>
        </p:nvSpPr>
        <p:spPr/>
        <p:txBody>
          <a:bodyPr/>
          <a:lstStyle/>
          <a:p>
            <a:r>
              <a:rPr lang="en-US" sz="2800" dirty="0"/>
              <a:t>Testing for </a:t>
            </a:r>
            <a:r>
              <a:rPr lang="en-US" sz="2800" dirty="0" smtClean="0"/>
              <a:t>Significance: F-test</a:t>
            </a:r>
            <a:endParaRPr lang="en-US" sz="2800" dirty="0"/>
          </a:p>
        </p:txBody>
      </p:sp>
      <p:sp>
        <p:nvSpPr>
          <p:cNvPr id="8" name="Rectangle 7"/>
          <p:cNvSpPr>
            <a:spLocks noChangeArrowheads="1"/>
          </p:cNvSpPr>
          <p:nvPr/>
        </p:nvSpPr>
        <p:spPr bwMode="auto">
          <a:xfrm>
            <a:off x="3152633" y="1181100"/>
            <a:ext cx="8693623" cy="148590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None/>
              <a:defRPr/>
            </a:pPr>
            <a:r>
              <a:rPr lang="en-US" sz="2400" i="1" dirty="0">
                <a:effectLst>
                  <a:outerShdw blurRad="38100" dist="38100" dir="2700000" algn="tl">
                    <a:srgbClr val="000000"/>
                  </a:outerShdw>
                </a:effectLst>
                <a:latin typeface="Book Antiqua" pitchFamily="18" charset="0"/>
              </a:rPr>
              <a:t> H</a:t>
            </a:r>
            <a:r>
              <a:rPr lang="en-US" sz="2400" baseline="-25000" dirty="0">
                <a:effectLst>
                  <a:outerShdw blurRad="38100" dist="38100" dir="2700000" algn="tl">
                    <a:srgbClr val="000000"/>
                  </a:outerShdw>
                </a:effectLst>
                <a:latin typeface="Book Antiqua" pitchFamily="18" charset="0"/>
              </a:rPr>
              <a:t>0</a:t>
            </a: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Book Antiqua" pitchFamily="18" charset="0"/>
              </a:rPr>
              <a:t>1</a:t>
            </a:r>
            <a:r>
              <a:rPr lang="en-US" sz="2400" dirty="0">
                <a:effectLst>
                  <a:outerShdw blurRad="38100" dist="38100" dir="2700000" algn="tl">
                    <a:srgbClr val="000000"/>
                  </a:outerShdw>
                </a:effectLst>
                <a:latin typeface="Book Antiqua" pitchFamily="18" charset="0"/>
              </a:rPr>
              <a:t> = </a:t>
            </a:r>
            <a:r>
              <a:rPr lang="en-US" sz="2400" i="1"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Book Antiqua" pitchFamily="18" charset="0"/>
              </a:rPr>
              <a:t>2 </a:t>
            </a:r>
            <a:r>
              <a:rPr lang="en-US" sz="2400" dirty="0">
                <a:effectLst>
                  <a:outerShdw blurRad="38100" dist="38100" dir="2700000" algn="tl">
                    <a:srgbClr val="000000"/>
                  </a:outerShdw>
                </a:effectLst>
                <a:latin typeface="Book Antiqua" pitchFamily="18" charset="0"/>
              </a:rPr>
              <a:t>= . . . = </a:t>
            </a:r>
            <a:r>
              <a:rPr lang="en-US" sz="2400" i="1" dirty="0" smtClean="0">
                <a:effectLst>
                  <a:outerShdw blurRad="38100" dist="38100" dir="2700000" algn="tl">
                    <a:srgbClr val="000000"/>
                  </a:outerShdw>
                </a:effectLst>
                <a:latin typeface="Symbol" pitchFamily="18" charset="2"/>
              </a:rPr>
              <a:t></a:t>
            </a:r>
            <a:r>
              <a:rPr lang="en-US" sz="2400" i="1" baseline="-25000" dirty="0" smtClean="0">
                <a:effectLst>
                  <a:outerShdw blurRad="38100" dist="38100" dir="2700000" algn="tl">
                    <a:srgbClr val="000000"/>
                  </a:outerShdw>
                </a:effectLst>
                <a:latin typeface="Book Antiqua" pitchFamily="18" charset="0"/>
              </a:rPr>
              <a:t>k </a:t>
            </a:r>
            <a:r>
              <a:rPr lang="en-US" sz="2400" dirty="0">
                <a:effectLst>
                  <a:outerShdw blurRad="38100" dist="38100" dir="2700000" algn="tl">
                    <a:srgbClr val="000000"/>
                  </a:outerShdw>
                </a:effectLst>
                <a:latin typeface="Book Antiqua" pitchFamily="18" charset="0"/>
              </a:rPr>
              <a:t>= 0</a:t>
            </a:r>
            <a:endParaRPr lang="en-US" sz="2400" dirty="0">
              <a:solidFill>
                <a:schemeClr val="tx2"/>
              </a:solidFill>
              <a:effectLst>
                <a:outerShdw blurRad="38100" dist="38100" dir="2700000" algn="tl">
                  <a:srgbClr val="000000"/>
                </a:outerShdw>
              </a:effectLst>
              <a:latin typeface="Book Antiqua" pitchFamily="18" charset="0"/>
            </a:endParaRPr>
          </a:p>
          <a:p>
            <a:pPr algn="l">
              <a:spcBef>
                <a:spcPct val="20000"/>
              </a:spcBef>
              <a:buClr>
                <a:srgbClr val="66FFFF"/>
              </a:buClr>
              <a:buSzPct val="75000"/>
              <a:buFont typeface="Monotype Sorts" pitchFamily="2" charset="2"/>
              <a:buNone/>
              <a:defRPr/>
            </a:pPr>
            <a:r>
              <a:rPr lang="en-US" sz="2400" i="1" dirty="0">
                <a:effectLst>
                  <a:outerShdw blurRad="38100" dist="38100" dir="2700000" algn="tl">
                    <a:srgbClr val="000000"/>
                  </a:outerShdw>
                </a:effectLst>
                <a:latin typeface="Book Antiqua" pitchFamily="18" charset="0"/>
              </a:rPr>
              <a:t> H</a:t>
            </a:r>
            <a:r>
              <a:rPr lang="en-US" sz="2400" baseline="-25000" dirty="0">
                <a:effectLst>
                  <a:outerShdw blurRad="38100" dist="38100" dir="2700000" algn="tl">
                    <a:srgbClr val="000000"/>
                  </a:outerShdw>
                </a:effectLst>
                <a:latin typeface="Book Antiqua" pitchFamily="18" charset="0"/>
              </a:rPr>
              <a:t>a</a:t>
            </a:r>
            <a:r>
              <a:rPr lang="en-US" sz="2400" dirty="0">
                <a:effectLst>
                  <a:outerShdw blurRad="38100" dist="38100" dir="2700000" algn="tl">
                    <a:srgbClr val="000000"/>
                  </a:outerShdw>
                </a:effectLst>
                <a:latin typeface="Book Antiqua" pitchFamily="18" charset="0"/>
              </a:rPr>
              <a:t>:  At least one of the </a:t>
            </a:r>
            <a:r>
              <a:rPr lang="en-US" sz="2400" dirty="0" smtClean="0">
                <a:effectLst>
                  <a:outerShdw blurRad="38100" dist="38100" dir="2700000" algn="tl">
                    <a:srgbClr val="000000"/>
                  </a:outerShdw>
                </a:effectLst>
                <a:latin typeface="Book Antiqua" pitchFamily="18" charset="0"/>
              </a:rPr>
              <a:t>parameters (betas)</a:t>
            </a:r>
            <a:r>
              <a:rPr lang="en-US" sz="2400" dirty="0">
                <a:effectLst>
                  <a:outerShdw blurRad="38100" dist="38100" dir="2700000" algn="tl">
                    <a:srgbClr val="000000"/>
                  </a:outerShdw>
                </a:effectLst>
                <a:latin typeface="Book Antiqua" pitchFamily="18" charset="0"/>
              </a:rPr>
              <a:t> </a:t>
            </a:r>
            <a:r>
              <a:rPr lang="en-US" sz="2400" dirty="0" smtClean="0">
                <a:effectLst>
                  <a:outerShdw blurRad="38100" dist="38100" dir="2700000" algn="tl">
                    <a:srgbClr val="000000"/>
                  </a:outerShdw>
                </a:effectLst>
                <a:latin typeface="Book Antiqua" pitchFamily="18" charset="0"/>
              </a:rPr>
              <a:t>is </a:t>
            </a:r>
            <a:r>
              <a:rPr lang="en-US" sz="2400" dirty="0">
                <a:effectLst>
                  <a:outerShdw blurRad="38100" dist="38100" dir="2700000" algn="tl">
                    <a:srgbClr val="000000"/>
                  </a:outerShdw>
                </a:effectLst>
                <a:latin typeface="Book Antiqua" pitchFamily="18" charset="0"/>
              </a:rPr>
              <a:t>not equal to zero.</a:t>
            </a:r>
          </a:p>
        </p:txBody>
      </p:sp>
      <p:sp>
        <p:nvSpPr>
          <p:cNvPr id="9" name="Content Placeholder 8"/>
          <p:cNvSpPr>
            <a:spLocks noGrp="1" noChangeArrowheads="1"/>
          </p:cNvSpPr>
          <p:nvPr>
            <p:ph sz="quarter" idx="11"/>
          </p:nvPr>
        </p:nvSpPr>
        <p:spPr bwMode="auto">
          <a:xfrm>
            <a:off x="781050" y="1143000"/>
            <a:ext cx="10191750" cy="5005388"/>
          </a:xfrm>
          <a:prstGeom prst="rect">
            <a:avLst/>
          </a:prstGeom>
          <a:noFill/>
          <a:ln w="12700">
            <a:noFill/>
            <a:miter lim="800000"/>
            <a:headEnd/>
            <a:tailEnd/>
          </a:ln>
          <a:effectLst/>
        </p:spPr>
        <p:txBody>
          <a:bodyPr wrap="none" anchor="ctr"/>
          <a:lstStyle/>
          <a:p>
            <a:pPr>
              <a:defRPr/>
            </a:pPr>
            <a:endParaRPr lang="en-US" sz="2400" dirty="0" smtClean="0">
              <a:effectLst>
                <a:outerShdw blurRad="38100" dist="38100" dir="2700000" algn="tl">
                  <a:srgbClr val="000000"/>
                </a:outerShdw>
              </a:effectLst>
              <a:latin typeface="Book Antiqua" pitchFamily="18" charset="0"/>
            </a:endParaRPr>
          </a:p>
          <a:p>
            <a:pPr>
              <a:defRPr/>
            </a:pPr>
            <a:endParaRPr lang="en-US" dirty="0">
              <a:effectLst>
                <a:outerShdw blurRad="38100" dist="38100" dir="2700000" algn="tl">
                  <a:srgbClr val="000000"/>
                </a:outerShdw>
              </a:effectLst>
              <a:latin typeface="Book Antiqua" pitchFamily="18" charset="0"/>
            </a:endParaRPr>
          </a:p>
          <a:p>
            <a:pPr>
              <a:defRPr/>
            </a:pPr>
            <a:endParaRPr lang="en-US" sz="2400" dirty="0" smtClean="0">
              <a:effectLst>
                <a:outerShdw blurRad="38100" dist="38100" dir="2700000" algn="tl">
                  <a:srgbClr val="000000"/>
                </a:outerShdw>
              </a:effectLst>
              <a:latin typeface="Book Antiqua" pitchFamily="18" charset="0"/>
            </a:endParaRPr>
          </a:p>
          <a:p>
            <a:pPr>
              <a:defRPr/>
            </a:pPr>
            <a:endParaRPr lang="en-US" sz="2400" dirty="0">
              <a:effectLst>
                <a:outerShdw blurRad="38100" dist="38100" dir="2700000" algn="tl">
                  <a:srgbClr val="000000"/>
                </a:outerShdw>
              </a:effectLst>
              <a:latin typeface="Book Antiqua" pitchFamily="18" charset="0"/>
            </a:endParaRPr>
          </a:p>
        </p:txBody>
      </p:sp>
      <p:sp>
        <p:nvSpPr>
          <p:cNvPr id="10" name="Rectangle 8"/>
          <p:cNvSpPr>
            <a:spLocks noChangeArrowheads="1"/>
          </p:cNvSpPr>
          <p:nvPr/>
        </p:nvSpPr>
        <p:spPr bwMode="auto">
          <a:xfrm>
            <a:off x="3449187" y="2779594"/>
            <a:ext cx="2324100" cy="590550"/>
          </a:xfrm>
          <a:prstGeom prst="rect">
            <a:avLst/>
          </a:prstGeom>
          <a:noFill/>
          <a:ln w="12700">
            <a:noFill/>
            <a:miter lim="800000"/>
            <a:headEnd/>
            <a:tailEnd/>
          </a:ln>
          <a:effectLst/>
        </p:spPr>
        <p:txBody>
          <a:bodyPr wrap="none" anchor="ctr"/>
          <a:lstStyle/>
          <a:p>
            <a:pPr>
              <a:defRPr/>
            </a:pP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 MSR/MSE</a:t>
            </a:r>
          </a:p>
        </p:txBody>
      </p:sp>
      <p:sp>
        <p:nvSpPr>
          <p:cNvPr id="11" name="Rectangle 9"/>
          <p:cNvSpPr>
            <a:spLocks noChangeArrowheads="1"/>
          </p:cNvSpPr>
          <p:nvPr/>
        </p:nvSpPr>
        <p:spPr bwMode="auto">
          <a:xfrm>
            <a:off x="3449187" y="4105133"/>
            <a:ext cx="6795163" cy="169545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Reject </a:t>
            </a:r>
            <a:r>
              <a:rPr lang="en-US" sz="2400" i="1" dirty="0">
                <a:effectLst>
                  <a:outerShdw blurRad="38100" dist="38100" dir="2700000" algn="tl">
                    <a:srgbClr val="000000"/>
                  </a:outerShdw>
                </a:effectLst>
                <a:latin typeface="Book Antiqua" pitchFamily="18" charset="0"/>
              </a:rPr>
              <a:t>H</a:t>
            </a:r>
            <a:r>
              <a:rPr lang="en-US" sz="2400" baseline="-25000" dirty="0">
                <a:effectLst>
                  <a:outerShdw blurRad="38100" dist="38100" dir="2700000" algn="tl">
                    <a:srgbClr val="000000"/>
                  </a:outerShdw>
                </a:effectLst>
                <a:latin typeface="Book Antiqua" pitchFamily="18" charset="0"/>
              </a:rPr>
              <a:t>0</a:t>
            </a:r>
            <a:r>
              <a:rPr lang="en-US" sz="2400" dirty="0">
                <a:effectLst>
                  <a:outerShdw blurRad="38100" dist="38100" dir="2700000" algn="tl">
                    <a:srgbClr val="000000"/>
                  </a:outerShdw>
                </a:effectLst>
                <a:latin typeface="Book Antiqua" pitchFamily="18" charset="0"/>
              </a:rPr>
              <a:t> if </a:t>
            </a:r>
            <a:r>
              <a:rPr lang="en-US" sz="2400" i="1" dirty="0">
                <a:effectLst>
                  <a:outerShdw blurRad="38100" dist="38100" dir="2700000" algn="tl">
                    <a:srgbClr val="000000"/>
                  </a:outerShdw>
                </a:effectLst>
                <a:latin typeface="Book Antiqua" pitchFamily="18" charset="0"/>
              </a:rPr>
              <a:t>p</a:t>
            </a:r>
            <a:r>
              <a:rPr lang="en-US" sz="2400" dirty="0">
                <a:effectLst>
                  <a:outerShdw blurRad="38100" dist="38100" dir="2700000" algn="tl">
                    <a:srgbClr val="000000"/>
                  </a:outerShdw>
                </a:effectLst>
                <a:latin typeface="Book Antiqua" pitchFamily="18" charset="0"/>
              </a:rPr>
              <a:t>-value </a:t>
            </a:r>
            <a:r>
              <a:rPr lang="en-US" sz="2400" u="sng" dirty="0">
                <a:effectLst>
                  <a:outerShdw blurRad="38100" dist="38100" dir="2700000" algn="tl">
                    <a:srgbClr val="000000"/>
                  </a:outerShdw>
                </a:effectLst>
                <a:latin typeface="Book Antiqua" pitchFamily="18" charset="0"/>
              </a:rPr>
              <a:t>&lt;</a:t>
            </a:r>
            <a:r>
              <a:rPr lang="en-US" sz="2400" dirty="0">
                <a:effectLst>
                  <a:outerShdw blurRad="38100" dist="38100" dir="2700000" algn="tl">
                    <a:srgbClr val="000000"/>
                  </a:outerShdw>
                </a:effectLst>
                <a:latin typeface="Book Antiqua" pitchFamily="18" charset="0"/>
              </a:rPr>
              <a:t> </a:t>
            </a:r>
            <a:r>
              <a:rPr lang="en-US" sz="2400" dirty="0">
                <a:effectLst>
                  <a:outerShdw blurRad="38100" dist="38100" dir="2700000" algn="tl">
                    <a:srgbClr val="000000"/>
                  </a:outerShdw>
                </a:effectLst>
                <a:latin typeface="Symbol" pitchFamily="18" charset="2"/>
              </a:rPr>
              <a:t>a</a:t>
            </a:r>
            <a:r>
              <a:rPr lang="en-US" sz="2400" dirty="0">
                <a:effectLst>
                  <a:outerShdw blurRad="38100" dist="38100" dir="2700000" algn="tl">
                    <a:srgbClr val="000000"/>
                  </a:outerShdw>
                </a:effectLst>
                <a:latin typeface="Book Antiqua" pitchFamily="18" charset="0"/>
              </a:rPr>
              <a:t>  or if </a:t>
            </a: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&gt; </a:t>
            </a:r>
            <a:r>
              <a:rPr lang="en-US" sz="2400" i="1" dirty="0" smtClean="0">
                <a:effectLst>
                  <a:outerShdw blurRad="38100" dist="38100" dir="2700000" algn="tl">
                    <a:srgbClr val="000000"/>
                  </a:outerShdw>
                </a:effectLst>
                <a:latin typeface="Book Antiqua" pitchFamily="18" charset="0"/>
              </a:rPr>
              <a:t>F</a:t>
            </a:r>
            <a:r>
              <a:rPr lang="en-US" sz="2400" i="1" baseline="-25000" dirty="0">
                <a:effectLst>
                  <a:outerShdw blurRad="38100" dist="38100" dir="2700000" algn="tl">
                    <a:srgbClr val="000000"/>
                  </a:outerShdw>
                </a:effectLst>
                <a:latin typeface="Symbol" pitchFamily="18" charset="2"/>
                <a:sym typeface="Symbol"/>
              </a:rPr>
              <a:t></a:t>
            </a:r>
            <a:endParaRPr lang="en-US" sz="2400" dirty="0">
              <a:effectLst>
                <a:outerShdw blurRad="38100" dist="38100" dir="2700000" algn="tl">
                  <a:srgbClr val="000000"/>
                </a:outerShdw>
              </a:effectLst>
              <a:latin typeface="Symbol" pitchFamily="18" charset="2"/>
            </a:endParaRP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where </a:t>
            </a:r>
            <a:r>
              <a:rPr lang="en-US" sz="2400" i="1" dirty="0">
                <a:effectLst>
                  <a:outerShdw blurRad="38100" dist="38100" dir="2700000" algn="tl">
                    <a:srgbClr val="000000"/>
                  </a:outerShdw>
                </a:effectLst>
                <a:latin typeface="Book Antiqua" pitchFamily="18" charset="0"/>
              </a:rPr>
              <a:t>F</a:t>
            </a:r>
            <a:r>
              <a:rPr lang="en-US" sz="2400" i="1" baseline="-25000" dirty="0">
                <a:effectLst>
                  <a:outerShdw blurRad="38100" dist="38100" dir="2700000" algn="tl">
                    <a:srgbClr val="000000"/>
                  </a:outerShdw>
                </a:effectLst>
                <a:latin typeface="Symbol" pitchFamily="18" charset="2"/>
              </a:rPr>
              <a:t></a:t>
            </a:r>
            <a:r>
              <a:rPr lang="en-US" sz="2400" dirty="0">
                <a:effectLst>
                  <a:outerShdw blurRad="38100" dist="38100" dir="2700000" algn="tl">
                    <a:srgbClr val="000000"/>
                  </a:outerShdw>
                </a:effectLst>
                <a:latin typeface="Book Antiqua" pitchFamily="18" charset="0"/>
              </a:rPr>
              <a:t> is based on an </a:t>
            </a:r>
            <a:r>
              <a:rPr lang="en-US" sz="2400" i="1" dirty="0">
                <a:effectLst>
                  <a:outerShdw blurRad="38100" dist="38100" dir="2700000" algn="tl">
                    <a:srgbClr val="000000"/>
                  </a:outerShdw>
                </a:effectLst>
                <a:latin typeface="Book Antiqua" pitchFamily="18" charset="0"/>
              </a:rPr>
              <a:t>F</a:t>
            </a:r>
            <a:r>
              <a:rPr lang="en-US" sz="2400" dirty="0">
                <a:effectLst>
                  <a:outerShdw blurRad="38100" dist="38100" dir="2700000" algn="tl">
                    <a:srgbClr val="000000"/>
                  </a:outerShdw>
                </a:effectLst>
                <a:latin typeface="Book Antiqua" pitchFamily="18" charset="0"/>
              </a:rPr>
              <a:t>  distribution</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with </a:t>
            </a:r>
            <a:r>
              <a:rPr lang="en-US" sz="2400" i="1" dirty="0">
                <a:effectLst>
                  <a:outerShdw blurRad="38100" dist="38100" dir="2700000" algn="tl">
                    <a:srgbClr val="000000"/>
                  </a:outerShdw>
                </a:effectLst>
                <a:latin typeface="Book Antiqua" pitchFamily="18" charset="0"/>
              </a:rPr>
              <a:t>k</a:t>
            </a:r>
            <a:r>
              <a:rPr lang="en-US" sz="2400" dirty="0" smtClean="0">
                <a:effectLst>
                  <a:outerShdw blurRad="38100" dist="38100" dir="2700000" algn="tl">
                    <a:srgbClr val="000000"/>
                  </a:outerShdw>
                </a:effectLst>
                <a:latin typeface="Book Antiqua" pitchFamily="18" charset="0"/>
              </a:rPr>
              <a:t> </a:t>
            </a:r>
            <a:r>
              <a:rPr lang="en-US" sz="2400" dirty="0" err="1">
                <a:effectLst>
                  <a:outerShdw blurRad="38100" dist="38100" dir="2700000" algn="tl">
                    <a:srgbClr val="000000"/>
                  </a:outerShdw>
                </a:effectLst>
                <a:latin typeface="Book Antiqua" pitchFamily="18" charset="0"/>
              </a:rPr>
              <a:t>d.f.</a:t>
            </a:r>
            <a:r>
              <a:rPr lang="en-US" sz="2400" dirty="0">
                <a:effectLst>
                  <a:outerShdw blurRad="38100" dist="38100" dir="2700000" algn="tl">
                    <a:srgbClr val="000000"/>
                  </a:outerShdw>
                </a:effectLst>
                <a:latin typeface="Book Antiqua" pitchFamily="18" charset="0"/>
              </a:rPr>
              <a:t> in the numerator and</a:t>
            </a:r>
          </a:p>
          <a:p>
            <a:pPr algn="l">
              <a:spcBef>
                <a:spcPct val="20000"/>
              </a:spcBef>
              <a:buClr>
                <a:srgbClr val="66FFFF"/>
              </a:buClr>
              <a:buSzPct val="75000"/>
              <a:buFont typeface="Monotype Sorts" pitchFamily="2" charset="2"/>
              <a:buNone/>
              <a:defRPr/>
            </a:pPr>
            <a:r>
              <a:rPr lang="en-US" sz="2400" i="1" dirty="0">
                <a:effectLst>
                  <a:outerShdw blurRad="38100" dist="38100" dir="2700000" algn="tl">
                    <a:srgbClr val="000000"/>
                  </a:outerShdw>
                </a:effectLst>
                <a:latin typeface="Book Antiqua" pitchFamily="18" charset="0"/>
              </a:rPr>
              <a:t>n</a:t>
            </a:r>
            <a:r>
              <a:rPr lang="en-US" sz="2400" dirty="0">
                <a:effectLst>
                  <a:outerShdw blurRad="38100" dist="38100" dir="2700000" algn="tl">
                    <a:srgbClr val="000000"/>
                  </a:outerShdw>
                </a:effectLst>
                <a:latin typeface="Book Antiqua" pitchFamily="18" charset="0"/>
              </a:rPr>
              <a:t> - </a:t>
            </a:r>
            <a:r>
              <a:rPr lang="en-US" sz="2400" i="1" dirty="0">
                <a:effectLst>
                  <a:outerShdw blurRad="38100" dist="38100" dir="2700000" algn="tl">
                    <a:srgbClr val="000000"/>
                  </a:outerShdw>
                </a:effectLst>
                <a:latin typeface="Book Antiqua" pitchFamily="18" charset="0"/>
              </a:rPr>
              <a:t>k</a:t>
            </a:r>
            <a:r>
              <a:rPr lang="en-US" sz="2400" dirty="0" smtClean="0">
                <a:effectLst>
                  <a:outerShdw blurRad="38100" dist="38100" dir="2700000" algn="tl">
                    <a:srgbClr val="000000"/>
                  </a:outerShdw>
                </a:effectLst>
                <a:latin typeface="Book Antiqua" pitchFamily="18" charset="0"/>
              </a:rPr>
              <a:t> </a:t>
            </a:r>
            <a:r>
              <a:rPr lang="en-US" sz="2400" dirty="0">
                <a:effectLst>
                  <a:outerShdw blurRad="38100" dist="38100" dir="2700000" algn="tl">
                    <a:srgbClr val="000000"/>
                  </a:outerShdw>
                </a:effectLst>
                <a:latin typeface="Book Antiqua" pitchFamily="18" charset="0"/>
              </a:rPr>
              <a:t>- 1 </a:t>
            </a:r>
            <a:r>
              <a:rPr lang="en-US" sz="2400" dirty="0" err="1">
                <a:effectLst>
                  <a:outerShdw blurRad="38100" dist="38100" dir="2700000" algn="tl">
                    <a:srgbClr val="000000"/>
                  </a:outerShdw>
                </a:effectLst>
                <a:latin typeface="Book Antiqua" pitchFamily="18" charset="0"/>
              </a:rPr>
              <a:t>d.f.</a:t>
            </a:r>
            <a:r>
              <a:rPr lang="en-US" sz="2400" dirty="0">
                <a:effectLst>
                  <a:outerShdw blurRad="38100" dist="38100" dir="2700000" algn="tl">
                    <a:srgbClr val="000000"/>
                  </a:outerShdw>
                </a:effectLst>
                <a:latin typeface="Book Antiqua" pitchFamily="18" charset="0"/>
              </a:rPr>
              <a:t> in the denominator.</a:t>
            </a:r>
          </a:p>
        </p:txBody>
      </p:sp>
    </p:spTree>
    <p:extLst>
      <p:ext uri="{BB962C8B-B14F-4D97-AF65-F5344CB8AC3E}">
        <p14:creationId xmlns:p14="http://schemas.microsoft.com/office/powerpoint/2010/main" val="35543729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sz="3200" dirty="0" smtClean="0"/>
              <a:t>Example</a:t>
            </a:r>
            <a:endParaRPr lang="en-US" sz="3200" dirty="0"/>
          </a:p>
        </p:txBody>
      </p:sp>
      <p:sp>
        <p:nvSpPr>
          <p:cNvPr id="3" name="Content Placeholder 2"/>
          <p:cNvSpPr>
            <a:spLocks noGrp="1"/>
          </p:cNvSpPr>
          <p:nvPr>
            <p:ph sz="quarter" idx="11"/>
          </p:nvPr>
        </p:nvSpPr>
        <p:spPr/>
        <p:txBody>
          <a:bodyPr/>
          <a:lstStyle/>
          <a:p>
            <a:pPr marL="0" indent="0">
              <a:buNone/>
            </a:pPr>
            <a:r>
              <a:rPr lang="en-US" dirty="0" smtClean="0"/>
              <a:t>This exercise uses Rankings dataset. The Times Higher Education provides an annual ranking of the world universities. The rankings data set is a random sample of universities from 3 countries: US, UK and Germany</a:t>
            </a:r>
          </a:p>
          <a:p>
            <a:pPr marL="0" indent="0">
              <a:buNone/>
            </a:pPr>
            <a:r>
              <a:rPr lang="en-US" dirty="0" smtClean="0"/>
              <a:t>Variables used:</a:t>
            </a:r>
          </a:p>
          <a:p>
            <a:r>
              <a:rPr lang="en-US" sz="1800" i="1" dirty="0" smtClean="0"/>
              <a:t>Overall Score – dependent variable</a:t>
            </a:r>
          </a:p>
          <a:p>
            <a:r>
              <a:rPr lang="en-US" sz="1800" i="1" dirty="0" smtClean="0"/>
              <a:t>Peer Review</a:t>
            </a:r>
          </a:p>
          <a:p>
            <a:r>
              <a:rPr lang="en-US" sz="1800" i="1" dirty="0" smtClean="0"/>
              <a:t>Country</a:t>
            </a:r>
          </a:p>
          <a:p>
            <a:r>
              <a:rPr lang="en-US" sz="1800" i="1" dirty="0" smtClean="0"/>
              <a:t>Faculty-to-Student Ratio</a:t>
            </a:r>
          </a:p>
          <a:p>
            <a:r>
              <a:rPr lang="en-US" sz="1800" i="1" dirty="0" smtClean="0"/>
              <a:t>Citations-to-Faculty Ratio</a:t>
            </a:r>
          </a:p>
          <a:p>
            <a:r>
              <a:rPr lang="en-US" sz="1800" i="1" dirty="0" smtClean="0"/>
              <a:t>Recruiter Review</a:t>
            </a:r>
          </a:p>
          <a:p>
            <a:r>
              <a:rPr lang="en-US" sz="1800" i="1" dirty="0" smtClean="0"/>
              <a:t>Percent International Faculty</a:t>
            </a:r>
          </a:p>
          <a:p>
            <a:r>
              <a:rPr lang="en-US" sz="1800" i="1" dirty="0" smtClean="0"/>
              <a:t>Percent International Student</a:t>
            </a:r>
            <a:endParaRPr lang="en-US" sz="1800" i="1"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90870" y="2748959"/>
            <a:ext cx="5733691" cy="15637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17422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sz="quarter" idx="11"/>
              </p:nvPr>
            </p:nvSpPr>
            <p:spPr/>
            <p:txBody>
              <a:bodyPr/>
              <a:lstStyle/>
              <a:p>
                <a:pPr marL="457200" indent="-457200">
                  <a:buAutoNum type="alphaLcPeriod"/>
                </a:pPr>
                <a:r>
                  <a:rPr lang="en-US" dirty="0" smtClean="0"/>
                  <a:t>Develop a linear model using Country, Peer review (PEER), faculty-to-student ratio (</a:t>
                </a:r>
                <a:r>
                  <a:rPr lang="en-US" dirty="0" err="1" smtClean="0"/>
                  <a:t>FtoS</a:t>
                </a:r>
                <a:r>
                  <a:rPr lang="en-US" dirty="0" smtClean="0"/>
                  <a:t>), and citations-to-faculty ratio (</a:t>
                </a:r>
                <a:r>
                  <a:rPr lang="en-US" dirty="0" err="1" smtClean="0"/>
                  <a:t>CtoF</a:t>
                </a:r>
                <a:r>
                  <a:rPr lang="en-US" dirty="0" smtClean="0"/>
                  <a:t>) as independent variables</a:t>
                </a:r>
              </a:p>
              <a:p>
                <a:pPr marL="457200" indent="-457200">
                  <a:buAutoNum type="alphaLcPeriod"/>
                </a:pPr>
                <a:r>
                  <a:rPr lang="en-US" dirty="0" smtClean="0"/>
                  <a:t>Test for overall significance of the model (F-test) at </a:t>
                </a:r>
                <a:r>
                  <a:rPr lang="en-US" dirty="0" smtClean="0">
                    <a:sym typeface="Symbol"/>
                  </a:rPr>
                  <a:t> </a:t>
                </a:r>
                <a:r>
                  <a:rPr lang="en-US" dirty="0" smtClean="0"/>
                  <a:t>= 0.05.</a:t>
                </a:r>
              </a:p>
              <a:p>
                <a:pPr marL="0" indent="0">
                  <a:buNone/>
                </a:pPr>
                <a:r>
                  <a:rPr lang="en-US" b="1" i="1" dirty="0" smtClean="0"/>
                  <a:t>Solution.</a:t>
                </a:r>
              </a:p>
              <a:p>
                <a:pPr marL="0" indent="0">
                  <a:buNone/>
                </a:pPr>
                <a:r>
                  <a:rPr lang="en-US" b="1" i="1" dirty="0" smtClean="0"/>
                  <a:t>a. </a:t>
                </a:r>
                <a:r>
                  <a:rPr lang="en-US" dirty="0" smtClean="0"/>
                  <a:t>First we create 2 dummies for Country (US and UK)</a:t>
                </a:r>
              </a:p>
              <a:p>
                <a:pPr marL="0" indent="0">
                  <a:buNone/>
                </a:pPr>
                <a:r>
                  <a:rPr lang="en-US" dirty="0" smtClean="0"/>
                  <a:t>General model: Score = </a:t>
                </a:r>
                <a:r>
                  <a:rPr lang="el-GR" dirty="0" smtClean="0">
                    <a:latin typeface="Times New Roman"/>
                    <a:cs typeface="Times New Roman"/>
                  </a:rPr>
                  <a:t>β</a:t>
                </a:r>
                <a:r>
                  <a:rPr lang="en-US" baseline="-25000" dirty="0" smtClean="0">
                    <a:latin typeface="Times New Roman"/>
                    <a:cs typeface="Times New Roman"/>
                  </a:rPr>
                  <a:t>0</a:t>
                </a:r>
                <a:r>
                  <a:rPr lang="en-US" dirty="0" smtClean="0">
                    <a:latin typeface="Times New Roman"/>
                    <a:cs typeface="Times New Roman"/>
                  </a:rPr>
                  <a:t> + </a:t>
                </a:r>
                <a:r>
                  <a:rPr lang="el-GR" dirty="0" smtClean="0">
                    <a:latin typeface="Times New Roman"/>
                    <a:cs typeface="Times New Roman"/>
                  </a:rPr>
                  <a:t>β</a:t>
                </a:r>
                <a:r>
                  <a:rPr lang="en-US" baseline="-25000" dirty="0" smtClean="0">
                    <a:latin typeface="Times New Roman"/>
                    <a:cs typeface="Times New Roman"/>
                  </a:rPr>
                  <a:t>1</a:t>
                </a:r>
                <a:r>
                  <a:rPr lang="en-US" dirty="0" smtClean="0">
                    <a:latin typeface="Times New Roman"/>
                    <a:cs typeface="Times New Roman"/>
                  </a:rPr>
                  <a:t>*Peer</a:t>
                </a:r>
                <a:r>
                  <a:rPr lang="en-US" baseline="-25000" dirty="0" smtClean="0">
                    <a:latin typeface="Times New Roman"/>
                    <a:cs typeface="Times New Roman"/>
                  </a:rPr>
                  <a:t> </a:t>
                </a:r>
                <a:r>
                  <a:rPr lang="en-US" dirty="0" smtClean="0">
                    <a:latin typeface="Times New Roman"/>
                    <a:cs typeface="Times New Roman"/>
                  </a:rPr>
                  <a:t>+ </a:t>
                </a:r>
                <a:r>
                  <a:rPr lang="el-GR" dirty="0" smtClean="0">
                    <a:latin typeface="Times New Roman"/>
                    <a:cs typeface="Times New Roman"/>
                  </a:rPr>
                  <a:t>β</a:t>
                </a:r>
                <a:r>
                  <a:rPr lang="en-US" baseline="-25000" dirty="0" smtClean="0">
                    <a:latin typeface="Times New Roman"/>
                    <a:cs typeface="Times New Roman"/>
                  </a:rPr>
                  <a:t>2</a:t>
                </a:r>
                <a:r>
                  <a:rPr lang="en-US" dirty="0" smtClean="0">
                    <a:latin typeface="Times New Roman"/>
                    <a:cs typeface="Times New Roman"/>
                  </a:rPr>
                  <a:t>*</a:t>
                </a:r>
                <a:r>
                  <a:rPr lang="en-US" dirty="0" err="1" smtClean="0">
                    <a:latin typeface="Times New Roman"/>
                    <a:cs typeface="Times New Roman"/>
                  </a:rPr>
                  <a:t>FtoS</a:t>
                </a:r>
                <a:r>
                  <a:rPr lang="en-US" dirty="0" smtClean="0">
                    <a:latin typeface="Times New Roman"/>
                    <a:cs typeface="Times New Roman"/>
                  </a:rPr>
                  <a:t> </a:t>
                </a:r>
                <a:r>
                  <a:rPr lang="en-US" dirty="0">
                    <a:latin typeface="Times New Roman"/>
                    <a:cs typeface="Times New Roman"/>
                  </a:rPr>
                  <a:t>+ </a:t>
                </a:r>
                <a:r>
                  <a:rPr lang="el-GR" dirty="0" smtClean="0">
                    <a:latin typeface="Times New Roman"/>
                    <a:cs typeface="Times New Roman"/>
                  </a:rPr>
                  <a:t>β</a:t>
                </a:r>
                <a:r>
                  <a:rPr lang="en-US" baseline="-25000" dirty="0" smtClean="0">
                    <a:latin typeface="Times New Roman"/>
                    <a:cs typeface="Times New Roman"/>
                  </a:rPr>
                  <a:t>3</a:t>
                </a:r>
                <a:r>
                  <a:rPr lang="en-US" dirty="0" smtClean="0">
                    <a:latin typeface="Times New Roman"/>
                    <a:cs typeface="Times New Roman"/>
                  </a:rPr>
                  <a:t>*</a:t>
                </a:r>
                <a:r>
                  <a:rPr lang="en-US" dirty="0" err="1" smtClean="0">
                    <a:latin typeface="Times New Roman"/>
                    <a:cs typeface="Times New Roman"/>
                  </a:rPr>
                  <a:t>CtoF</a:t>
                </a:r>
                <a:r>
                  <a:rPr lang="en-US" baseline="-25000" dirty="0" smtClean="0">
                    <a:latin typeface="Times New Roman"/>
                    <a:cs typeface="Times New Roman"/>
                  </a:rPr>
                  <a:t> </a:t>
                </a:r>
                <a:r>
                  <a:rPr lang="en-US" dirty="0">
                    <a:latin typeface="Times New Roman"/>
                    <a:cs typeface="Times New Roman"/>
                  </a:rPr>
                  <a:t>+ </a:t>
                </a:r>
                <a:r>
                  <a:rPr lang="el-GR" dirty="0" smtClean="0">
                    <a:latin typeface="Times New Roman"/>
                    <a:cs typeface="Times New Roman"/>
                  </a:rPr>
                  <a:t>β</a:t>
                </a:r>
                <a:r>
                  <a:rPr lang="en-US" baseline="-25000" dirty="0" smtClean="0">
                    <a:latin typeface="Times New Roman"/>
                    <a:cs typeface="Times New Roman"/>
                  </a:rPr>
                  <a:t>4</a:t>
                </a:r>
                <a:r>
                  <a:rPr lang="en-US" dirty="0" smtClean="0">
                    <a:latin typeface="Times New Roman"/>
                    <a:cs typeface="Times New Roman"/>
                  </a:rPr>
                  <a:t>*UK </a:t>
                </a:r>
                <a:r>
                  <a:rPr lang="en-US" dirty="0">
                    <a:latin typeface="Times New Roman"/>
                    <a:cs typeface="Times New Roman"/>
                  </a:rPr>
                  <a:t>+ </a:t>
                </a:r>
                <a:r>
                  <a:rPr lang="el-GR" dirty="0" smtClean="0">
                    <a:latin typeface="Times New Roman"/>
                    <a:cs typeface="Times New Roman"/>
                  </a:rPr>
                  <a:t>β</a:t>
                </a:r>
                <a:r>
                  <a:rPr lang="en-US" baseline="-25000" dirty="0" smtClean="0">
                    <a:latin typeface="Times New Roman"/>
                    <a:cs typeface="Times New Roman"/>
                  </a:rPr>
                  <a:t>5</a:t>
                </a:r>
                <a:r>
                  <a:rPr lang="en-US" dirty="0" smtClean="0">
                    <a:latin typeface="Times New Roman"/>
                    <a:cs typeface="Times New Roman"/>
                  </a:rPr>
                  <a:t>US</a:t>
                </a:r>
                <a:r>
                  <a:rPr lang="en-US" baseline="-25000" dirty="0" smtClean="0">
                    <a:latin typeface="Times New Roman"/>
                    <a:cs typeface="Times New Roman"/>
                  </a:rPr>
                  <a:t> </a:t>
                </a:r>
                <a:r>
                  <a:rPr lang="en-US" dirty="0" smtClean="0">
                    <a:latin typeface="Times New Roman"/>
                    <a:cs typeface="Times New Roman"/>
                  </a:rPr>
                  <a:t>+ </a:t>
                </a:r>
                <a:r>
                  <a:rPr lang="el-GR" dirty="0" smtClean="0">
                    <a:latin typeface="Times New Roman"/>
                    <a:cs typeface="Times New Roman"/>
                  </a:rPr>
                  <a:t>ε</a:t>
                </a:r>
                <a:endParaRPr lang="en-US" dirty="0" smtClean="0">
                  <a:latin typeface="Times New Roman"/>
                  <a:cs typeface="Times New Roman"/>
                </a:endParaRPr>
              </a:p>
              <a:p>
                <a:pPr marL="0" indent="0">
                  <a:buNone/>
                </a:pPr>
                <a:r>
                  <a:rPr lang="en-US" dirty="0"/>
                  <a:t>Fitted model</a:t>
                </a:r>
                <a:r>
                  <a:rPr lang="en-US" dirty="0" smtClean="0"/>
                  <a:t>: </a:t>
                </a:r>
                <a14:m>
                  <m:oMath xmlns:m="http://schemas.openxmlformats.org/officeDocument/2006/math">
                    <m:acc>
                      <m:accPr>
                        <m:chr m:val="̂"/>
                        <m:ctrlPr>
                          <a:rPr lang="en-US" i="1" dirty="0" smtClean="0">
                            <a:latin typeface="Cambria Math"/>
                          </a:rPr>
                        </m:ctrlPr>
                      </m:accPr>
                      <m:e>
                        <m:r>
                          <a:rPr lang="en-US" b="0" i="1" dirty="0" smtClean="0">
                            <a:latin typeface="Cambria Math"/>
                          </a:rPr>
                          <m:t>𝑆𝑐𝑜𝑟𝑒</m:t>
                        </m:r>
                      </m:e>
                    </m:acc>
                  </m:oMath>
                </a14:m>
                <a:r>
                  <a:rPr lang="en-US" dirty="0"/>
                  <a:t> = </a:t>
                </a:r>
                <a:r>
                  <a:rPr lang="en-US" dirty="0" smtClean="0">
                    <a:latin typeface="Times New Roman"/>
                    <a:cs typeface="Times New Roman"/>
                  </a:rPr>
                  <a:t>b</a:t>
                </a:r>
                <a:r>
                  <a:rPr lang="en-US" baseline="-25000" dirty="0" smtClean="0">
                    <a:latin typeface="Times New Roman"/>
                    <a:cs typeface="Times New Roman"/>
                  </a:rPr>
                  <a:t>0</a:t>
                </a:r>
                <a:r>
                  <a:rPr lang="en-US" dirty="0" smtClean="0">
                    <a:latin typeface="Times New Roman"/>
                    <a:cs typeface="Times New Roman"/>
                  </a:rPr>
                  <a:t> </a:t>
                </a:r>
                <a:r>
                  <a:rPr lang="en-US" dirty="0">
                    <a:latin typeface="Times New Roman"/>
                    <a:cs typeface="Times New Roman"/>
                  </a:rPr>
                  <a:t>+ </a:t>
                </a:r>
                <a:r>
                  <a:rPr lang="en-US" dirty="0" smtClean="0">
                    <a:latin typeface="Times New Roman"/>
                    <a:cs typeface="Times New Roman"/>
                  </a:rPr>
                  <a:t>b</a:t>
                </a:r>
                <a:r>
                  <a:rPr lang="en-US" baseline="-25000" dirty="0" smtClean="0">
                    <a:latin typeface="Times New Roman"/>
                    <a:cs typeface="Times New Roman"/>
                  </a:rPr>
                  <a:t>1</a:t>
                </a:r>
                <a:r>
                  <a:rPr lang="en-US" dirty="0" smtClean="0">
                    <a:latin typeface="Times New Roman"/>
                    <a:cs typeface="Times New Roman"/>
                  </a:rPr>
                  <a:t>*Peer</a:t>
                </a:r>
                <a:r>
                  <a:rPr lang="en-US" baseline="-25000" dirty="0" smtClean="0">
                    <a:latin typeface="Times New Roman"/>
                    <a:cs typeface="Times New Roman"/>
                  </a:rPr>
                  <a:t> </a:t>
                </a:r>
                <a:r>
                  <a:rPr lang="en-US" dirty="0">
                    <a:latin typeface="Times New Roman"/>
                    <a:cs typeface="Times New Roman"/>
                  </a:rPr>
                  <a:t>+ </a:t>
                </a:r>
                <a:r>
                  <a:rPr lang="en-US" dirty="0" smtClean="0">
                    <a:latin typeface="Times New Roman"/>
                    <a:cs typeface="Times New Roman"/>
                  </a:rPr>
                  <a:t>b</a:t>
                </a:r>
                <a:r>
                  <a:rPr lang="en-US" baseline="-25000" dirty="0" smtClean="0">
                    <a:latin typeface="Times New Roman"/>
                    <a:cs typeface="Times New Roman"/>
                  </a:rPr>
                  <a:t>2</a:t>
                </a:r>
                <a:r>
                  <a:rPr lang="en-US" dirty="0" smtClean="0">
                    <a:latin typeface="Times New Roman"/>
                    <a:cs typeface="Times New Roman"/>
                  </a:rPr>
                  <a:t>*</a:t>
                </a:r>
                <a:r>
                  <a:rPr lang="en-US" dirty="0" err="1" smtClean="0">
                    <a:latin typeface="Times New Roman"/>
                    <a:cs typeface="Times New Roman"/>
                  </a:rPr>
                  <a:t>FtoS</a:t>
                </a:r>
                <a:r>
                  <a:rPr lang="en-US" dirty="0" smtClean="0">
                    <a:latin typeface="Times New Roman"/>
                    <a:cs typeface="Times New Roman"/>
                  </a:rPr>
                  <a:t> </a:t>
                </a:r>
                <a:r>
                  <a:rPr lang="en-US" dirty="0">
                    <a:latin typeface="Times New Roman"/>
                    <a:cs typeface="Times New Roman"/>
                  </a:rPr>
                  <a:t>+ </a:t>
                </a:r>
                <a:r>
                  <a:rPr lang="en-US" dirty="0" smtClean="0">
                    <a:latin typeface="Times New Roman"/>
                    <a:cs typeface="Times New Roman"/>
                  </a:rPr>
                  <a:t>b</a:t>
                </a:r>
                <a:r>
                  <a:rPr lang="en-US" baseline="-25000" dirty="0" smtClean="0">
                    <a:latin typeface="Times New Roman"/>
                    <a:cs typeface="Times New Roman"/>
                  </a:rPr>
                  <a:t>3</a:t>
                </a:r>
                <a:r>
                  <a:rPr lang="en-US" dirty="0" smtClean="0">
                    <a:latin typeface="Times New Roman"/>
                    <a:cs typeface="Times New Roman"/>
                  </a:rPr>
                  <a:t>*</a:t>
                </a:r>
                <a:r>
                  <a:rPr lang="en-US" dirty="0" err="1" smtClean="0">
                    <a:latin typeface="Times New Roman"/>
                    <a:cs typeface="Times New Roman"/>
                  </a:rPr>
                  <a:t>CtoF</a:t>
                </a:r>
                <a:r>
                  <a:rPr lang="en-US" baseline="-25000" dirty="0" smtClean="0">
                    <a:latin typeface="Times New Roman"/>
                    <a:cs typeface="Times New Roman"/>
                  </a:rPr>
                  <a:t> </a:t>
                </a:r>
                <a:r>
                  <a:rPr lang="en-US" dirty="0">
                    <a:latin typeface="Times New Roman"/>
                    <a:cs typeface="Times New Roman"/>
                  </a:rPr>
                  <a:t>+ </a:t>
                </a:r>
                <a:r>
                  <a:rPr lang="en-US" dirty="0" smtClean="0">
                    <a:latin typeface="Times New Roman"/>
                    <a:cs typeface="Times New Roman"/>
                  </a:rPr>
                  <a:t>b</a:t>
                </a:r>
                <a:r>
                  <a:rPr lang="en-US" baseline="-25000" dirty="0" smtClean="0">
                    <a:latin typeface="Times New Roman"/>
                    <a:cs typeface="Times New Roman"/>
                  </a:rPr>
                  <a:t>4</a:t>
                </a:r>
                <a:r>
                  <a:rPr lang="en-US" dirty="0" smtClean="0">
                    <a:latin typeface="Times New Roman"/>
                    <a:cs typeface="Times New Roman"/>
                  </a:rPr>
                  <a:t>*UK </a:t>
                </a:r>
                <a:r>
                  <a:rPr lang="en-US" dirty="0">
                    <a:latin typeface="Times New Roman"/>
                    <a:cs typeface="Times New Roman"/>
                  </a:rPr>
                  <a:t>+ </a:t>
                </a:r>
                <a:r>
                  <a:rPr lang="en-US" dirty="0" smtClean="0">
                    <a:latin typeface="Times New Roman"/>
                    <a:cs typeface="Times New Roman"/>
                  </a:rPr>
                  <a:t>b</a:t>
                </a:r>
                <a:r>
                  <a:rPr lang="en-US" baseline="-25000" dirty="0" smtClean="0">
                    <a:latin typeface="Times New Roman"/>
                    <a:cs typeface="Times New Roman"/>
                  </a:rPr>
                  <a:t>5</a:t>
                </a:r>
                <a:r>
                  <a:rPr lang="en-US" dirty="0" smtClean="0">
                    <a:latin typeface="Times New Roman"/>
                    <a:cs typeface="Times New Roman"/>
                  </a:rPr>
                  <a:t>*US</a:t>
                </a:r>
                <a:r>
                  <a:rPr lang="en-US" baseline="-25000" dirty="0" smtClean="0">
                    <a:latin typeface="Times New Roman"/>
                    <a:cs typeface="Times New Roman"/>
                  </a:rPr>
                  <a:t> </a:t>
                </a:r>
              </a:p>
              <a:p>
                <a:pPr marL="0" indent="0" algn="ctr">
                  <a:buNone/>
                </a:pPr>
                <a14:m>
                  <m:oMath xmlns:m="http://schemas.openxmlformats.org/officeDocument/2006/math">
                    <m:acc>
                      <m:accPr>
                        <m:chr m:val="̂"/>
                        <m:ctrlPr>
                          <a:rPr lang="en-US" i="1" dirty="0">
                            <a:latin typeface="Cambria Math"/>
                          </a:rPr>
                        </m:ctrlPr>
                      </m:accPr>
                      <m:e>
                        <m:r>
                          <a:rPr lang="en-US" i="1" dirty="0">
                            <a:latin typeface="Cambria Math"/>
                          </a:rPr>
                          <m:t>𝑆𝑐𝑜𝑟𝑒</m:t>
                        </m:r>
                      </m:e>
                    </m:acc>
                  </m:oMath>
                </a14:m>
                <a:r>
                  <a:rPr lang="en-US" dirty="0"/>
                  <a:t> = </a:t>
                </a:r>
                <a:r>
                  <a:rPr lang="en-US" dirty="0" smtClean="0">
                    <a:latin typeface="Times New Roman"/>
                    <a:cs typeface="Times New Roman"/>
                  </a:rPr>
                  <a:t>0.15 </a:t>
                </a:r>
                <a:r>
                  <a:rPr lang="en-US" dirty="0">
                    <a:latin typeface="Times New Roman"/>
                    <a:cs typeface="Times New Roman"/>
                  </a:rPr>
                  <a:t>+ </a:t>
                </a:r>
                <a:r>
                  <a:rPr lang="en-US" dirty="0" smtClean="0">
                    <a:latin typeface="Times New Roman"/>
                    <a:cs typeface="Times New Roman"/>
                  </a:rPr>
                  <a:t>0.59*Peer</a:t>
                </a:r>
                <a:r>
                  <a:rPr lang="en-US" baseline="-25000" dirty="0" smtClean="0">
                    <a:latin typeface="Times New Roman"/>
                    <a:cs typeface="Times New Roman"/>
                  </a:rPr>
                  <a:t> </a:t>
                </a:r>
                <a:r>
                  <a:rPr lang="en-US" dirty="0">
                    <a:latin typeface="Times New Roman"/>
                    <a:cs typeface="Times New Roman"/>
                  </a:rPr>
                  <a:t>+ </a:t>
                </a:r>
                <a:r>
                  <a:rPr lang="en-US" dirty="0" smtClean="0">
                    <a:latin typeface="Times New Roman"/>
                    <a:cs typeface="Times New Roman"/>
                  </a:rPr>
                  <a:t>0.03*</a:t>
                </a:r>
                <a:r>
                  <a:rPr lang="en-US" dirty="0" err="1" smtClean="0">
                    <a:latin typeface="Times New Roman"/>
                    <a:cs typeface="Times New Roman"/>
                  </a:rPr>
                  <a:t>FtoS</a:t>
                </a:r>
                <a:r>
                  <a:rPr lang="en-US" dirty="0" smtClean="0">
                    <a:latin typeface="Times New Roman"/>
                    <a:cs typeface="Times New Roman"/>
                  </a:rPr>
                  <a:t> </a:t>
                </a:r>
                <a:r>
                  <a:rPr lang="en-US" dirty="0">
                    <a:latin typeface="Times New Roman"/>
                    <a:cs typeface="Times New Roman"/>
                  </a:rPr>
                  <a:t>+ </a:t>
                </a:r>
                <a:r>
                  <a:rPr lang="en-US" dirty="0" smtClean="0">
                    <a:latin typeface="Times New Roman"/>
                    <a:cs typeface="Times New Roman"/>
                  </a:rPr>
                  <a:t>0.25*</a:t>
                </a:r>
                <a:r>
                  <a:rPr lang="en-US" dirty="0" err="1" smtClean="0">
                    <a:latin typeface="Times New Roman"/>
                    <a:cs typeface="Times New Roman"/>
                  </a:rPr>
                  <a:t>CtoF</a:t>
                </a:r>
                <a:r>
                  <a:rPr lang="en-US" baseline="-25000" dirty="0" smtClean="0">
                    <a:latin typeface="Times New Roman"/>
                    <a:cs typeface="Times New Roman"/>
                  </a:rPr>
                  <a:t> </a:t>
                </a:r>
                <a:r>
                  <a:rPr lang="en-US" dirty="0">
                    <a:latin typeface="Times New Roman"/>
                    <a:cs typeface="Times New Roman"/>
                  </a:rPr>
                  <a:t>+ </a:t>
                </a:r>
                <a:r>
                  <a:rPr lang="en-US" dirty="0" smtClean="0">
                    <a:latin typeface="Times New Roman"/>
                    <a:cs typeface="Times New Roman"/>
                  </a:rPr>
                  <a:t>6.36*UK </a:t>
                </a:r>
                <a:r>
                  <a:rPr lang="en-US" dirty="0">
                    <a:latin typeface="Times New Roman"/>
                    <a:cs typeface="Times New Roman"/>
                  </a:rPr>
                  <a:t>+ </a:t>
                </a:r>
                <a:r>
                  <a:rPr lang="en-US" dirty="0" smtClean="0">
                    <a:latin typeface="Times New Roman"/>
                    <a:cs typeface="Times New Roman"/>
                  </a:rPr>
                  <a:t>13.22*US</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1"/>
              </p:nvPr>
            </p:nvSpPr>
            <p:spPr>
              <a:blipFill rotWithShape="1">
                <a:blip r:embed="rId2"/>
                <a:stretch>
                  <a:fillRect l="-817" t="-1583" r="-871"/>
                </a:stretch>
              </a:blipFill>
            </p:spPr>
            <p:txBody>
              <a:bodyPr/>
              <a:lstStyle/>
              <a:p>
                <a:r>
                  <a:rPr lang="en-US">
                    <a:noFill/>
                  </a:rPr>
                  <a:t> </a:t>
                </a:r>
              </a:p>
            </p:txBody>
          </p:sp>
        </mc:Fallback>
      </mc:AlternateContent>
      <p:sp>
        <p:nvSpPr>
          <p:cNvPr id="4" name="Text Placeholder 1"/>
          <p:cNvSpPr>
            <a:spLocks noGrp="1"/>
          </p:cNvSpPr>
          <p:nvPr>
            <p:ph type="body" sz="quarter" idx="10"/>
          </p:nvPr>
        </p:nvSpPr>
        <p:spPr/>
        <p:txBody>
          <a:bodyPr/>
          <a:lstStyle/>
          <a:p>
            <a:r>
              <a:rPr lang="en-US" sz="3200" dirty="0" smtClean="0"/>
              <a:t>Example</a:t>
            </a:r>
            <a:endParaRPr lang="en-US" sz="3200" dirty="0"/>
          </a:p>
        </p:txBody>
      </p:sp>
      <p:graphicFrame>
        <p:nvGraphicFramePr>
          <p:cNvPr id="5" name="Table 4"/>
          <p:cNvGraphicFramePr>
            <a:graphicFrameLocks noGrp="1"/>
          </p:cNvGraphicFramePr>
          <p:nvPr>
            <p:extLst>
              <p:ext uri="{D42A27DB-BD31-4B8C-83A1-F6EECF244321}">
                <p14:modId xmlns:p14="http://schemas.microsoft.com/office/powerpoint/2010/main" val="4154683869"/>
              </p:ext>
            </p:extLst>
          </p:nvPr>
        </p:nvGraphicFramePr>
        <p:xfrm>
          <a:off x="2718842" y="5023808"/>
          <a:ext cx="6657172" cy="762842"/>
        </p:xfrm>
        <a:graphic>
          <a:graphicData uri="http://schemas.openxmlformats.org/drawingml/2006/table">
            <a:tbl>
              <a:tblPr>
                <a:tableStyleId>{5C22544A-7EE6-4342-B048-85BDC9FD1C3A}</a:tableStyleId>
              </a:tblPr>
              <a:tblGrid>
                <a:gridCol w="1135888"/>
                <a:gridCol w="920214"/>
                <a:gridCol w="920214"/>
                <a:gridCol w="920214"/>
                <a:gridCol w="920214"/>
                <a:gridCol w="920214"/>
                <a:gridCol w="920214"/>
              </a:tblGrid>
              <a:tr h="381421">
                <a:tc>
                  <a:txBody>
                    <a:bodyPr/>
                    <a:lstStyle/>
                    <a:p>
                      <a:pPr algn="ctr" fontAlgn="b"/>
                      <a:r>
                        <a:rPr lang="en-US" sz="1600" u="none" strike="noStrike" dirty="0">
                          <a:effectLst/>
                        </a:rPr>
                        <a:t> </a:t>
                      </a:r>
                      <a:endParaRPr lang="en-US" sz="1600" b="0" i="1" u="none" strike="noStrike" dirty="0">
                        <a:solidFill>
                          <a:srgbClr val="000000"/>
                        </a:solidFill>
                        <a:effectLst/>
                        <a:latin typeface="Calibri"/>
                      </a:endParaRPr>
                    </a:p>
                  </a:txBody>
                  <a:tcPr marL="9525" marR="9525" marT="9525" marB="0" anchor="b"/>
                </a:tc>
                <a:tc>
                  <a:txBody>
                    <a:bodyPr/>
                    <a:lstStyle/>
                    <a:p>
                      <a:pPr algn="ctr" fontAlgn="b"/>
                      <a:r>
                        <a:rPr lang="en-US" sz="1600" u="none" strike="noStrike">
                          <a:effectLst/>
                        </a:rPr>
                        <a:t>Intercept</a:t>
                      </a:r>
                      <a:endParaRPr lang="en-US" sz="1600" b="0" i="0"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US</a:t>
                      </a:r>
                      <a:endParaRPr lang="en-US" sz="1600" b="0" i="0"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UK</a:t>
                      </a:r>
                      <a:endParaRPr lang="en-US" sz="1600" b="0" i="0"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PEER</a:t>
                      </a:r>
                      <a:endParaRPr lang="en-US" sz="1600" b="0" i="0"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FtoS</a:t>
                      </a:r>
                      <a:endParaRPr lang="en-US" sz="1600" b="0" i="0"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CtoF</a:t>
                      </a:r>
                      <a:endParaRPr lang="en-US" sz="1600" b="0" i="0" u="none" strike="noStrike">
                        <a:solidFill>
                          <a:srgbClr val="000000"/>
                        </a:solidFill>
                        <a:effectLst/>
                        <a:latin typeface="Calibri"/>
                      </a:endParaRPr>
                    </a:p>
                  </a:txBody>
                  <a:tcPr marL="9525" marR="9525" marT="9525" marB="0" anchor="b"/>
                </a:tc>
              </a:tr>
              <a:tr h="381421">
                <a:tc>
                  <a:txBody>
                    <a:bodyPr/>
                    <a:lstStyle/>
                    <a:p>
                      <a:pPr algn="ctr" fontAlgn="b"/>
                      <a:r>
                        <a:rPr lang="en-US" sz="1600" u="none" strike="noStrike" dirty="0">
                          <a:effectLst/>
                        </a:rPr>
                        <a:t>Coefficients</a:t>
                      </a:r>
                      <a:endParaRPr lang="en-US" sz="1600" b="0" i="1"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0.152</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13.222</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6.356</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0.592</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0.032</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0.252</a:t>
                      </a:r>
                      <a:endParaRPr lang="en-US" sz="1600" b="0" i="0" u="none" strike="noStrike" dirty="0">
                        <a:solidFill>
                          <a:srgbClr val="000000"/>
                        </a:solidFill>
                        <a:effectLst/>
                        <a:latin typeface="Calibri"/>
                      </a:endParaRPr>
                    </a:p>
                  </a:txBody>
                  <a:tcPr marL="9525" marR="9525" marT="9525" marB="0" anchor="b"/>
                </a:tc>
              </a:tr>
            </a:tbl>
          </a:graphicData>
        </a:graphic>
      </p:graphicFrame>
    </p:spTree>
    <p:extLst>
      <p:ext uri="{BB962C8B-B14F-4D97-AF65-F5344CB8AC3E}">
        <p14:creationId xmlns:p14="http://schemas.microsoft.com/office/powerpoint/2010/main" val="190450047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p:txBody>
          <a:bodyPr/>
          <a:lstStyle/>
          <a:p>
            <a:pPr marL="0" indent="0">
              <a:buNone/>
            </a:pPr>
            <a:r>
              <a:rPr lang="en-US" dirty="0"/>
              <a:t>b</a:t>
            </a:r>
            <a:r>
              <a:rPr lang="en-US" dirty="0" smtClean="0"/>
              <a:t>. F-test is used for overall significance</a:t>
            </a:r>
          </a:p>
          <a:p>
            <a:pPr marL="0" indent="0">
              <a:buNone/>
            </a:pPr>
            <a:r>
              <a:rPr lang="en-US" dirty="0" smtClean="0"/>
              <a:t>H</a:t>
            </a:r>
            <a:r>
              <a:rPr lang="en-US" baseline="-25000" dirty="0" smtClean="0"/>
              <a:t>0</a:t>
            </a:r>
            <a:r>
              <a:rPr lang="en-US" dirty="0" smtClean="0"/>
              <a:t>: </a:t>
            </a:r>
            <a:r>
              <a:rPr lang="el-GR" dirty="0" smtClean="0">
                <a:cs typeface="Times New Roman"/>
              </a:rPr>
              <a:t>β</a:t>
            </a:r>
            <a:r>
              <a:rPr lang="en-US" baseline="-25000" dirty="0" smtClean="0">
                <a:cs typeface="Times New Roman"/>
              </a:rPr>
              <a:t>1</a:t>
            </a:r>
            <a:r>
              <a:rPr lang="en-US" dirty="0" smtClean="0">
                <a:cs typeface="Times New Roman"/>
              </a:rPr>
              <a:t>= </a:t>
            </a:r>
            <a:r>
              <a:rPr lang="el-GR" dirty="0">
                <a:cs typeface="Times New Roman"/>
              </a:rPr>
              <a:t>β</a:t>
            </a:r>
            <a:r>
              <a:rPr lang="en-US" baseline="-25000" dirty="0" smtClean="0">
                <a:cs typeface="Times New Roman"/>
              </a:rPr>
              <a:t>2</a:t>
            </a:r>
            <a:r>
              <a:rPr lang="en-US" dirty="0" smtClean="0">
                <a:cs typeface="Times New Roman"/>
              </a:rPr>
              <a:t> = </a:t>
            </a:r>
            <a:r>
              <a:rPr lang="el-GR" dirty="0" smtClean="0">
                <a:cs typeface="Times New Roman"/>
              </a:rPr>
              <a:t>β</a:t>
            </a:r>
            <a:r>
              <a:rPr lang="en-US" baseline="-25000" dirty="0" smtClean="0">
                <a:cs typeface="Times New Roman"/>
              </a:rPr>
              <a:t>3</a:t>
            </a:r>
            <a:r>
              <a:rPr lang="en-US" dirty="0" smtClean="0">
                <a:cs typeface="Times New Roman"/>
              </a:rPr>
              <a:t>= </a:t>
            </a:r>
            <a:r>
              <a:rPr lang="el-GR" dirty="0">
                <a:cs typeface="Times New Roman"/>
              </a:rPr>
              <a:t>β</a:t>
            </a:r>
            <a:r>
              <a:rPr lang="en-US" baseline="-25000" dirty="0" smtClean="0">
                <a:cs typeface="Times New Roman"/>
              </a:rPr>
              <a:t>4</a:t>
            </a:r>
            <a:r>
              <a:rPr lang="en-US" dirty="0" smtClean="0">
                <a:cs typeface="Times New Roman"/>
              </a:rPr>
              <a:t>= </a:t>
            </a:r>
            <a:r>
              <a:rPr lang="el-GR" dirty="0">
                <a:cs typeface="Times New Roman"/>
              </a:rPr>
              <a:t>β</a:t>
            </a:r>
            <a:r>
              <a:rPr lang="en-US" baseline="-25000" dirty="0" smtClean="0">
                <a:cs typeface="Times New Roman"/>
              </a:rPr>
              <a:t>5</a:t>
            </a:r>
            <a:r>
              <a:rPr lang="en-US" dirty="0">
                <a:cs typeface="Times New Roman"/>
              </a:rPr>
              <a:t> </a:t>
            </a:r>
            <a:r>
              <a:rPr lang="en-US" dirty="0" smtClean="0">
                <a:cs typeface="Times New Roman"/>
              </a:rPr>
              <a:t>= 0</a:t>
            </a:r>
            <a:r>
              <a:rPr lang="en-US" baseline="-25000" dirty="0" smtClean="0">
                <a:cs typeface="Times New Roman"/>
              </a:rPr>
              <a:t> </a:t>
            </a:r>
            <a:endParaRPr lang="en-US" dirty="0" smtClean="0"/>
          </a:p>
          <a:p>
            <a:pPr marL="0" indent="0">
              <a:buNone/>
            </a:pPr>
            <a:r>
              <a:rPr lang="en-US" dirty="0" smtClean="0"/>
              <a:t>H</a:t>
            </a:r>
            <a:r>
              <a:rPr lang="en-US" baseline="-25000" dirty="0" smtClean="0"/>
              <a:t>a</a:t>
            </a:r>
            <a:r>
              <a:rPr lang="en-US" dirty="0" smtClean="0"/>
              <a:t>: At least one of the betas is not equal to 0.</a:t>
            </a:r>
            <a:endParaRPr lang="en-US" dirty="0"/>
          </a:p>
        </p:txBody>
      </p:sp>
      <p:sp>
        <p:nvSpPr>
          <p:cNvPr id="4" name="Text Placeholder 1"/>
          <p:cNvSpPr>
            <a:spLocks noGrp="1"/>
          </p:cNvSpPr>
          <p:nvPr>
            <p:ph type="body" sz="quarter" idx="10"/>
          </p:nvPr>
        </p:nvSpPr>
        <p:spPr/>
        <p:txBody>
          <a:bodyPr/>
          <a:lstStyle/>
          <a:p>
            <a:r>
              <a:rPr lang="en-US" sz="3200" dirty="0" smtClean="0"/>
              <a:t>Example</a:t>
            </a:r>
            <a:endParaRPr lang="en-US" sz="3200" dirty="0"/>
          </a:p>
        </p:txBody>
      </p:sp>
      <p:graphicFrame>
        <p:nvGraphicFramePr>
          <p:cNvPr id="5" name="Table 4"/>
          <p:cNvGraphicFramePr>
            <a:graphicFrameLocks noGrp="1"/>
          </p:cNvGraphicFramePr>
          <p:nvPr>
            <p:extLst>
              <p:ext uri="{D42A27DB-BD31-4B8C-83A1-F6EECF244321}">
                <p14:modId xmlns:p14="http://schemas.microsoft.com/office/powerpoint/2010/main" val="1771428608"/>
              </p:ext>
            </p:extLst>
          </p:nvPr>
        </p:nvGraphicFramePr>
        <p:xfrm>
          <a:off x="759251" y="2572706"/>
          <a:ext cx="7074564" cy="2461287"/>
        </p:xfrm>
        <a:graphic>
          <a:graphicData uri="http://schemas.openxmlformats.org/drawingml/2006/table">
            <a:tbl>
              <a:tblPr>
                <a:tableStyleId>{5C22544A-7EE6-4342-B048-85BDC9FD1C3A}</a:tableStyleId>
              </a:tblPr>
              <a:tblGrid>
                <a:gridCol w="1891805"/>
                <a:gridCol w="945903"/>
                <a:gridCol w="945903"/>
                <a:gridCol w="945903"/>
                <a:gridCol w="945903"/>
                <a:gridCol w="1399147"/>
              </a:tblGrid>
              <a:tr h="447631">
                <a:tc>
                  <a:txBody>
                    <a:bodyPr/>
                    <a:lstStyle/>
                    <a:p>
                      <a:pPr algn="l" fontAlgn="b"/>
                      <a:r>
                        <a:rPr lang="en-US" sz="1600" u="none" strike="noStrike" dirty="0">
                          <a:effectLst/>
                        </a:rPr>
                        <a:t>ANOVA</a:t>
                      </a:r>
                      <a:endParaRPr lang="en-US" sz="1600" b="0" i="0" u="none" strike="noStrike" dirty="0">
                        <a:solidFill>
                          <a:srgbClr val="000000"/>
                        </a:solidFill>
                        <a:effectLst/>
                        <a:latin typeface="Calibri"/>
                      </a:endParaRPr>
                    </a:p>
                  </a:txBody>
                  <a:tcPr marL="9525" marR="9525" marT="9525" marB="0" anchor="b"/>
                </a:tc>
                <a:tc>
                  <a:txBody>
                    <a:bodyPr/>
                    <a:lstStyle/>
                    <a:p>
                      <a:pPr algn="l" fontAlgn="b"/>
                      <a:endParaRPr lang="en-US" sz="1600" b="0" i="0" u="none" strike="noStrike">
                        <a:solidFill>
                          <a:srgbClr val="000000"/>
                        </a:solidFill>
                        <a:effectLst/>
                        <a:latin typeface="Calibri"/>
                      </a:endParaRPr>
                    </a:p>
                  </a:txBody>
                  <a:tcPr marL="9525" marR="9525" marT="9525" marB="0" anchor="b"/>
                </a:tc>
                <a:tc>
                  <a:txBody>
                    <a:bodyPr/>
                    <a:lstStyle/>
                    <a:p>
                      <a:pPr algn="l" fontAlgn="b"/>
                      <a:endParaRPr lang="en-US" sz="1600" b="0" i="0" u="none" strike="noStrike">
                        <a:solidFill>
                          <a:srgbClr val="000000"/>
                        </a:solidFill>
                        <a:effectLst/>
                        <a:latin typeface="Calibri"/>
                      </a:endParaRPr>
                    </a:p>
                  </a:txBody>
                  <a:tcPr marL="9525" marR="9525" marT="9525" marB="0" anchor="b"/>
                </a:tc>
                <a:tc>
                  <a:txBody>
                    <a:bodyPr/>
                    <a:lstStyle/>
                    <a:p>
                      <a:pPr algn="l" fontAlgn="b"/>
                      <a:endParaRPr lang="en-US" sz="1600" b="0" i="0" u="none" strike="noStrike">
                        <a:solidFill>
                          <a:srgbClr val="000000"/>
                        </a:solidFill>
                        <a:effectLst/>
                        <a:latin typeface="Calibri"/>
                      </a:endParaRPr>
                    </a:p>
                  </a:txBody>
                  <a:tcPr marL="9525" marR="9525" marT="9525" marB="0" anchor="b"/>
                </a:tc>
                <a:tc>
                  <a:txBody>
                    <a:bodyPr/>
                    <a:lstStyle/>
                    <a:p>
                      <a:pPr algn="l" fontAlgn="b"/>
                      <a:endParaRPr lang="en-US" sz="1600" b="0" i="0" u="none" strike="noStrike">
                        <a:solidFill>
                          <a:srgbClr val="000000"/>
                        </a:solidFill>
                        <a:effectLst/>
                        <a:latin typeface="Calibri"/>
                      </a:endParaRPr>
                    </a:p>
                  </a:txBody>
                  <a:tcPr marL="9525" marR="9525" marT="9525" marB="0" anchor="b"/>
                </a:tc>
                <a:tc>
                  <a:txBody>
                    <a:bodyPr/>
                    <a:lstStyle/>
                    <a:p>
                      <a:pPr algn="l" fontAlgn="b"/>
                      <a:endParaRPr lang="en-US" sz="1600" b="0" i="0" u="none" strike="noStrike">
                        <a:solidFill>
                          <a:srgbClr val="000000"/>
                        </a:solidFill>
                        <a:effectLst/>
                        <a:latin typeface="Calibri"/>
                      </a:endParaRPr>
                    </a:p>
                  </a:txBody>
                  <a:tcPr marL="9525" marR="9525" marT="9525" marB="0" anchor="b"/>
                </a:tc>
              </a:tr>
              <a:tr h="503414">
                <a:tc>
                  <a:txBody>
                    <a:bodyPr/>
                    <a:lstStyle/>
                    <a:p>
                      <a:pPr algn="ctr" fontAlgn="b"/>
                      <a:r>
                        <a:rPr lang="en-US" sz="1600" u="none" strike="noStrike" dirty="0">
                          <a:effectLst/>
                        </a:rPr>
                        <a:t> </a:t>
                      </a:r>
                      <a:endParaRPr lang="en-US" sz="1600" b="0" i="1" u="none" strike="noStrike" dirty="0">
                        <a:solidFill>
                          <a:srgbClr val="000000"/>
                        </a:solidFill>
                        <a:effectLst/>
                        <a:latin typeface="Calibri"/>
                      </a:endParaRPr>
                    </a:p>
                  </a:txBody>
                  <a:tcPr marL="9525" marR="9525" marT="9525" marB="0" anchor="b"/>
                </a:tc>
                <a:tc>
                  <a:txBody>
                    <a:bodyPr/>
                    <a:lstStyle/>
                    <a:p>
                      <a:pPr algn="ctr" fontAlgn="b"/>
                      <a:r>
                        <a:rPr lang="en-US" sz="1600" u="none" strike="noStrike">
                          <a:effectLst/>
                        </a:rPr>
                        <a:t>df</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SS</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MS</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F</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Significance F</a:t>
                      </a:r>
                      <a:endParaRPr lang="en-US" sz="1600" b="0" i="1" u="none" strike="noStrike">
                        <a:solidFill>
                          <a:srgbClr val="000000"/>
                        </a:solidFill>
                        <a:effectLst/>
                        <a:latin typeface="Calibri"/>
                      </a:endParaRPr>
                    </a:p>
                  </a:txBody>
                  <a:tcPr marL="9525" marR="9525" marT="9525" marB="0" anchor="b"/>
                </a:tc>
              </a:tr>
              <a:tr h="503414">
                <a:tc>
                  <a:txBody>
                    <a:bodyPr/>
                    <a:lstStyle/>
                    <a:p>
                      <a:pPr algn="l" fontAlgn="b"/>
                      <a:r>
                        <a:rPr lang="en-US" sz="1600" u="none" strike="noStrike" dirty="0">
                          <a:effectLst/>
                        </a:rPr>
                        <a:t>Regression</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a:effectLst/>
                        </a:rPr>
                        <a:t>5</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a:effectLst/>
                        </a:rPr>
                        <a:t>6204.725</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a:effectLst/>
                        </a:rPr>
                        <a:t>1240.945</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a:effectLst/>
                        </a:rPr>
                        <a:t>40.80867</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dirty="0">
                          <a:effectLst/>
                        </a:rPr>
                        <a:t>1.68201E-11</a:t>
                      </a:r>
                      <a:endParaRPr lang="en-US" sz="1600" b="0" i="0" u="none" strike="noStrike" dirty="0">
                        <a:solidFill>
                          <a:srgbClr val="000000"/>
                        </a:solidFill>
                        <a:effectLst/>
                        <a:latin typeface="Calibri"/>
                      </a:endParaRPr>
                    </a:p>
                  </a:txBody>
                  <a:tcPr marL="9525" marR="9525" marT="9525" marB="0" anchor="b">
                    <a:solidFill>
                      <a:srgbClr val="FFFF00"/>
                    </a:solidFill>
                  </a:tcPr>
                </a:tc>
              </a:tr>
              <a:tr h="503414">
                <a:tc>
                  <a:txBody>
                    <a:bodyPr/>
                    <a:lstStyle/>
                    <a:p>
                      <a:pPr algn="l" fontAlgn="b"/>
                      <a:r>
                        <a:rPr lang="en-US" sz="1600" u="none" strike="noStrike" dirty="0">
                          <a:effectLst/>
                        </a:rPr>
                        <a:t>Residual</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26</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a:effectLst/>
                        </a:rPr>
                        <a:t>790.6302</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a:effectLst/>
                        </a:rPr>
                        <a:t>30.40885</a:t>
                      </a:r>
                      <a:endParaRPr lang="en-US" sz="1600" b="0" i="0" u="none" strike="noStrike">
                        <a:solidFill>
                          <a:srgbClr val="000000"/>
                        </a:solidFill>
                        <a:effectLst/>
                        <a:latin typeface="Calibri"/>
                      </a:endParaRPr>
                    </a:p>
                  </a:txBody>
                  <a:tcPr marL="9525" marR="9525" marT="9525" marB="0" anchor="b"/>
                </a:tc>
                <a:tc>
                  <a:txBody>
                    <a:bodyPr/>
                    <a:lstStyle/>
                    <a:p>
                      <a:pPr algn="l" fontAlgn="b"/>
                      <a:endParaRPr lang="en-US" sz="1600" b="0" i="0" u="none" strike="noStrike">
                        <a:solidFill>
                          <a:srgbClr val="000000"/>
                        </a:solidFill>
                        <a:effectLst/>
                        <a:latin typeface="Calibri"/>
                      </a:endParaRPr>
                    </a:p>
                  </a:txBody>
                  <a:tcPr marL="9525" marR="9525" marT="9525" marB="0" anchor="b"/>
                </a:tc>
                <a:tc>
                  <a:txBody>
                    <a:bodyPr/>
                    <a:lstStyle/>
                    <a:p>
                      <a:pPr algn="l" fontAlgn="b"/>
                      <a:endParaRPr lang="en-US" sz="1600" b="0" i="0" u="none" strike="noStrike">
                        <a:solidFill>
                          <a:srgbClr val="000000"/>
                        </a:solidFill>
                        <a:effectLst/>
                        <a:latin typeface="Calibri"/>
                      </a:endParaRPr>
                    </a:p>
                  </a:txBody>
                  <a:tcPr marL="9525" marR="9525" marT="9525" marB="0" anchor="b"/>
                </a:tc>
              </a:tr>
              <a:tr h="503414">
                <a:tc>
                  <a:txBody>
                    <a:bodyPr/>
                    <a:lstStyle/>
                    <a:p>
                      <a:pPr algn="l" fontAlgn="b"/>
                      <a:r>
                        <a:rPr lang="en-US" sz="1600" u="none" strike="noStrike">
                          <a:effectLst/>
                        </a:rPr>
                        <a:t>Total</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dirty="0">
                          <a:effectLst/>
                        </a:rPr>
                        <a:t>31</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6995.355</a:t>
                      </a:r>
                      <a:endParaRPr lang="en-US" sz="1600" b="0" i="0" u="none" strike="noStrike" dirty="0">
                        <a:solidFill>
                          <a:srgbClr val="000000"/>
                        </a:solidFill>
                        <a:effectLst/>
                        <a:latin typeface="Calibri"/>
                      </a:endParaRPr>
                    </a:p>
                  </a:txBody>
                  <a:tcPr marL="9525" marR="9525" marT="9525" marB="0" anchor="b"/>
                </a:tc>
                <a:tc>
                  <a:txBody>
                    <a:bodyPr/>
                    <a:lstStyle/>
                    <a:p>
                      <a:pPr algn="l" fontAlgn="b"/>
                      <a:r>
                        <a:rPr lang="en-US" sz="1600" u="none" strike="noStrike" dirty="0">
                          <a:effectLst/>
                        </a:rPr>
                        <a:t> </a:t>
                      </a:r>
                      <a:endParaRPr lang="en-US" sz="1600" b="0" i="0" u="none" strike="noStrike" dirty="0">
                        <a:solidFill>
                          <a:srgbClr val="000000"/>
                        </a:solidFill>
                        <a:effectLst/>
                        <a:latin typeface="Calibri"/>
                      </a:endParaRPr>
                    </a:p>
                  </a:txBody>
                  <a:tcPr marL="9525" marR="9525" marT="9525" marB="0" anchor="b"/>
                </a:tc>
                <a:tc>
                  <a:txBody>
                    <a:bodyPr/>
                    <a:lstStyle/>
                    <a:p>
                      <a:pPr algn="l" fontAlgn="b"/>
                      <a:r>
                        <a:rPr lang="en-US" sz="1600" u="none" strike="noStrike" dirty="0">
                          <a:effectLst/>
                        </a:rPr>
                        <a:t> </a:t>
                      </a:r>
                      <a:endParaRPr lang="en-US" sz="1600" b="0" i="0" u="none" strike="noStrike" dirty="0">
                        <a:solidFill>
                          <a:srgbClr val="000000"/>
                        </a:solidFill>
                        <a:effectLst/>
                        <a:latin typeface="Calibri"/>
                      </a:endParaRPr>
                    </a:p>
                  </a:txBody>
                  <a:tcPr marL="9525" marR="9525" marT="9525" marB="0" anchor="b"/>
                </a:tc>
                <a:tc>
                  <a:txBody>
                    <a:bodyPr/>
                    <a:lstStyle/>
                    <a:p>
                      <a:pPr algn="l" fontAlgn="b"/>
                      <a:r>
                        <a:rPr lang="en-US" sz="1600" u="none" strike="noStrike" dirty="0">
                          <a:effectLst/>
                        </a:rPr>
                        <a:t> </a:t>
                      </a:r>
                      <a:endParaRPr lang="en-US" sz="1600" b="0" i="0" u="none" strike="noStrike" dirty="0">
                        <a:solidFill>
                          <a:srgbClr val="000000"/>
                        </a:solidFill>
                        <a:effectLst/>
                        <a:latin typeface="Calibri"/>
                      </a:endParaRPr>
                    </a:p>
                  </a:txBody>
                  <a:tcPr marL="9525" marR="9525" marT="9525" marB="0" anchor="b"/>
                </a:tc>
              </a:tr>
            </a:tbl>
          </a:graphicData>
        </a:graphic>
      </p:graphicFrame>
      <p:sp>
        <p:nvSpPr>
          <p:cNvPr id="6" name="TextBox 5"/>
          <p:cNvSpPr txBox="1"/>
          <p:nvPr/>
        </p:nvSpPr>
        <p:spPr>
          <a:xfrm>
            <a:off x="8557147" y="3234519"/>
            <a:ext cx="1951630" cy="369332"/>
          </a:xfrm>
          <a:prstGeom prst="rect">
            <a:avLst/>
          </a:prstGeom>
          <a:noFill/>
          <a:ln>
            <a:solidFill>
              <a:schemeClr val="tx1"/>
            </a:solidFill>
          </a:ln>
        </p:spPr>
        <p:txBody>
          <a:bodyPr wrap="square" rtlCol="0">
            <a:spAutoFit/>
          </a:bodyPr>
          <a:lstStyle/>
          <a:p>
            <a:r>
              <a:rPr lang="en-US" dirty="0"/>
              <a:t>p</a:t>
            </a:r>
            <a:r>
              <a:rPr lang="en-US" dirty="0" smtClean="0"/>
              <a:t>-value for F-test</a:t>
            </a:r>
            <a:endParaRPr lang="en-US" dirty="0"/>
          </a:p>
        </p:txBody>
      </p:sp>
      <p:cxnSp>
        <p:nvCxnSpPr>
          <p:cNvPr id="8" name="Straight Arrow Connector 7"/>
          <p:cNvCxnSpPr>
            <a:stCxn id="6" idx="1"/>
            <a:endCxn id="5" idx="3"/>
          </p:cNvCxnSpPr>
          <p:nvPr/>
        </p:nvCxnSpPr>
        <p:spPr>
          <a:xfrm flipH="1">
            <a:off x="7833815" y="3419185"/>
            <a:ext cx="723332" cy="384164"/>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7929349" y="3705985"/>
            <a:ext cx="3336878" cy="369332"/>
          </a:xfrm>
          <a:prstGeom prst="rect">
            <a:avLst/>
          </a:prstGeom>
          <a:noFill/>
        </p:spPr>
        <p:txBody>
          <a:bodyPr wrap="square" rtlCol="0">
            <a:spAutoFit/>
          </a:bodyPr>
          <a:lstStyle/>
          <a:p>
            <a:r>
              <a:rPr lang="en-US" dirty="0" smtClean="0"/>
              <a:t>=1.68*10</a:t>
            </a:r>
            <a:r>
              <a:rPr lang="en-US" baseline="30000" dirty="0" smtClean="0"/>
              <a:t>-11</a:t>
            </a:r>
            <a:r>
              <a:rPr lang="en-US" dirty="0" smtClean="0"/>
              <a:t>= 0.000…</a:t>
            </a:r>
            <a:endParaRPr lang="en-US" dirty="0"/>
          </a:p>
        </p:txBody>
      </p:sp>
      <p:sp>
        <p:nvSpPr>
          <p:cNvPr id="11" name="TextBox 10"/>
          <p:cNvSpPr txBox="1"/>
          <p:nvPr/>
        </p:nvSpPr>
        <p:spPr>
          <a:xfrm>
            <a:off x="586854" y="5418161"/>
            <a:ext cx="10679373" cy="646331"/>
          </a:xfrm>
          <a:prstGeom prst="rect">
            <a:avLst/>
          </a:prstGeom>
          <a:noFill/>
        </p:spPr>
        <p:txBody>
          <a:bodyPr wrap="square" rtlCol="0">
            <a:spAutoFit/>
          </a:bodyPr>
          <a:lstStyle/>
          <a:p>
            <a:r>
              <a:rPr lang="en-US" dirty="0" smtClean="0"/>
              <a:t>Since p-value = 0.000… &lt; 0.05, we reject H</a:t>
            </a:r>
            <a:r>
              <a:rPr lang="en-US" baseline="-25000" dirty="0" smtClean="0"/>
              <a:t>0</a:t>
            </a:r>
            <a:r>
              <a:rPr lang="en-US" dirty="0" smtClean="0"/>
              <a:t>, and conclude that overall model is significant in predicting the ranking of the University.</a:t>
            </a:r>
            <a:endParaRPr lang="en-US" dirty="0"/>
          </a:p>
        </p:txBody>
      </p:sp>
    </p:spTree>
    <p:extLst>
      <p:ext uri="{BB962C8B-B14F-4D97-AF65-F5344CB8AC3E}">
        <p14:creationId xmlns:p14="http://schemas.microsoft.com/office/powerpoint/2010/main" val="318573415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779486" y="1647825"/>
            <a:ext cx="2228850" cy="55245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defRPr/>
            </a:pPr>
            <a:r>
              <a:rPr lang="en-US" sz="2400" dirty="0">
                <a:effectLst>
                  <a:outerShdw blurRad="38100" dist="38100" dir="2700000" algn="tl">
                    <a:srgbClr val="000000"/>
                  </a:outerShdw>
                </a:effectLst>
                <a:latin typeface="Book Antiqua" pitchFamily="18" charset="0"/>
              </a:rPr>
              <a:t>Hypotheses</a:t>
            </a:r>
          </a:p>
        </p:txBody>
      </p:sp>
      <p:sp>
        <p:nvSpPr>
          <p:cNvPr id="6" name="Rectangle 5"/>
          <p:cNvSpPr>
            <a:spLocks noChangeArrowheads="1"/>
          </p:cNvSpPr>
          <p:nvPr/>
        </p:nvSpPr>
        <p:spPr bwMode="auto">
          <a:xfrm>
            <a:off x="779486" y="4105133"/>
            <a:ext cx="2228850" cy="55245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Rejection Rule</a:t>
            </a:r>
          </a:p>
        </p:txBody>
      </p:sp>
      <p:sp>
        <p:nvSpPr>
          <p:cNvPr id="7" name="Rectangle 6"/>
          <p:cNvSpPr>
            <a:spLocks noChangeArrowheads="1"/>
          </p:cNvSpPr>
          <p:nvPr/>
        </p:nvSpPr>
        <p:spPr bwMode="auto">
          <a:xfrm>
            <a:off x="781050" y="2781300"/>
            <a:ext cx="2228850" cy="552450"/>
          </a:xfrm>
          <a:prstGeom prst="rect">
            <a:avLst/>
          </a:prstGeom>
          <a:solidFill>
            <a:schemeClr val="accent1">
              <a:lumMod val="20000"/>
              <a:lumOff val="80000"/>
            </a:schemeClr>
          </a:solidFill>
          <a:ln w="12700">
            <a:solidFill>
              <a:schemeClr val="tx1"/>
            </a:solidFill>
            <a:miter lim="800000"/>
            <a:headEnd/>
            <a:tailEnd/>
          </a:ln>
          <a:effectLst/>
        </p:spPr>
        <p:txBody>
          <a:bodyPr wrap="none" anchor="ctr"/>
          <a:lstStyle/>
          <a:p>
            <a:pPr>
              <a:defRPr/>
            </a:pPr>
            <a:r>
              <a:rPr lang="en-US" sz="2400">
                <a:effectLst>
                  <a:outerShdw blurRad="38100" dist="38100" dir="2700000" algn="tl">
                    <a:srgbClr val="000000"/>
                  </a:outerShdw>
                </a:effectLst>
                <a:latin typeface="Book Antiqua" pitchFamily="18" charset="0"/>
              </a:rPr>
              <a:t>Test Statistics</a:t>
            </a:r>
          </a:p>
        </p:txBody>
      </p:sp>
      <p:sp>
        <p:nvSpPr>
          <p:cNvPr id="8" name="Text Placeholder 1"/>
          <p:cNvSpPr>
            <a:spLocks noGrp="1"/>
          </p:cNvSpPr>
          <p:nvPr>
            <p:ph type="body" sz="quarter" idx="10"/>
          </p:nvPr>
        </p:nvSpPr>
        <p:spPr/>
        <p:txBody>
          <a:bodyPr/>
          <a:lstStyle/>
          <a:p>
            <a:r>
              <a:rPr lang="en-US" sz="2800" dirty="0"/>
              <a:t>Testing for </a:t>
            </a:r>
            <a:r>
              <a:rPr lang="en-US" sz="2800" dirty="0" smtClean="0"/>
              <a:t>Significance: t-test</a:t>
            </a:r>
            <a:endParaRPr lang="en-US" sz="2800" dirty="0"/>
          </a:p>
        </p:txBody>
      </p:sp>
      <p:sp>
        <p:nvSpPr>
          <p:cNvPr id="17" name="Rectangle 16"/>
          <p:cNvSpPr>
            <a:spLocks noChangeArrowheads="1"/>
          </p:cNvSpPr>
          <p:nvPr/>
        </p:nvSpPr>
        <p:spPr bwMode="auto">
          <a:xfrm>
            <a:off x="3795623" y="1181100"/>
            <a:ext cx="8050633" cy="148590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None/>
              <a:defRPr/>
            </a:pPr>
            <a:r>
              <a:rPr lang="en-US" sz="2400" i="1" dirty="0">
                <a:effectLst>
                  <a:outerShdw blurRad="38100" dist="38100" dir="2700000" algn="tl">
                    <a:srgbClr val="000000"/>
                  </a:outerShdw>
                </a:effectLst>
                <a:latin typeface="Book Antiqua" pitchFamily="18" charset="0"/>
              </a:rPr>
              <a:t> H</a:t>
            </a:r>
            <a:r>
              <a:rPr lang="en-US" sz="2400" baseline="-25000" dirty="0">
                <a:effectLst>
                  <a:outerShdw blurRad="38100" dist="38100" dir="2700000" algn="tl">
                    <a:srgbClr val="000000"/>
                  </a:outerShdw>
                </a:effectLst>
                <a:latin typeface="Book Antiqua" pitchFamily="18" charset="0"/>
              </a:rPr>
              <a:t>0</a:t>
            </a:r>
            <a:r>
              <a:rPr lang="en-US" sz="2400" dirty="0">
                <a:effectLst>
                  <a:outerShdw blurRad="38100" dist="38100" dir="2700000" algn="tl">
                    <a:srgbClr val="000000"/>
                  </a:outerShdw>
                </a:effectLst>
                <a:latin typeface="Book Antiqua" pitchFamily="18" charset="0"/>
              </a:rPr>
              <a:t>:  </a:t>
            </a:r>
            <a:r>
              <a:rPr lang="en-US" sz="2400" i="1" dirty="0" smtClean="0">
                <a:effectLst>
                  <a:outerShdw blurRad="38100" dist="38100" dir="2700000" algn="tl">
                    <a:srgbClr val="000000"/>
                  </a:outerShdw>
                </a:effectLst>
                <a:latin typeface="Symbol" pitchFamily="18" charset="2"/>
              </a:rPr>
              <a:t></a:t>
            </a:r>
            <a:r>
              <a:rPr lang="en-US" sz="2400" baseline="-25000" dirty="0" err="1">
                <a:effectLst>
                  <a:outerShdw blurRad="38100" dist="38100" dir="2700000" algn="tl">
                    <a:srgbClr val="000000"/>
                  </a:outerShdw>
                </a:effectLst>
                <a:latin typeface="Book Antiqua" pitchFamily="18" charset="0"/>
              </a:rPr>
              <a:t>i</a:t>
            </a:r>
            <a:r>
              <a:rPr lang="en-US" sz="2400" dirty="0" smtClean="0">
                <a:effectLst>
                  <a:outerShdw blurRad="38100" dist="38100" dir="2700000" algn="tl">
                    <a:srgbClr val="000000"/>
                  </a:outerShdw>
                </a:effectLst>
                <a:latin typeface="Book Antiqua" pitchFamily="18" charset="0"/>
              </a:rPr>
              <a:t> = </a:t>
            </a:r>
            <a:r>
              <a:rPr lang="en-US" sz="2400" dirty="0">
                <a:effectLst>
                  <a:outerShdw blurRad="38100" dist="38100" dir="2700000" algn="tl">
                    <a:srgbClr val="000000"/>
                  </a:outerShdw>
                </a:effectLst>
                <a:latin typeface="Book Antiqua" pitchFamily="18" charset="0"/>
              </a:rPr>
              <a:t>0</a:t>
            </a:r>
            <a:endParaRPr lang="en-US" sz="2400" dirty="0">
              <a:solidFill>
                <a:schemeClr val="tx2"/>
              </a:solidFill>
              <a:effectLst>
                <a:outerShdw blurRad="38100" dist="38100" dir="2700000" algn="tl">
                  <a:srgbClr val="000000"/>
                </a:outerShdw>
              </a:effectLst>
              <a:latin typeface="Book Antiqua" pitchFamily="18" charset="0"/>
            </a:endParaRPr>
          </a:p>
          <a:p>
            <a:pPr>
              <a:spcBef>
                <a:spcPct val="20000"/>
              </a:spcBef>
              <a:buClr>
                <a:srgbClr val="66FFFF"/>
              </a:buClr>
              <a:buSzPct val="75000"/>
              <a:defRPr/>
            </a:pPr>
            <a:r>
              <a:rPr lang="en-US" sz="2400" i="1" dirty="0">
                <a:effectLst>
                  <a:outerShdw blurRad="38100" dist="38100" dir="2700000" algn="tl">
                    <a:srgbClr val="000000"/>
                  </a:outerShdw>
                </a:effectLst>
                <a:latin typeface="Book Antiqua" pitchFamily="18" charset="0"/>
              </a:rPr>
              <a:t> H</a:t>
            </a:r>
            <a:r>
              <a:rPr lang="en-US" sz="2400" baseline="-25000" dirty="0">
                <a:effectLst>
                  <a:outerShdw blurRad="38100" dist="38100" dir="2700000" algn="tl">
                    <a:srgbClr val="000000"/>
                  </a:outerShdw>
                </a:effectLst>
                <a:latin typeface="Book Antiqua" pitchFamily="18" charset="0"/>
              </a:rPr>
              <a:t>a</a:t>
            </a:r>
            <a:r>
              <a:rPr lang="en-US" sz="2400" dirty="0" smtClean="0">
                <a:effectLst>
                  <a:outerShdw blurRad="38100" dist="38100" dir="2700000" algn="tl">
                    <a:srgbClr val="000000"/>
                  </a:outerShdw>
                </a:effectLst>
                <a:latin typeface="Book Antiqua" pitchFamily="18" charset="0"/>
              </a:rPr>
              <a:t>:  </a:t>
            </a:r>
            <a:r>
              <a:rPr lang="en-US" sz="2400" i="1" dirty="0" smtClean="0">
                <a:effectLst>
                  <a:outerShdw blurRad="38100" dist="38100" dir="2700000" algn="tl">
                    <a:srgbClr val="000000"/>
                  </a:outerShdw>
                </a:effectLst>
                <a:latin typeface="Symbol" pitchFamily="18" charset="2"/>
              </a:rPr>
              <a:t></a:t>
            </a:r>
            <a:r>
              <a:rPr lang="en-US" sz="2400" baseline="-25000" dirty="0" err="1">
                <a:effectLst>
                  <a:outerShdw blurRad="38100" dist="38100" dir="2700000" algn="tl">
                    <a:srgbClr val="000000"/>
                  </a:outerShdw>
                </a:effectLst>
                <a:latin typeface="Book Antiqua" pitchFamily="18" charset="0"/>
              </a:rPr>
              <a:t>i</a:t>
            </a:r>
            <a:r>
              <a:rPr lang="en-US" sz="2400" dirty="0">
                <a:effectLst>
                  <a:outerShdw blurRad="38100" dist="38100" dir="2700000" algn="tl">
                    <a:srgbClr val="000000"/>
                  </a:outerShdw>
                </a:effectLst>
                <a:latin typeface="Book Antiqua" pitchFamily="18" charset="0"/>
              </a:rPr>
              <a:t> </a:t>
            </a:r>
            <a:r>
              <a:rPr lang="en-US" sz="2400" dirty="0" smtClean="0">
                <a:effectLst>
                  <a:outerShdw blurRad="38100" dist="38100" dir="2700000" algn="tl">
                    <a:srgbClr val="000000"/>
                  </a:outerShdw>
                </a:effectLst>
                <a:latin typeface="Book Antiqua" pitchFamily="18" charset="0"/>
              </a:rPr>
              <a:t>≠ 0</a:t>
            </a:r>
          </a:p>
        </p:txBody>
      </p:sp>
      <mc:AlternateContent xmlns:mc="http://schemas.openxmlformats.org/markup-compatibility/2006" xmlns:a14="http://schemas.microsoft.com/office/drawing/2010/main">
        <mc:Choice Requires="a14">
          <p:sp>
            <p:nvSpPr>
              <p:cNvPr id="18" name="TextBox 17"/>
              <p:cNvSpPr txBox="1"/>
              <p:nvPr/>
            </p:nvSpPr>
            <p:spPr>
              <a:xfrm>
                <a:off x="3795623" y="2781300"/>
                <a:ext cx="2812211" cy="810478"/>
              </a:xfrm>
              <a:prstGeom prst="rect">
                <a:avLst/>
              </a:prstGeom>
              <a:noFill/>
            </p:spPr>
            <p:txBody>
              <a:bodyPr wrap="square" rtlCol="0">
                <a:spAutoFit/>
              </a:bodyPr>
              <a:lstStyle/>
              <a:p>
                <a14:m>
                  <m:oMath xmlns:m="http://schemas.openxmlformats.org/officeDocument/2006/math">
                    <m:sSub>
                      <m:sSubPr>
                        <m:ctrlPr>
                          <a:rPr lang="en-US" sz="2800" b="1" i="1" dirty="0" smtClean="0">
                            <a:latin typeface="Cambria Math"/>
                          </a:rPr>
                        </m:ctrlPr>
                      </m:sSubPr>
                      <m:e>
                        <m:r>
                          <a:rPr lang="en-US" sz="2800" b="1" i="1" dirty="0" smtClean="0">
                            <a:latin typeface="Cambria Math"/>
                          </a:rPr>
                          <m:t>𝒕</m:t>
                        </m:r>
                      </m:e>
                      <m:sub>
                        <m:r>
                          <a:rPr lang="en-US" sz="2800" b="1" i="1" dirty="0" smtClean="0">
                            <a:latin typeface="Cambria Math"/>
                          </a:rPr>
                          <m:t>𝒔𝒕𝒂𝒕</m:t>
                        </m:r>
                      </m:sub>
                    </m:sSub>
                  </m:oMath>
                </a14:m>
                <a:r>
                  <a:rPr lang="en-US" sz="2800" b="1" dirty="0" smtClean="0"/>
                  <a:t> = </a:t>
                </a:r>
                <a14:m>
                  <m:oMath xmlns:m="http://schemas.openxmlformats.org/officeDocument/2006/math">
                    <m:f>
                      <m:fPr>
                        <m:ctrlPr>
                          <a:rPr lang="en-US" sz="2800" b="1" i="1" smtClean="0">
                            <a:latin typeface="Cambria Math"/>
                          </a:rPr>
                        </m:ctrlPr>
                      </m:fPr>
                      <m:num>
                        <m:sSub>
                          <m:sSubPr>
                            <m:ctrlPr>
                              <a:rPr lang="en-US" sz="2800" b="1" i="1" smtClean="0">
                                <a:latin typeface="Cambria Math"/>
                              </a:rPr>
                            </m:ctrlPr>
                          </m:sSubPr>
                          <m:e>
                            <m:r>
                              <a:rPr lang="en-US" sz="2800" b="1" i="1" smtClean="0">
                                <a:latin typeface="Cambria Math"/>
                              </a:rPr>
                              <m:t>𝒃</m:t>
                            </m:r>
                          </m:e>
                          <m:sub>
                            <m:r>
                              <a:rPr lang="en-US" sz="2800" b="1" i="1" smtClean="0">
                                <a:latin typeface="Cambria Math"/>
                              </a:rPr>
                              <m:t>𝒊</m:t>
                            </m:r>
                          </m:sub>
                        </m:sSub>
                      </m:num>
                      <m:den>
                        <m:sSub>
                          <m:sSubPr>
                            <m:ctrlPr>
                              <a:rPr lang="en-US" sz="2800" b="1" i="1" smtClean="0">
                                <a:latin typeface="Cambria Math"/>
                              </a:rPr>
                            </m:ctrlPr>
                          </m:sSubPr>
                          <m:e>
                            <m:sSub>
                              <m:sSubPr>
                                <m:ctrlPr>
                                  <a:rPr lang="en-US" sz="2800" b="1" i="1" smtClean="0">
                                    <a:latin typeface="Cambria Math"/>
                                  </a:rPr>
                                </m:ctrlPr>
                              </m:sSubPr>
                              <m:e>
                                <m:r>
                                  <a:rPr lang="en-US" sz="2800" b="1" i="1" smtClean="0">
                                    <a:latin typeface="Cambria Math"/>
                                  </a:rPr>
                                  <m:t>𝒔</m:t>
                                </m:r>
                              </m:e>
                              <m:sub>
                                <m:r>
                                  <a:rPr lang="en-US" sz="2800" b="1" i="1" smtClean="0">
                                    <a:latin typeface="Cambria Math"/>
                                  </a:rPr>
                                  <m:t>𝒃</m:t>
                                </m:r>
                              </m:sub>
                            </m:sSub>
                          </m:e>
                          <m:sub>
                            <m:r>
                              <a:rPr lang="en-US" sz="2800" b="1" i="1" smtClean="0">
                                <a:latin typeface="Cambria Math"/>
                              </a:rPr>
                              <m:t>𝒊</m:t>
                            </m:r>
                          </m:sub>
                        </m:sSub>
                      </m:den>
                    </m:f>
                  </m:oMath>
                </a14:m>
                <a:r>
                  <a:rPr lang="en-US" sz="2800" b="1" dirty="0" smtClean="0"/>
                  <a:t> </a:t>
                </a:r>
                <a:endParaRPr lang="en-US" sz="2800" b="1" dirty="0"/>
              </a:p>
            </p:txBody>
          </p:sp>
        </mc:Choice>
        <mc:Fallback xmlns="">
          <p:sp>
            <p:nvSpPr>
              <p:cNvPr id="18" name="TextBox 17"/>
              <p:cNvSpPr txBox="1">
                <a:spLocks noRot="1" noChangeAspect="1" noMove="1" noResize="1" noEditPoints="1" noAdjustHandles="1" noChangeArrowheads="1" noChangeShapeType="1" noTextEdit="1"/>
              </p:cNvSpPr>
              <p:nvPr/>
            </p:nvSpPr>
            <p:spPr>
              <a:xfrm>
                <a:off x="3795623" y="2781300"/>
                <a:ext cx="2812211" cy="810478"/>
              </a:xfrm>
              <a:prstGeom prst="rect">
                <a:avLst/>
              </a:prstGeom>
              <a:blipFill rotWithShape="1">
                <a:blip r:embed="rId2"/>
                <a:stretch>
                  <a:fillRect/>
                </a:stretch>
              </a:blipFill>
            </p:spPr>
            <p:txBody>
              <a:bodyPr/>
              <a:lstStyle/>
              <a:p>
                <a:r>
                  <a:rPr lang="en-US">
                    <a:noFill/>
                  </a:rPr>
                  <a:t> </a:t>
                </a:r>
              </a:p>
            </p:txBody>
          </p:sp>
        </mc:Fallback>
      </mc:AlternateContent>
      <p:sp>
        <p:nvSpPr>
          <p:cNvPr id="19" name="Rectangle 8"/>
          <p:cNvSpPr>
            <a:spLocks noChangeArrowheads="1"/>
          </p:cNvSpPr>
          <p:nvPr/>
        </p:nvSpPr>
        <p:spPr bwMode="auto">
          <a:xfrm>
            <a:off x="3629923" y="3895545"/>
            <a:ext cx="7963978" cy="1828800"/>
          </a:xfrm>
          <a:prstGeom prst="rect">
            <a:avLst/>
          </a:prstGeom>
          <a:noFill/>
          <a:ln w="12700">
            <a:noFill/>
            <a:miter lim="800000"/>
            <a:headEnd/>
            <a:tailEnd/>
          </a:ln>
          <a:effectLst/>
        </p:spPr>
        <p:txBody>
          <a:bodyPr wrap="none" anchor="ctr"/>
          <a:lstStyle/>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Reject </a:t>
            </a:r>
            <a:r>
              <a:rPr lang="en-US" sz="2400" i="1" dirty="0">
                <a:effectLst>
                  <a:outerShdw blurRad="38100" dist="38100" dir="2700000" algn="tl">
                    <a:srgbClr val="000000"/>
                  </a:outerShdw>
                </a:effectLst>
                <a:latin typeface="Book Antiqua" pitchFamily="18" charset="0"/>
              </a:rPr>
              <a:t>H</a:t>
            </a:r>
            <a:r>
              <a:rPr lang="en-US" sz="2400" baseline="-25000" dirty="0">
                <a:effectLst>
                  <a:outerShdw blurRad="38100" dist="38100" dir="2700000" algn="tl">
                    <a:srgbClr val="000000"/>
                  </a:outerShdw>
                </a:effectLst>
                <a:latin typeface="Book Antiqua" pitchFamily="18" charset="0"/>
              </a:rPr>
              <a:t>0</a:t>
            </a:r>
            <a:r>
              <a:rPr lang="en-US" sz="2400" dirty="0">
                <a:effectLst>
                  <a:outerShdw blurRad="38100" dist="38100" dir="2700000" algn="tl">
                    <a:srgbClr val="000000"/>
                  </a:outerShdw>
                </a:effectLst>
                <a:latin typeface="Book Antiqua" pitchFamily="18" charset="0"/>
              </a:rPr>
              <a:t> if </a:t>
            </a:r>
            <a:r>
              <a:rPr lang="en-US" sz="2400" i="1" dirty="0">
                <a:effectLst>
                  <a:outerShdw blurRad="38100" dist="38100" dir="2700000" algn="tl">
                    <a:srgbClr val="000000"/>
                  </a:outerShdw>
                </a:effectLst>
                <a:latin typeface="Book Antiqua" pitchFamily="18" charset="0"/>
              </a:rPr>
              <a:t>p</a:t>
            </a:r>
            <a:r>
              <a:rPr lang="en-US" sz="2400" dirty="0">
                <a:effectLst>
                  <a:outerShdw blurRad="38100" dist="38100" dir="2700000" algn="tl">
                    <a:srgbClr val="000000"/>
                  </a:outerShdw>
                </a:effectLst>
                <a:latin typeface="Book Antiqua" pitchFamily="18" charset="0"/>
              </a:rPr>
              <a:t>-value </a:t>
            </a:r>
            <a:r>
              <a:rPr lang="en-US" sz="2400" u="sng" dirty="0">
                <a:effectLst>
                  <a:outerShdw blurRad="38100" dist="38100" dir="2700000" algn="tl">
                    <a:srgbClr val="000000"/>
                  </a:outerShdw>
                </a:effectLst>
                <a:latin typeface="Book Antiqua" pitchFamily="18" charset="0"/>
              </a:rPr>
              <a:t>&lt;</a:t>
            </a:r>
            <a:r>
              <a:rPr lang="en-US" sz="2400" dirty="0">
                <a:effectLst>
                  <a:outerShdw blurRad="38100" dist="38100" dir="2700000" algn="tl">
                    <a:srgbClr val="000000"/>
                  </a:outerShdw>
                </a:effectLst>
                <a:latin typeface="Book Antiqua" pitchFamily="18" charset="0"/>
              </a:rPr>
              <a:t> </a:t>
            </a:r>
            <a:r>
              <a:rPr lang="en-US" sz="2400" dirty="0">
                <a:effectLst>
                  <a:outerShdw blurRad="38100" dist="38100" dir="2700000" algn="tl">
                    <a:srgbClr val="000000"/>
                  </a:outerShdw>
                </a:effectLst>
                <a:latin typeface="Symbol" pitchFamily="18" charset="2"/>
              </a:rPr>
              <a:t>a</a:t>
            </a:r>
            <a:r>
              <a:rPr lang="en-US" sz="2400" dirty="0">
                <a:effectLst>
                  <a:outerShdw blurRad="38100" dist="38100" dir="2700000" algn="tl">
                    <a:srgbClr val="000000"/>
                  </a:outerShdw>
                </a:effectLst>
                <a:latin typeface="Book Antiqua" pitchFamily="18" charset="0"/>
              </a:rPr>
              <a:t>  or</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i</a:t>
            </a:r>
            <a:r>
              <a:rPr lang="en-US" sz="2400" dirty="0" smtClean="0">
                <a:effectLst>
                  <a:outerShdw blurRad="38100" dist="38100" dir="2700000" algn="tl">
                    <a:srgbClr val="000000"/>
                  </a:outerShdw>
                </a:effectLst>
                <a:latin typeface="Book Antiqua" pitchFamily="18" charset="0"/>
              </a:rPr>
              <a:t>f |</a:t>
            </a:r>
            <a:r>
              <a:rPr lang="en-US" sz="2400" i="1" dirty="0" smtClean="0">
                <a:effectLst>
                  <a:outerShdw blurRad="38100" dist="38100" dir="2700000" algn="tl">
                    <a:srgbClr val="000000"/>
                  </a:outerShdw>
                </a:effectLst>
                <a:latin typeface="Book Antiqua" pitchFamily="18" charset="0"/>
              </a:rPr>
              <a:t>t|</a:t>
            </a:r>
            <a:r>
              <a:rPr lang="en-US" sz="2400" dirty="0" smtClean="0">
                <a:effectLst>
                  <a:outerShdw blurRad="38100" dist="38100" dir="2700000" algn="tl">
                    <a:srgbClr val="000000"/>
                  </a:outerShdw>
                </a:effectLst>
                <a:latin typeface="Book Antiqua" pitchFamily="18" charset="0"/>
              </a:rPr>
              <a:t> </a:t>
            </a:r>
            <a:r>
              <a:rPr lang="en-US" sz="2400" u="sng" dirty="0">
                <a:effectLst>
                  <a:outerShdw blurRad="38100" dist="38100" dir="2700000" algn="tl">
                    <a:srgbClr val="000000"/>
                  </a:outerShdw>
                </a:effectLst>
                <a:latin typeface="Book Antiqua" pitchFamily="18" charset="0"/>
              </a:rPr>
              <a:t>&gt;</a:t>
            </a:r>
            <a:r>
              <a:rPr lang="en-US" sz="2400" dirty="0">
                <a:effectLst>
                  <a:outerShdw blurRad="38100" dist="38100" dir="2700000" algn="tl">
                    <a:srgbClr val="000000"/>
                  </a:outerShdw>
                </a:effectLst>
                <a:latin typeface="Book Antiqua" pitchFamily="18" charset="0"/>
              </a:rPr>
              <a:t> </a:t>
            </a:r>
            <a:r>
              <a:rPr lang="en-US" sz="2400" i="1" dirty="0">
                <a:effectLst>
                  <a:outerShdw blurRad="38100" dist="38100" dir="2700000" algn="tl">
                    <a:srgbClr val="000000"/>
                  </a:outerShdw>
                </a:effectLst>
                <a:latin typeface="Book Antiqua" pitchFamily="18" charset="0"/>
              </a:rPr>
              <a:t>t</a:t>
            </a:r>
            <a:r>
              <a:rPr lang="en-US" sz="2400" i="1" baseline="-25000"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Symbol" pitchFamily="18" charset="2"/>
              </a:rPr>
              <a:t></a:t>
            </a:r>
            <a:r>
              <a:rPr lang="en-US" sz="2400" dirty="0">
                <a:effectLst>
                  <a:outerShdw blurRad="38100" dist="38100" dir="2700000" algn="tl">
                    <a:srgbClr val="000000"/>
                  </a:outerShdw>
                </a:effectLst>
                <a:latin typeface="Symbol" pitchFamily="18" charset="2"/>
              </a:rPr>
              <a:t> </a:t>
            </a:r>
            <a:r>
              <a:rPr lang="en-US" sz="2400" dirty="0">
                <a:effectLst>
                  <a:outerShdw blurRad="38100" dist="38100" dir="2700000" algn="tl">
                    <a:srgbClr val="000000"/>
                  </a:outerShdw>
                </a:effectLst>
                <a:latin typeface="Book Antiqua" pitchFamily="18" charset="0"/>
              </a:rPr>
              <a:t>where </a:t>
            </a:r>
            <a:r>
              <a:rPr lang="en-US" sz="2400" i="1" dirty="0">
                <a:effectLst>
                  <a:outerShdw blurRad="38100" dist="38100" dir="2700000" algn="tl">
                    <a:srgbClr val="000000"/>
                  </a:outerShdw>
                </a:effectLst>
                <a:latin typeface="Book Antiqua" pitchFamily="18" charset="0"/>
              </a:rPr>
              <a:t>t</a:t>
            </a:r>
            <a:r>
              <a:rPr lang="en-US" sz="2400" i="1" baseline="-25000" dirty="0">
                <a:effectLst>
                  <a:outerShdw blurRad="38100" dist="38100" dir="2700000" algn="tl">
                    <a:srgbClr val="000000"/>
                  </a:outerShdw>
                </a:effectLst>
                <a:latin typeface="Symbol" pitchFamily="18" charset="2"/>
              </a:rPr>
              <a:t></a:t>
            </a:r>
            <a:r>
              <a:rPr lang="en-US" sz="2400" baseline="-25000" dirty="0">
                <a:effectLst>
                  <a:outerShdw blurRad="38100" dist="38100" dir="2700000" algn="tl">
                    <a:srgbClr val="000000"/>
                  </a:outerShdw>
                </a:effectLst>
                <a:latin typeface="Symbol" pitchFamily="18" charset="2"/>
              </a:rPr>
              <a:t></a:t>
            </a:r>
            <a:r>
              <a:rPr lang="en-US" sz="2400" i="1" dirty="0">
                <a:effectLst>
                  <a:outerShdw blurRad="38100" dist="38100" dir="2700000" algn="tl">
                    <a:srgbClr val="000000"/>
                  </a:outerShdw>
                </a:effectLst>
                <a:latin typeface="Book Antiqua" pitchFamily="18" charset="0"/>
              </a:rPr>
              <a:t> </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is based on a </a:t>
            </a:r>
            <a:r>
              <a:rPr lang="en-US" sz="2400" i="1" dirty="0">
                <a:effectLst>
                  <a:outerShdw blurRad="38100" dist="38100" dir="2700000" algn="tl">
                    <a:srgbClr val="000000"/>
                  </a:outerShdw>
                </a:effectLst>
                <a:latin typeface="Book Antiqua" pitchFamily="18" charset="0"/>
              </a:rPr>
              <a:t>t </a:t>
            </a:r>
            <a:r>
              <a:rPr lang="en-US" sz="2400" dirty="0">
                <a:effectLst>
                  <a:outerShdw blurRad="38100" dist="38100" dir="2700000" algn="tl">
                    <a:srgbClr val="000000"/>
                  </a:outerShdw>
                </a:effectLst>
                <a:latin typeface="Book Antiqua" pitchFamily="18" charset="0"/>
              </a:rPr>
              <a:t> distribution</a:t>
            </a:r>
          </a:p>
          <a:p>
            <a:pPr algn="l">
              <a:spcBef>
                <a:spcPct val="20000"/>
              </a:spcBef>
              <a:buClr>
                <a:srgbClr val="66FFFF"/>
              </a:buClr>
              <a:buSzPct val="75000"/>
              <a:buFont typeface="Monotype Sorts" pitchFamily="2" charset="2"/>
              <a:buNone/>
              <a:defRPr/>
            </a:pPr>
            <a:r>
              <a:rPr lang="en-US" sz="2400" dirty="0">
                <a:effectLst>
                  <a:outerShdw blurRad="38100" dist="38100" dir="2700000" algn="tl">
                    <a:srgbClr val="000000"/>
                  </a:outerShdw>
                </a:effectLst>
                <a:latin typeface="Book Antiqua" pitchFamily="18" charset="0"/>
              </a:rPr>
              <a:t>with </a:t>
            </a:r>
            <a:r>
              <a:rPr lang="en-US" sz="2400" i="1" dirty="0">
                <a:effectLst>
                  <a:outerShdw blurRad="38100" dist="38100" dir="2700000" algn="tl">
                    <a:srgbClr val="000000"/>
                  </a:outerShdw>
                </a:effectLst>
                <a:latin typeface="Book Antiqua" pitchFamily="18" charset="0"/>
              </a:rPr>
              <a:t>n</a:t>
            </a:r>
            <a:r>
              <a:rPr lang="en-US" sz="2400" dirty="0">
                <a:effectLst>
                  <a:outerShdw blurRad="38100" dist="38100" dir="2700000" algn="tl">
                    <a:srgbClr val="000000"/>
                  </a:outerShdw>
                </a:effectLst>
                <a:latin typeface="Book Antiqua" pitchFamily="18" charset="0"/>
              </a:rPr>
              <a:t> - </a:t>
            </a:r>
            <a:r>
              <a:rPr lang="en-US" sz="2400" i="1" dirty="0">
                <a:effectLst>
                  <a:outerShdw blurRad="38100" dist="38100" dir="2700000" algn="tl">
                    <a:srgbClr val="000000"/>
                  </a:outerShdw>
                </a:effectLst>
                <a:latin typeface="Book Antiqua" pitchFamily="18" charset="0"/>
              </a:rPr>
              <a:t>k</a:t>
            </a:r>
            <a:r>
              <a:rPr lang="en-US" sz="2400" dirty="0" smtClean="0">
                <a:effectLst>
                  <a:outerShdw blurRad="38100" dist="38100" dir="2700000" algn="tl">
                    <a:srgbClr val="000000"/>
                  </a:outerShdw>
                </a:effectLst>
                <a:latin typeface="Book Antiqua" pitchFamily="18" charset="0"/>
              </a:rPr>
              <a:t> </a:t>
            </a:r>
            <a:r>
              <a:rPr lang="en-US" sz="2400" dirty="0">
                <a:effectLst>
                  <a:outerShdw blurRad="38100" dist="38100" dir="2700000" algn="tl">
                    <a:srgbClr val="000000"/>
                  </a:outerShdw>
                </a:effectLst>
                <a:latin typeface="Book Antiqua" pitchFamily="18" charset="0"/>
              </a:rPr>
              <a:t>- 1 degrees of freedom.</a:t>
            </a:r>
          </a:p>
        </p:txBody>
      </p:sp>
    </p:spTree>
    <p:extLst>
      <p:ext uri="{BB962C8B-B14F-4D97-AF65-F5344CB8AC3E}">
        <p14:creationId xmlns:p14="http://schemas.microsoft.com/office/powerpoint/2010/main" val="46194515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Example</a:t>
            </a:r>
            <a:endParaRPr lang="en-US" dirty="0"/>
          </a:p>
        </p:txBody>
      </p:sp>
      <p:sp>
        <p:nvSpPr>
          <p:cNvPr id="3" name="Content Placeholder 2"/>
          <p:cNvSpPr>
            <a:spLocks noGrp="1"/>
          </p:cNvSpPr>
          <p:nvPr>
            <p:ph sz="quarter" idx="11"/>
          </p:nvPr>
        </p:nvSpPr>
        <p:spPr/>
        <p:txBody>
          <a:bodyPr/>
          <a:lstStyle/>
          <a:p>
            <a:pPr marL="0" indent="0">
              <a:buNone/>
            </a:pPr>
            <a:r>
              <a:rPr lang="en-US" dirty="0" smtClean="0"/>
              <a:t>Refer to the linear model developed in previous example. </a:t>
            </a:r>
          </a:p>
          <a:p>
            <a:pPr marL="0" indent="0">
              <a:buNone/>
            </a:pPr>
            <a:r>
              <a:rPr lang="en-US" dirty="0" smtClean="0"/>
              <a:t>Score </a:t>
            </a:r>
            <a:r>
              <a:rPr lang="en-US" dirty="0"/>
              <a:t>= </a:t>
            </a:r>
            <a:r>
              <a:rPr lang="el-GR" dirty="0">
                <a:latin typeface="Times New Roman"/>
                <a:cs typeface="Times New Roman"/>
              </a:rPr>
              <a:t>β</a:t>
            </a:r>
            <a:r>
              <a:rPr lang="en-US" baseline="-25000" dirty="0">
                <a:latin typeface="Times New Roman"/>
                <a:cs typeface="Times New Roman"/>
              </a:rPr>
              <a:t>0</a:t>
            </a:r>
            <a:r>
              <a:rPr lang="en-US" dirty="0">
                <a:latin typeface="Times New Roman"/>
                <a:cs typeface="Times New Roman"/>
              </a:rPr>
              <a:t> + </a:t>
            </a:r>
            <a:r>
              <a:rPr lang="el-GR" dirty="0">
                <a:latin typeface="Times New Roman"/>
                <a:cs typeface="Times New Roman"/>
              </a:rPr>
              <a:t>β</a:t>
            </a:r>
            <a:r>
              <a:rPr lang="en-US" baseline="-25000" dirty="0">
                <a:latin typeface="Times New Roman"/>
                <a:cs typeface="Times New Roman"/>
              </a:rPr>
              <a:t>1</a:t>
            </a:r>
            <a:r>
              <a:rPr lang="en-US" dirty="0">
                <a:latin typeface="Times New Roman"/>
                <a:cs typeface="Times New Roman"/>
              </a:rPr>
              <a:t>*Peer</a:t>
            </a:r>
            <a:r>
              <a:rPr lang="en-US" baseline="-25000" dirty="0">
                <a:latin typeface="Times New Roman"/>
                <a:cs typeface="Times New Roman"/>
              </a:rPr>
              <a:t> </a:t>
            </a:r>
            <a:r>
              <a:rPr lang="en-US" dirty="0">
                <a:latin typeface="Times New Roman"/>
                <a:cs typeface="Times New Roman"/>
              </a:rPr>
              <a:t>+ </a:t>
            </a:r>
            <a:r>
              <a:rPr lang="el-GR" dirty="0">
                <a:latin typeface="Times New Roman"/>
                <a:cs typeface="Times New Roman"/>
              </a:rPr>
              <a:t>β</a:t>
            </a:r>
            <a:r>
              <a:rPr lang="en-US" baseline="-25000" dirty="0">
                <a:latin typeface="Times New Roman"/>
                <a:cs typeface="Times New Roman"/>
              </a:rPr>
              <a:t>2</a:t>
            </a:r>
            <a:r>
              <a:rPr lang="en-US" dirty="0">
                <a:latin typeface="Times New Roman"/>
                <a:cs typeface="Times New Roman"/>
              </a:rPr>
              <a:t>*</a:t>
            </a:r>
            <a:r>
              <a:rPr lang="en-US" dirty="0" err="1">
                <a:latin typeface="Times New Roman"/>
                <a:cs typeface="Times New Roman"/>
              </a:rPr>
              <a:t>FtoS</a:t>
            </a:r>
            <a:r>
              <a:rPr lang="en-US" dirty="0">
                <a:latin typeface="Times New Roman"/>
                <a:cs typeface="Times New Roman"/>
              </a:rPr>
              <a:t> + </a:t>
            </a:r>
            <a:r>
              <a:rPr lang="el-GR" dirty="0">
                <a:latin typeface="Times New Roman"/>
                <a:cs typeface="Times New Roman"/>
              </a:rPr>
              <a:t>β</a:t>
            </a:r>
            <a:r>
              <a:rPr lang="en-US" baseline="-25000" dirty="0">
                <a:latin typeface="Times New Roman"/>
                <a:cs typeface="Times New Roman"/>
              </a:rPr>
              <a:t>3</a:t>
            </a:r>
            <a:r>
              <a:rPr lang="en-US" dirty="0">
                <a:latin typeface="Times New Roman"/>
                <a:cs typeface="Times New Roman"/>
              </a:rPr>
              <a:t>*</a:t>
            </a:r>
            <a:r>
              <a:rPr lang="en-US" dirty="0" err="1">
                <a:latin typeface="Times New Roman"/>
                <a:cs typeface="Times New Roman"/>
              </a:rPr>
              <a:t>CtoF</a:t>
            </a:r>
            <a:r>
              <a:rPr lang="en-US" baseline="-25000" dirty="0">
                <a:latin typeface="Times New Roman"/>
                <a:cs typeface="Times New Roman"/>
              </a:rPr>
              <a:t> </a:t>
            </a:r>
            <a:r>
              <a:rPr lang="en-US" dirty="0">
                <a:latin typeface="Times New Roman"/>
                <a:cs typeface="Times New Roman"/>
              </a:rPr>
              <a:t>+ </a:t>
            </a:r>
            <a:r>
              <a:rPr lang="el-GR" dirty="0">
                <a:latin typeface="Times New Roman"/>
                <a:cs typeface="Times New Roman"/>
              </a:rPr>
              <a:t>β</a:t>
            </a:r>
            <a:r>
              <a:rPr lang="en-US" baseline="-25000" dirty="0">
                <a:latin typeface="Times New Roman"/>
                <a:cs typeface="Times New Roman"/>
              </a:rPr>
              <a:t>4</a:t>
            </a:r>
            <a:r>
              <a:rPr lang="en-US" dirty="0">
                <a:latin typeface="Times New Roman"/>
                <a:cs typeface="Times New Roman"/>
              </a:rPr>
              <a:t>*UK + </a:t>
            </a:r>
            <a:r>
              <a:rPr lang="el-GR" dirty="0">
                <a:latin typeface="Times New Roman"/>
                <a:cs typeface="Times New Roman"/>
              </a:rPr>
              <a:t>β</a:t>
            </a:r>
            <a:r>
              <a:rPr lang="en-US" baseline="-25000" dirty="0">
                <a:latin typeface="Times New Roman"/>
                <a:cs typeface="Times New Roman"/>
              </a:rPr>
              <a:t>5</a:t>
            </a:r>
            <a:r>
              <a:rPr lang="en-US" dirty="0">
                <a:latin typeface="Times New Roman"/>
                <a:cs typeface="Times New Roman"/>
              </a:rPr>
              <a:t>US</a:t>
            </a:r>
            <a:r>
              <a:rPr lang="en-US" baseline="-25000" dirty="0">
                <a:latin typeface="Times New Roman"/>
                <a:cs typeface="Times New Roman"/>
              </a:rPr>
              <a:t> </a:t>
            </a:r>
            <a:r>
              <a:rPr lang="en-US" dirty="0">
                <a:latin typeface="Times New Roman"/>
                <a:cs typeface="Times New Roman"/>
              </a:rPr>
              <a:t>+ </a:t>
            </a:r>
            <a:r>
              <a:rPr lang="el-GR" dirty="0">
                <a:latin typeface="Times New Roman"/>
                <a:cs typeface="Times New Roman"/>
              </a:rPr>
              <a:t>ε</a:t>
            </a:r>
            <a:endParaRPr lang="en-US" dirty="0">
              <a:latin typeface="Times New Roman"/>
              <a:cs typeface="Times New Roman"/>
            </a:endParaRPr>
          </a:p>
          <a:p>
            <a:pPr marL="0" indent="0">
              <a:buNone/>
            </a:pPr>
            <a:r>
              <a:rPr lang="en-US" dirty="0" smtClean="0"/>
              <a:t>Test whether each independent quantitative variable has significant linear relationship with score. Use </a:t>
            </a:r>
            <a:r>
              <a:rPr lang="en-US" dirty="0" smtClean="0">
                <a:sym typeface="Symbol"/>
              </a:rPr>
              <a:t> = 0.05</a:t>
            </a:r>
            <a:endParaRPr lang="en-US" dirty="0" smtClean="0"/>
          </a:p>
          <a:p>
            <a:pPr marL="0" indent="0">
              <a:buNone/>
            </a:pPr>
            <a:r>
              <a:rPr lang="en-US" dirty="0" smtClean="0"/>
              <a:t> Peer:                               </a:t>
            </a:r>
            <a:r>
              <a:rPr lang="en-US" dirty="0" err="1" smtClean="0"/>
              <a:t>FtoS</a:t>
            </a:r>
            <a:r>
              <a:rPr lang="en-US" dirty="0" smtClean="0"/>
              <a:t>:                                          </a:t>
            </a:r>
            <a:r>
              <a:rPr lang="en-US" dirty="0" err="1" smtClean="0"/>
              <a:t>CtoF</a:t>
            </a:r>
            <a:r>
              <a:rPr lang="en-US" dirty="0" smtClean="0"/>
              <a:t>:</a:t>
            </a:r>
          </a:p>
          <a:p>
            <a:pPr>
              <a:spcBef>
                <a:spcPct val="20000"/>
              </a:spcBef>
              <a:buClr>
                <a:srgbClr val="66FFFF"/>
              </a:buClr>
              <a:buSzPct val="75000"/>
              <a:buNone/>
              <a:defRPr/>
            </a:pPr>
            <a:r>
              <a:rPr lang="en-US" i="1" dirty="0" smtClean="0">
                <a:effectLst>
                  <a:outerShdw blurRad="38100" dist="38100" dir="2700000" algn="tl">
                    <a:srgbClr val="000000"/>
                  </a:outerShdw>
                </a:effectLst>
                <a:latin typeface="Book Antiqua" pitchFamily="18" charset="0"/>
              </a:rPr>
              <a:t>H</a:t>
            </a:r>
            <a:r>
              <a:rPr lang="en-US" baseline="-25000" dirty="0" smtClean="0">
                <a:effectLst>
                  <a:outerShdw blurRad="38100" dist="38100" dir="2700000" algn="tl">
                    <a:srgbClr val="000000"/>
                  </a:outerShdw>
                </a:effectLst>
                <a:latin typeface="Book Antiqua" pitchFamily="18" charset="0"/>
              </a:rPr>
              <a:t>0</a:t>
            </a:r>
            <a:r>
              <a:rPr lang="en-US" dirty="0">
                <a:effectLst>
                  <a:outerShdw blurRad="38100" dist="38100" dir="2700000" algn="tl">
                    <a:srgbClr val="000000"/>
                  </a:outerShdw>
                </a:effectLst>
                <a:latin typeface="Book Antiqua" pitchFamily="18" charset="0"/>
              </a:rPr>
              <a:t>:  </a:t>
            </a:r>
            <a:r>
              <a:rPr lang="en-US" i="1" dirty="0" smtClean="0">
                <a:effectLst>
                  <a:outerShdw blurRad="38100" dist="38100" dir="2700000" algn="tl">
                    <a:srgbClr val="000000"/>
                  </a:outerShdw>
                </a:effectLst>
                <a:latin typeface="Symbol" pitchFamily="18" charset="2"/>
              </a:rPr>
              <a:t></a:t>
            </a:r>
            <a:r>
              <a:rPr lang="en-US" baseline="-25000" dirty="0" smtClean="0">
                <a:effectLst>
                  <a:outerShdw blurRad="38100" dist="38100" dir="2700000" algn="tl">
                    <a:srgbClr val="000000"/>
                  </a:outerShdw>
                </a:effectLst>
                <a:latin typeface="Book Antiqua" pitchFamily="18" charset="0"/>
              </a:rPr>
              <a:t>1</a:t>
            </a:r>
            <a:r>
              <a:rPr lang="en-US" dirty="0" smtClean="0">
                <a:effectLst>
                  <a:outerShdw blurRad="38100" dist="38100" dir="2700000" algn="tl">
                    <a:srgbClr val="000000"/>
                  </a:outerShdw>
                </a:effectLst>
                <a:latin typeface="Book Antiqua" pitchFamily="18" charset="0"/>
              </a:rPr>
              <a:t> </a:t>
            </a:r>
            <a:r>
              <a:rPr lang="en-US" dirty="0">
                <a:effectLst>
                  <a:outerShdw blurRad="38100" dist="38100" dir="2700000" algn="tl">
                    <a:srgbClr val="000000"/>
                  </a:outerShdw>
                </a:effectLst>
                <a:latin typeface="Book Antiqua" pitchFamily="18" charset="0"/>
              </a:rPr>
              <a:t>= </a:t>
            </a:r>
            <a:r>
              <a:rPr lang="en-US" dirty="0" smtClean="0">
                <a:effectLst>
                  <a:outerShdw blurRad="38100" dist="38100" dir="2700000" algn="tl">
                    <a:srgbClr val="000000"/>
                  </a:outerShdw>
                </a:effectLst>
                <a:latin typeface="Book Antiqua" pitchFamily="18" charset="0"/>
              </a:rPr>
              <a:t>0                          </a:t>
            </a:r>
            <a:r>
              <a:rPr lang="en-US" i="1" dirty="0">
                <a:effectLst>
                  <a:outerShdw blurRad="38100" dist="38100" dir="2700000" algn="tl">
                    <a:srgbClr val="000000"/>
                  </a:outerShdw>
                </a:effectLst>
                <a:latin typeface="Book Antiqua" pitchFamily="18" charset="0"/>
              </a:rPr>
              <a:t>H</a:t>
            </a:r>
            <a:r>
              <a:rPr lang="en-US" baseline="-25000" dirty="0">
                <a:effectLst>
                  <a:outerShdw blurRad="38100" dist="38100" dir="2700000" algn="tl">
                    <a:srgbClr val="000000"/>
                  </a:outerShdw>
                </a:effectLst>
                <a:latin typeface="Book Antiqua" pitchFamily="18" charset="0"/>
              </a:rPr>
              <a:t>0</a:t>
            </a:r>
            <a:r>
              <a:rPr lang="en-US" dirty="0">
                <a:effectLst>
                  <a:outerShdw blurRad="38100" dist="38100" dir="2700000" algn="tl">
                    <a:srgbClr val="000000"/>
                  </a:outerShdw>
                </a:effectLst>
                <a:latin typeface="Book Antiqua" pitchFamily="18" charset="0"/>
              </a:rPr>
              <a:t>:  </a:t>
            </a:r>
            <a:r>
              <a:rPr lang="en-US" i="1" dirty="0" smtClean="0">
                <a:effectLst>
                  <a:outerShdw blurRad="38100" dist="38100" dir="2700000" algn="tl">
                    <a:srgbClr val="000000"/>
                  </a:outerShdw>
                </a:effectLst>
                <a:latin typeface="Symbol" pitchFamily="18" charset="2"/>
              </a:rPr>
              <a:t></a:t>
            </a:r>
            <a:r>
              <a:rPr lang="en-US" baseline="-25000" dirty="0" smtClean="0">
                <a:effectLst>
                  <a:outerShdw blurRad="38100" dist="38100" dir="2700000" algn="tl">
                    <a:srgbClr val="000000"/>
                  </a:outerShdw>
                </a:effectLst>
                <a:latin typeface="Book Antiqua" pitchFamily="18" charset="0"/>
              </a:rPr>
              <a:t>2</a:t>
            </a:r>
            <a:r>
              <a:rPr lang="en-US" dirty="0" smtClean="0">
                <a:effectLst>
                  <a:outerShdw blurRad="38100" dist="38100" dir="2700000" algn="tl">
                    <a:srgbClr val="000000"/>
                  </a:outerShdw>
                </a:effectLst>
                <a:latin typeface="Book Antiqua" pitchFamily="18" charset="0"/>
              </a:rPr>
              <a:t> </a:t>
            </a:r>
            <a:r>
              <a:rPr lang="en-US" dirty="0">
                <a:effectLst>
                  <a:outerShdw blurRad="38100" dist="38100" dir="2700000" algn="tl">
                    <a:srgbClr val="000000"/>
                  </a:outerShdw>
                </a:effectLst>
                <a:latin typeface="Book Antiqua" pitchFamily="18" charset="0"/>
              </a:rPr>
              <a:t>= </a:t>
            </a:r>
            <a:r>
              <a:rPr lang="en-US" dirty="0" smtClean="0">
                <a:effectLst>
                  <a:outerShdw blurRad="38100" dist="38100" dir="2700000" algn="tl">
                    <a:srgbClr val="000000"/>
                  </a:outerShdw>
                </a:effectLst>
                <a:latin typeface="Book Antiqua" pitchFamily="18" charset="0"/>
              </a:rPr>
              <a:t>0                                     </a:t>
            </a:r>
            <a:r>
              <a:rPr lang="en-US" i="1" dirty="0">
                <a:effectLst>
                  <a:outerShdw blurRad="38100" dist="38100" dir="2700000" algn="tl">
                    <a:srgbClr val="000000"/>
                  </a:outerShdw>
                </a:effectLst>
                <a:latin typeface="Book Antiqua" pitchFamily="18" charset="0"/>
              </a:rPr>
              <a:t>H</a:t>
            </a:r>
            <a:r>
              <a:rPr lang="en-US" baseline="-25000" dirty="0">
                <a:effectLst>
                  <a:outerShdw blurRad="38100" dist="38100" dir="2700000" algn="tl">
                    <a:srgbClr val="000000"/>
                  </a:outerShdw>
                </a:effectLst>
                <a:latin typeface="Book Antiqua" pitchFamily="18" charset="0"/>
              </a:rPr>
              <a:t>0</a:t>
            </a:r>
            <a:r>
              <a:rPr lang="en-US" dirty="0">
                <a:effectLst>
                  <a:outerShdw blurRad="38100" dist="38100" dir="2700000" algn="tl">
                    <a:srgbClr val="000000"/>
                  </a:outerShdw>
                </a:effectLst>
                <a:latin typeface="Book Antiqua" pitchFamily="18" charset="0"/>
              </a:rPr>
              <a:t>:  </a:t>
            </a:r>
            <a:r>
              <a:rPr lang="en-US" i="1" dirty="0" smtClean="0">
                <a:effectLst>
                  <a:outerShdw blurRad="38100" dist="38100" dir="2700000" algn="tl">
                    <a:srgbClr val="000000"/>
                  </a:outerShdw>
                </a:effectLst>
                <a:latin typeface="Symbol" pitchFamily="18" charset="2"/>
              </a:rPr>
              <a:t></a:t>
            </a:r>
            <a:r>
              <a:rPr lang="en-US" baseline="-25000" dirty="0" smtClean="0">
                <a:effectLst>
                  <a:outerShdw blurRad="38100" dist="38100" dir="2700000" algn="tl">
                    <a:srgbClr val="000000"/>
                  </a:outerShdw>
                </a:effectLst>
                <a:latin typeface="Book Antiqua" pitchFamily="18" charset="0"/>
              </a:rPr>
              <a:t>3</a:t>
            </a:r>
            <a:r>
              <a:rPr lang="en-US" dirty="0" smtClean="0">
                <a:effectLst>
                  <a:outerShdw blurRad="38100" dist="38100" dir="2700000" algn="tl">
                    <a:srgbClr val="000000"/>
                  </a:outerShdw>
                </a:effectLst>
                <a:latin typeface="Book Antiqua" pitchFamily="18" charset="0"/>
              </a:rPr>
              <a:t> </a:t>
            </a:r>
            <a:r>
              <a:rPr lang="en-US" dirty="0">
                <a:effectLst>
                  <a:outerShdw blurRad="38100" dist="38100" dir="2700000" algn="tl">
                    <a:srgbClr val="000000"/>
                  </a:outerShdw>
                </a:effectLst>
                <a:latin typeface="Book Antiqua" pitchFamily="18" charset="0"/>
              </a:rPr>
              <a:t>= 0</a:t>
            </a:r>
            <a:endParaRPr lang="en-US" dirty="0">
              <a:solidFill>
                <a:schemeClr val="tx2"/>
              </a:solidFill>
              <a:effectLst>
                <a:outerShdw blurRad="38100" dist="38100" dir="2700000" algn="tl">
                  <a:srgbClr val="000000"/>
                </a:outerShdw>
              </a:effectLst>
              <a:latin typeface="Book Antiqua" pitchFamily="18" charset="0"/>
            </a:endParaRPr>
          </a:p>
          <a:p>
            <a:pPr marL="0" indent="0">
              <a:spcBef>
                <a:spcPct val="20000"/>
              </a:spcBef>
              <a:buClr>
                <a:srgbClr val="66FFFF"/>
              </a:buClr>
              <a:buSzPct val="75000"/>
              <a:buNone/>
              <a:defRPr/>
            </a:pPr>
            <a:r>
              <a:rPr lang="en-US" i="1" dirty="0" smtClean="0">
                <a:effectLst>
                  <a:outerShdw blurRad="38100" dist="38100" dir="2700000" algn="tl">
                    <a:srgbClr val="000000"/>
                  </a:outerShdw>
                </a:effectLst>
                <a:latin typeface="Book Antiqua" pitchFamily="18" charset="0"/>
              </a:rPr>
              <a:t>H</a:t>
            </a:r>
            <a:r>
              <a:rPr lang="en-US" baseline="-25000" dirty="0" smtClean="0">
                <a:effectLst>
                  <a:outerShdw blurRad="38100" dist="38100" dir="2700000" algn="tl">
                    <a:srgbClr val="000000"/>
                  </a:outerShdw>
                </a:effectLst>
                <a:latin typeface="Book Antiqua" pitchFamily="18" charset="0"/>
              </a:rPr>
              <a:t>a</a:t>
            </a:r>
            <a:r>
              <a:rPr lang="en-US" dirty="0">
                <a:effectLst>
                  <a:outerShdw blurRad="38100" dist="38100" dir="2700000" algn="tl">
                    <a:srgbClr val="000000"/>
                  </a:outerShdw>
                </a:effectLst>
                <a:latin typeface="Book Antiqua" pitchFamily="18" charset="0"/>
              </a:rPr>
              <a:t>:  </a:t>
            </a:r>
            <a:r>
              <a:rPr lang="en-US" i="1" dirty="0" smtClean="0">
                <a:effectLst>
                  <a:outerShdw blurRad="38100" dist="38100" dir="2700000" algn="tl">
                    <a:srgbClr val="000000"/>
                  </a:outerShdw>
                </a:effectLst>
                <a:latin typeface="Symbol" pitchFamily="18" charset="2"/>
              </a:rPr>
              <a:t></a:t>
            </a:r>
            <a:r>
              <a:rPr lang="en-US" baseline="-25000" dirty="0" smtClean="0">
                <a:effectLst>
                  <a:outerShdw blurRad="38100" dist="38100" dir="2700000" algn="tl">
                    <a:srgbClr val="000000"/>
                  </a:outerShdw>
                </a:effectLst>
                <a:latin typeface="Book Antiqua" pitchFamily="18" charset="0"/>
              </a:rPr>
              <a:t>1</a:t>
            </a:r>
            <a:r>
              <a:rPr lang="en-US" dirty="0" smtClean="0">
                <a:effectLst>
                  <a:outerShdw blurRad="38100" dist="38100" dir="2700000" algn="tl">
                    <a:srgbClr val="000000"/>
                  </a:outerShdw>
                </a:effectLst>
                <a:latin typeface="Book Antiqua" pitchFamily="18" charset="0"/>
              </a:rPr>
              <a:t> </a:t>
            </a:r>
            <a:r>
              <a:rPr lang="en-US" dirty="0">
                <a:effectLst>
                  <a:outerShdw blurRad="38100" dist="38100" dir="2700000" algn="tl">
                    <a:srgbClr val="000000"/>
                  </a:outerShdw>
                </a:effectLst>
                <a:latin typeface="Book Antiqua" pitchFamily="18" charset="0"/>
              </a:rPr>
              <a:t>≠ </a:t>
            </a:r>
            <a:r>
              <a:rPr lang="en-US" dirty="0" smtClean="0">
                <a:effectLst>
                  <a:outerShdw blurRad="38100" dist="38100" dir="2700000" algn="tl">
                    <a:srgbClr val="000000"/>
                  </a:outerShdw>
                </a:effectLst>
                <a:latin typeface="Book Antiqua" pitchFamily="18" charset="0"/>
              </a:rPr>
              <a:t>0                          </a:t>
            </a:r>
            <a:r>
              <a:rPr lang="en-US" i="1" dirty="0">
                <a:effectLst>
                  <a:outerShdw blurRad="38100" dist="38100" dir="2700000" algn="tl">
                    <a:srgbClr val="000000"/>
                  </a:outerShdw>
                </a:effectLst>
                <a:latin typeface="Book Antiqua" pitchFamily="18" charset="0"/>
              </a:rPr>
              <a:t>H</a:t>
            </a:r>
            <a:r>
              <a:rPr lang="en-US" baseline="-25000" dirty="0">
                <a:effectLst>
                  <a:outerShdw blurRad="38100" dist="38100" dir="2700000" algn="tl">
                    <a:srgbClr val="000000"/>
                  </a:outerShdw>
                </a:effectLst>
                <a:latin typeface="Book Antiqua" pitchFamily="18" charset="0"/>
              </a:rPr>
              <a:t>a</a:t>
            </a:r>
            <a:r>
              <a:rPr lang="en-US" dirty="0">
                <a:effectLst>
                  <a:outerShdw blurRad="38100" dist="38100" dir="2700000" algn="tl">
                    <a:srgbClr val="000000"/>
                  </a:outerShdw>
                </a:effectLst>
                <a:latin typeface="Book Antiqua" pitchFamily="18" charset="0"/>
              </a:rPr>
              <a:t>:  </a:t>
            </a:r>
            <a:r>
              <a:rPr lang="en-US" i="1" dirty="0" smtClean="0">
                <a:effectLst>
                  <a:outerShdw blurRad="38100" dist="38100" dir="2700000" algn="tl">
                    <a:srgbClr val="000000"/>
                  </a:outerShdw>
                </a:effectLst>
                <a:latin typeface="Symbol" pitchFamily="18" charset="2"/>
              </a:rPr>
              <a:t></a:t>
            </a:r>
            <a:r>
              <a:rPr lang="en-US" baseline="-25000" dirty="0" smtClean="0">
                <a:effectLst>
                  <a:outerShdw blurRad="38100" dist="38100" dir="2700000" algn="tl">
                    <a:srgbClr val="000000"/>
                  </a:outerShdw>
                </a:effectLst>
                <a:latin typeface="Book Antiqua" pitchFamily="18" charset="0"/>
              </a:rPr>
              <a:t>2</a:t>
            </a:r>
            <a:r>
              <a:rPr lang="en-US" dirty="0" smtClean="0">
                <a:effectLst>
                  <a:outerShdw blurRad="38100" dist="38100" dir="2700000" algn="tl">
                    <a:srgbClr val="000000"/>
                  </a:outerShdw>
                </a:effectLst>
                <a:latin typeface="Book Antiqua" pitchFamily="18" charset="0"/>
              </a:rPr>
              <a:t> </a:t>
            </a:r>
            <a:r>
              <a:rPr lang="en-US" dirty="0">
                <a:effectLst>
                  <a:outerShdw blurRad="38100" dist="38100" dir="2700000" algn="tl">
                    <a:srgbClr val="000000"/>
                  </a:outerShdw>
                </a:effectLst>
                <a:latin typeface="Book Antiqua" pitchFamily="18" charset="0"/>
              </a:rPr>
              <a:t>≠ </a:t>
            </a:r>
            <a:r>
              <a:rPr lang="en-US" dirty="0" smtClean="0">
                <a:effectLst>
                  <a:outerShdw blurRad="38100" dist="38100" dir="2700000" algn="tl">
                    <a:srgbClr val="000000"/>
                  </a:outerShdw>
                </a:effectLst>
                <a:latin typeface="Book Antiqua" pitchFamily="18" charset="0"/>
              </a:rPr>
              <a:t>0                                      </a:t>
            </a:r>
            <a:r>
              <a:rPr lang="en-US" i="1" dirty="0">
                <a:effectLst>
                  <a:outerShdw blurRad="38100" dist="38100" dir="2700000" algn="tl">
                    <a:srgbClr val="000000"/>
                  </a:outerShdw>
                </a:effectLst>
                <a:latin typeface="Book Antiqua" pitchFamily="18" charset="0"/>
              </a:rPr>
              <a:t>H</a:t>
            </a:r>
            <a:r>
              <a:rPr lang="en-US" baseline="-25000" dirty="0">
                <a:effectLst>
                  <a:outerShdw blurRad="38100" dist="38100" dir="2700000" algn="tl">
                    <a:srgbClr val="000000"/>
                  </a:outerShdw>
                </a:effectLst>
                <a:latin typeface="Book Antiqua" pitchFamily="18" charset="0"/>
              </a:rPr>
              <a:t>a</a:t>
            </a:r>
            <a:r>
              <a:rPr lang="en-US" dirty="0">
                <a:effectLst>
                  <a:outerShdw blurRad="38100" dist="38100" dir="2700000" algn="tl">
                    <a:srgbClr val="000000"/>
                  </a:outerShdw>
                </a:effectLst>
                <a:latin typeface="Book Antiqua" pitchFamily="18" charset="0"/>
              </a:rPr>
              <a:t>:  </a:t>
            </a:r>
            <a:r>
              <a:rPr lang="en-US" i="1" dirty="0" smtClean="0">
                <a:effectLst>
                  <a:outerShdw blurRad="38100" dist="38100" dir="2700000" algn="tl">
                    <a:srgbClr val="000000"/>
                  </a:outerShdw>
                </a:effectLst>
                <a:latin typeface="Symbol" pitchFamily="18" charset="2"/>
              </a:rPr>
              <a:t></a:t>
            </a:r>
            <a:r>
              <a:rPr lang="en-US" baseline="-25000" dirty="0" smtClean="0">
                <a:effectLst>
                  <a:outerShdw blurRad="38100" dist="38100" dir="2700000" algn="tl">
                    <a:srgbClr val="000000"/>
                  </a:outerShdw>
                </a:effectLst>
                <a:latin typeface="Book Antiqua" pitchFamily="18" charset="0"/>
              </a:rPr>
              <a:t>3</a:t>
            </a:r>
            <a:r>
              <a:rPr lang="en-US" dirty="0" smtClean="0">
                <a:effectLst>
                  <a:outerShdw blurRad="38100" dist="38100" dir="2700000" algn="tl">
                    <a:srgbClr val="000000"/>
                  </a:outerShdw>
                </a:effectLst>
                <a:latin typeface="Book Antiqua" pitchFamily="18" charset="0"/>
              </a:rPr>
              <a:t> </a:t>
            </a:r>
            <a:r>
              <a:rPr lang="en-US" dirty="0">
                <a:effectLst>
                  <a:outerShdw blurRad="38100" dist="38100" dir="2700000" algn="tl">
                    <a:srgbClr val="000000"/>
                  </a:outerShdw>
                </a:effectLst>
                <a:latin typeface="Book Antiqua" pitchFamily="18" charset="0"/>
              </a:rPr>
              <a:t>≠ 0</a:t>
            </a:r>
          </a:p>
          <a:p>
            <a:pPr marL="0" indent="0">
              <a:spcBef>
                <a:spcPct val="20000"/>
              </a:spcBef>
              <a:buClr>
                <a:srgbClr val="66FFFF"/>
              </a:buClr>
              <a:buSzPct val="75000"/>
              <a:buNone/>
              <a:defRPr/>
            </a:pPr>
            <a:r>
              <a:rPr lang="en-US" dirty="0" smtClean="0">
                <a:effectLst>
                  <a:outerShdw blurRad="38100" dist="38100" dir="2700000" algn="tl">
                    <a:srgbClr val="000000"/>
                  </a:outerShdw>
                </a:effectLst>
                <a:latin typeface="Book Antiqua" pitchFamily="18" charset="0"/>
              </a:rPr>
              <a:t>p-value = 0.00…              p-value = 0.52                              p-value = 0.00…</a:t>
            </a:r>
            <a:endParaRPr lang="en-US" dirty="0">
              <a:effectLst>
                <a:outerShdw blurRad="38100" dist="38100" dir="2700000" algn="tl">
                  <a:srgbClr val="000000"/>
                </a:outerShdw>
              </a:effectLst>
              <a:latin typeface="Book Antiqua" pitchFamily="18" charset="0"/>
            </a:endParaRPr>
          </a:p>
          <a:p>
            <a:pPr marL="0" indent="0">
              <a:spcBef>
                <a:spcPct val="20000"/>
              </a:spcBef>
              <a:buClr>
                <a:srgbClr val="66FFFF"/>
              </a:buClr>
              <a:buSzPct val="75000"/>
              <a:buNone/>
              <a:defRPr/>
            </a:pPr>
            <a:r>
              <a:rPr lang="en-US" dirty="0" smtClean="0">
                <a:effectLst>
                  <a:outerShdw blurRad="38100" dist="38100" dir="2700000" algn="tl">
                    <a:srgbClr val="000000"/>
                  </a:outerShdw>
                </a:effectLst>
                <a:latin typeface="Book Antiqua" pitchFamily="18" charset="0"/>
              </a:rPr>
              <a:t>Reject H0                           fail to reject H0                            Reject H0</a:t>
            </a:r>
            <a:endParaRPr lang="en-US" dirty="0">
              <a:effectLst>
                <a:outerShdw blurRad="38100" dist="38100" dir="2700000" algn="tl">
                  <a:srgbClr val="000000"/>
                </a:outerShdw>
              </a:effectLst>
              <a:latin typeface="Book Antiqua" pitchFamily="18" charset="0"/>
            </a:endParaRPr>
          </a:p>
          <a:p>
            <a:pPr marL="0" indent="0">
              <a:buNone/>
            </a:pPr>
            <a:r>
              <a:rPr lang="en-US" dirty="0" smtClean="0"/>
              <a:t>Peer and </a:t>
            </a:r>
            <a:r>
              <a:rPr lang="en-US" dirty="0" err="1" smtClean="0"/>
              <a:t>CtoF</a:t>
            </a:r>
            <a:r>
              <a:rPr lang="en-US" dirty="0" smtClean="0"/>
              <a:t> variables have significant linear relationships with Score.</a:t>
            </a:r>
          </a:p>
          <a:p>
            <a:pPr marL="0" indent="0">
              <a:buNone/>
            </a:pPr>
            <a:r>
              <a:rPr lang="en-US" dirty="0" smtClean="0"/>
              <a:t>Faculty-to-Student ratio has no significant linear relationship with Score.</a:t>
            </a:r>
            <a:endParaRPr lang="en-US" dirty="0"/>
          </a:p>
          <a:p>
            <a:pPr marL="0" indent="0">
              <a:buNone/>
            </a:pPr>
            <a:endParaRPr lang="en-US" dirty="0"/>
          </a:p>
        </p:txBody>
      </p:sp>
    </p:spTree>
    <p:extLst>
      <p:ext uri="{BB962C8B-B14F-4D97-AF65-F5344CB8AC3E}">
        <p14:creationId xmlns:p14="http://schemas.microsoft.com/office/powerpoint/2010/main" val="41189193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63513" y="130175"/>
            <a:ext cx="8980487" cy="522288"/>
          </a:xfrm>
        </p:spPr>
        <p:txBody>
          <a:bodyPr/>
          <a:lstStyle/>
          <a:p>
            <a:r>
              <a:rPr lang="en-US" sz="3200" dirty="0" smtClean="0"/>
              <a:t>Model Selection: selecting “best” model</a:t>
            </a:r>
            <a:endParaRPr lang="en-US" sz="3200" dirty="0"/>
          </a:p>
        </p:txBody>
      </p:sp>
      <p:sp>
        <p:nvSpPr>
          <p:cNvPr id="3" name="Content Placeholder 2"/>
          <p:cNvSpPr>
            <a:spLocks noGrp="1"/>
          </p:cNvSpPr>
          <p:nvPr>
            <p:ph sz="quarter" idx="11"/>
          </p:nvPr>
        </p:nvSpPr>
        <p:spPr/>
        <p:txBody>
          <a:bodyPr/>
          <a:lstStyle/>
          <a:p>
            <a:pPr marL="0" indent="0">
              <a:buNone/>
            </a:pPr>
            <a:r>
              <a:rPr lang="en-US" dirty="0" smtClean="0"/>
              <a:t>There are various methods for model selection with different criterions.</a:t>
            </a:r>
          </a:p>
          <a:p>
            <a:pPr marL="0" indent="0">
              <a:buNone/>
            </a:pPr>
            <a:r>
              <a:rPr lang="en-US" dirty="0" smtClean="0"/>
              <a:t>We will cover only stepwise selection with </a:t>
            </a:r>
            <a:r>
              <a:rPr lang="en-US" b="1" i="1" dirty="0" smtClean="0"/>
              <a:t>backward elimination </a:t>
            </a:r>
            <a:r>
              <a:rPr lang="en-US" dirty="0" smtClean="0"/>
              <a:t>using p-value criterion. </a:t>
            </a:r>
          </a:p>
          <a:p>
            <a:pPr marL="0" indent="0" algn="ctr">
              <a:buNone/>
            </a:pPr>
            <a:r>
              <a:rPr lang="en-US" b="1" dirty="0" smtClean="0"/>
              <a:t>Steps of selecting the “best” model.</a:t>
            </a:r>
          </a:p>
          <a:p>
            <a:pPr marL="0" indent="0">
              <a:buNone/>
            </a:pPr>
            <a:r>
              <a:rPr lang="en-US" dirty="0" smtClean="0"/>
              <a:t>Step 1. Run regression using all independent variables.</a:t>
            </a:r>
          </a:p>
          <a:p>
            <a:pPr marL="0" indent="0">
              <a:buNone/>
            </a:pPr>
            <a:r>
              <a:rPr lang="en-US" dirty="0" smtClean="0"/>
              <a:t>Step 2. Remove only one variable with the highest p-value.</a:t>
            </a:r>
          </a:p>
          <a:p>
            <a:pPr marL="0" indent="0">
              <a:buNone/>
            </a:pPr>
            <a:r>
              <a:rPr lang="en-US" dirty="0" smtClean="0"/>
              <a:t>Step 3. Rerun the regression. Continue until all independent variables are significant.</a:t>
            </a:r>
          </a:p>
          <a:p>
            <a:pPr marL="0" indent="0">
              <a:buNone/>
            </a:pPr>
            <a:r>
              <a:rPr lang="en-US" b="1" dirty="0" smtClean="0"/>
              <a:t>Note: </a:t>
            </a:r>
            <a:r>
              <a:rPr lang="en-US" dirty="0" smtClean="0"/>
              <a:t>You cannot remove one level of categorical variable if that is not significant. You either remove all at once or keep them all in the model. As long as one of the dummy variables is significant they all should be in the model.</a:t>
            </a:r>
            <a:endParaRPr lang="en-US" dirty="0"/>
          </a:p>
        </p:txBody>
      </p:sp>
    </p:spTree>
    <p:extLst>
      <p:ext uri="{BB962C8B-B14F-4D97-AF65-F5344CB8AC3E}">
        <p14:creationId xmlns:p14="http://schemas.microsoft.com/office/powerpoint/2010/main" val="15320327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a:xfrm>
            <a:off x="163513" y="130175"/>
            <a:ext cx="8514661" cy="522288"/>
          </a:xfrm>
        </p:spPr>
        <p:txBody>
          <a:bodyPr/>
          <a:lstStyle/>
          <a:p>
            <a:r>
              <a:rPr lang="en-US" sz="2400" dirty="0" smtClean="0"/>
              <a:t>Example : “Best” model for predicting movie revenue </a:t>
            </a:r>
            <a:endParaRPr lang="en-US" sz="2400" dirty="0"/>
          </a:p>
        </p:txBody>
      </p:sp>
      <p:sp>
        <p:nvSpPr>
          <p:cNvPr id="3" name="Content Placeholder 2"/>
          <p:cNvSpPr>
            <a:spLocks noGrp="1"/>
          </p:cNvSpPr>
          <p:nvPr>
            <p:ph sz="quarter" idx="11"/>
          </p:nvPr>
        </p:nvSpPr>
        <p:spPr>
          <a:xfrm>
            <a:off x="538163" y="1143000"/>
            <a:ext cx="8209022" cy="5005388"/>
          </a:xfrm>
        </p:spPr>
        <p:txBody>
          <a:bodyPr/>
          <a:lstStyle/>
          <a:p>
            <a:pPr marL="0" indent="0">
              <a:buNone/>
            </a:pPr>
            <a:r>
              <a:rPr lang="en-US" dirty="0" smtClean="0"/>
              <a:t>38 random movies were selected to develop a model for predicting their revenues.</a:t>
            </a:r>
          </a:p>
          <a:p>
            <a:pPr marL="0" indent="0">
              <a:buNone/>
            </a:pPr>
            <a:r>
              <a:rPr lang="en-US" dirty="0" smtClean="0"/>
              <a:t>We have the following variables in the dataset:</a:t>
            </a:r>
          </a:p>
          <a:p>
            <a:r>
              <a:rPr lang="en-US" i="1" dirty="0" err="1" smtClean="0"/>
              <a:t>USRevenue</a:t>
            </a:r>
            <a:r>
              <a:rPr lang="en-US" dirty="0" smtClean="0"/>
              <a:t> – movie’s revenue in the US (</a:t>
            </a:r>
            <a:r>
              <a:rPr lang="en-US" dirty="0" err="1" smtClean="0"/>
              <a:t>mln</a:t>
            </a:r>
            <a:r>
              <a:rPr lang="en-US" dirty="0" smtClean="0"/>
              <a:t> $)</a:t>
            </a:r>
          </a:p>
          <a:p>
            <a:r>
              <a:rPr lang="en-US" i="1" dirty="0" smtClean="0"/>
              <a:t>Rating</a:t>
            </a:r>
            <a:r>
              <a:rPr lang="en-US" dirty="0" smtClean="0"/>
              <a:t> – restrictions based on age (PG, PG-13, R)</a:t>
            </a:r>
          </a:p>
          <a:p>
            <a:r>
              <a:rPr lang="en-US" i="1" dirty="0" smtClean="0"/>
              <a:t>Budget</a:t>
            </a:r>
            <a:r>
              <a:rPr lang="en-US" dirty="0" smtClean="0"/>
              <a:t> – budget (expenditure) of the movie (</a:t>
            </a:r>
            <a:r>
              <a:rPr lang="en-US" dirty="0" err="1" smtClean="0"/>
              <a:t>mln</a:t>
            </a:r>
            <a:r>
              <a:rPr lang="en-US" dirty="0" smtClean="0"/>
              <a:t> $)</a:t>
            </a:r>
          </a:p>
          <a:p>
            <a:r>
              <a:rPr lang="en-US" i="1" dirty="0" smtClean="0"/>
              <a:t>Opening</a:t>
            </a:r>
            <a:r>
              <a:rPr lang="en-US" dirty="0" smtClean="0"/>
              <a:t> – revenue on the opening weekend (</a:t>
            </a:r>
            <a:r>
              <a:rPr lang="en-US" dirty="0" err="1" smtClean="0"/>
              <a:t>mln</a:t>
            </a:r>
            <a:r>
              <a:rPr lang="en-US" dirty="0" smtClean="0"/>
              <a:t>$)</a:t>
            </a:r>
          </a:p>
          <a:p>
            <a:r>
              <a:rPr lang="en-US" i="1" dirty="0" smtClean="0"/>
              <a:t>Theaters</a:t>
            </a:r>
            <a:r>
              <a:rPr lang="en-US" dirty="0" smtClean="0"/>
              <a:t> – number of theaters the movie was in for the opening weekend</a:t>
            </a:r>
          </a:p>
          <a:p>
            <a:r>
              <a:rPr lang="en-US" i="1" dirty="0" smtClean="0"/>
              <a:t>Opinion</a:t>
            </a:r>
            <a:r>
              <a:rPr lang="en-US" dirty="0" smtClean="0"/>
              <a:t> – </a:t>
            </a:r>
            <a:r>
              <a:rPr lang="en-US" dirty="0" err="1" smtClean="0"/>
              <a:t>IMDb</a:t>
            </a:r>
            <a:r>
              <a:rPr lang="en-US" dirty="0" smtClean="0"/>
              <a:t> rating (1 to 10, 10 being the best)</a:t>
            </a:r>
            <a:endParaRPr lang="en-US"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3032" y="1058892"/>
            <a:ext cx="2982949" cy="1600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993032" y="2676345"/>
            <a:ext cx="2982950" cy="1847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554948" y="4524195"/>
            <a:ext cx="1421033" cy="20627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197"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993032" y="4524196"/>
            <a:ext cx="1561916" cy="22128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1309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sz="quarter" idx="11"/>
          </p:nvPr>
        </p:nvSpPr>
        <p:spPr>
          <a:xfrm>
            <a:off x="284671" y="1013675"/>
            <a:ext cx="11645661" cy="5005388"/>
          </a:xfrm>
        </p:spPr>
        <p:txBody>
          <a:bodyPr/>
          <a:lstStyle/>
          <a:p>
            <a:pPr marL="0" indent="0">
              <a:buNone/>
            </a:pPr>
            <a:r>
              <a:rPr lang="en-US" dirty="0" err="1" smtClean="0"/>
              <a:t>USRevenue</a:t>
            </a:r>
            <a:r>
              <a:rPr lang="en-US" dirty="0" smtClean="0"/>
              <a:t> = </a:t>
            </a:r>
            <a:r>
              <a:rPr lang="el-GR" dirty="0">
                <a:latin typeface="Times New Roman"/>
                <a:cs typeface="Times New Roman"/>
              </a:rPr>
              <a:t>β</a:t>
            </a:r>
            <a:r>
              <a:rPr lang="en-US" baseline="-25000" dirty="0">
                <a:latin typeface="Times New Roman"/>
                <a:cs typeface="Times New Roman"/>
              </a:rPr>
              <a:t>0</a:t>
            </a:r>
            <a:r>
              <a:rPr lang="en-US" dirty="0">
                <a:latin typeface="Times New Roman"/>
                <a:cs typeface="Times New Roman"/>
              </a:rPr>
              <a:t> + </a:t>
            </a:r>
            <a:r>
              <a:rPr lang="el-GR" dirty="0">
                <a:latin typeface="Times New Roman"/>
                <a:cs typeface="Times New Roman"/>
              </a:rPr>
              <a:t>β</a:t>
            </a:r>
            <a:r>
              <a:rPr lang="en-US" baseline="-25000" dirty="0" smtClean="0">
                <a:latin typeface="Times New Roman"/>
                <a:cs typeface="Times New Roman"/>
              </a:rPr>
              <a:t>1</a:t>
            </a:r>
            <a:r>
              <a:rPr lang="en-US" dirty="0" smtClean="0">
                <a:latin typeface="Times New Roman"/>
                <a:cs typeface="Times New Roman"/>
              </a:rPr>
              <a:t>*Budget</a:t>
            </a:r>
            <a:r>
              <a:rPr lang="en-US" baseline="-25000" dirty="0" smtClean="0">
                <a:latin typeface="Times New Roman"/>
                <a:cs typeface="Times New Roman"/>
              </a:rPr>
              <a:t> </a:t>
            </a:r>
            <a:r>
              <a:rPr lang="en-US" dirty="0">
                <a:latin typeface="Times New Roman"/>
                <a:cs typeface="Times New Roman"/>
              </a:rPr>
              <a:t>+ </a:t>
            </a:r>
            <a:r>
              <a:rPr lang="el-GR" dirty="0">
                <a:latin typeface="Times New Roman"/>
                <a:cs typeface="Times New Roman"/>
              </a:rPr>
              <a:t>β</a:t>
            </a:r>
            <a:r>
              <a:rPr lang="en-US" baseline="-25000" dirty="0" smtClean="0">
                <a:latin typeface="Times New Roman"/>
                <a:cs typeface="Times New Roman"/>
              </a:rPr>
              <a:t>2</a:t>
            </a:r>
            <a:r>
              <a:rPr lang="en-US" dirty="0" smtClean="0">
                <a:latin typeface="Times New Roman"/>
                <a:cs typeface="Times New Roman"/>
              </a:rPr>
              <a:t>*Opening </a:t>
            </a:r>
            <a:r>
              <a:rPr lang="en-US" dirty="0">
                <a:latin typeface="Times New Roman"/>
                <a:cs typeface="Times New Roman"/>
              </a:rPr>
              <a:t>+ </a:t>
            </a:r>
            <a:r>
              <a:rPr lang="el-GR" dirty="0">
                <a:latin typeface="Times New Roman"/>
                <a:cs typeface="Times New Roman"/>
              </a:rPr>
              <a:t>β</a:t>
            </a:r>
            <a:r>
              <a:rPr lang="en-US" baseline="-25000" dirty="0" smtClean="0">
                <a:latin typeface="Times New Roman"/>
                <a:cs typeface="Times New Roman"/>
              </a:rPr>
              <a:t>3</a:t>
            </a:r>
            <a:r>
              <a:rPr lang="en-US" dirty="0" smtClean="0">
                <a:latin typeface="Times New Roman"/>
                <a:cs typeface="Times New Roman"/>
              </a:rPr>
              <a:t>*Theaters</a:t>
            </a:r>
            <a:r>
              <a:rPr lang="en-US" baseline="-25000" dirty="0" smtClean="0">
                <a:latin typeface="Times New Roman"/>
                <a:cs typeface="Times New Roman"/>
              </a:rPr>
              <a:t> </a:t>
            </a:r>
            <a:r>
              <a:rPr lang="en-US" dirty="0">
                <a:latin typeface="Times New Roman"/>
                <a:cs typeface="Times New Roman"/>
              </a:rPr>
              <a:t>+ </a:t>
            </a:r>
            <a:r>
              <a:rPr lang="el-GR" dirty="0">
                <a:latin typeface="Times New Roman"/>
                <a:cs typeface="Times New Roman"/>
              </a:rPr>
              <a:t>β</a:t>
            </a:r>
            <a:r>
              <a:rPr lang="en-US" baseline="-25000" dirty="0" smtClean="0">
                <a:latin typeface="Times New Roman"/>
                <a:cs typeface="Times New Roman"/>
              </a:rPr>
              <a:t>4</a:t>
            </a:r>
            <a:r>
              <a:rPr lang="en-US" dirty="0" smtClean="0">
                <a:latin typeface="Times New Roman"/>
                <a:cs typeface="Times New Roman"/>
              </a:rPr>
              <a:t>*Opinion </a:t>
            </a:r>
            <a:r>
              <a:rPr lang="en-US" dirty="0">
                <a:latin typeface="Times New Roman"/>
                <a:cs typeface="Times New Roman"/>
              </a:rPr>
              <a:t>+ </a:t>
            </a:r>
            <a:r>
              <a:rPr lang="el-GR" dirty="0">
                <a:latin typeface="Times New Roman"/>
                <a:cs typeface="Times New Roman"/>
              </a:rPr>
              <a:t>β</a:t>
            </a:r>
            <a:r>
              <a:rPr lang="en-US" baseline="-25000" dirty="0" smtClean="0">
                <a:latin typeface="Times New Roman"/>
                <a:cs typeface="Times New Roman"/>
              </a:rPr>
              <a:t>5</a:t>
            </a:r>
            <a:r>
              <a:rPr lang="en-US" dirty="0" smtClean="0">
                <a:latin typeface="Times New Roman"/>
                <a:cs typeface="Times New Roman"/>
              </a:rPr>
              <a:t>PG</a:t>
            </a:r>
            <a:r>
              <a:rPr lang="en-US" baseline="-25000" dirty="0" smtClean="0">
                <a:latin typeface="Times New Roman"/>
                <a:cs typeface="Times New Roman"/>
              </a:rPr>
              <a:t> </a:t>
            </a:r>
            <a:r>
              <a:rPr lang="en-US" dirty="0">
                <a:latin typeface="Times New Roman"/>
                <a:cs typeface="Times New Roman"/>
              </a:rPr>
              <a:t>+ </a:t>
            </a:r>
            <a:r>
              <a:rPr lang="el-GR" dirty="0">
                <a:latin typeface="Times New Roman"/>
                <a:cs typeface="Times New Roman"/>
              </a:rPr>
              <a:t>β</a:t>
            </a:r>
            <a:r>
              <a:rPr lang="en-US" baseline="-25000" dirty="0" smtClean="0">
                <a:latin typeface="Times New Roman"/>
                <a:cs typeface="Times New Roman"/>
              </a:rPr>
              <a:t>5</a:t>
            </a:r>
            <a:r>
              <a:rPr lang="en-US" dirty="0" smtClean="0">
                <a:latin typeface="Times New Roman"/>
                <a:cs typeface="Times New Roman"/>
              </a:rPr>
              <a:t>R</a:t>
            </a:r>
            <a:r>
              <a:rPr lang="en-US" baseline="-25000" dirty="0" smtClean="0">
                <a:latin typeface="Times New Roman"/>
                <a:cs typeface="Times New Roman"/>
              </a:rPr>
              <a:t> </a:t>
            </a:r>
            <a:r>
              <a:rPr lang="en-US" dirty="0">
                <a:latin typeface="Times New Roman"/>
                <a:cs typeface="Times New Roman"/>
              </a:rPr>
              <a:t>+ </a:t>
            </a:r>
            <a:r>
              <a:rPr lang="el-GR" dirty="0" smtClean="0">
                <a:latin typeface="Times New Roman"/>
                <a:cs typeface="Times New Roman"/>
              </a:rPr>
              <a:t>ε</a:t>
            </a:r>
            <a:endParaRPr lang="en-US" dirty="0">
              <a:latin typeface="Times New Roman"/>
              <a:cs typeface="Times New Roman"/>
            </a:endParaRPr>
          </a:p>
          <a:p>
            <a:pPr marL="0" indent="0">
              <a:buNone/>
            </a:pPr>
            <a:r>
              <a:rPr lang="en-US" dirty="0" smtClean="0"/>
              <a:t>Step 1. Run Regression including all variables (</a:t>
            </a:r>
            <a:r>
              <a:rPr lang="el-GR" dirty="0" smtClean="0">
                <a:latin typeface="Times New Roman"/>
                <a:cs typeface="Times New Roman"/>
              </a:rPr>
              <a:t>α</a:t>
            </a:r>
            <a:r>
              <a:rPr lang="en-US" dirty="0" smtClean="0">
                <a:latin typeface="Times New Roman"/>
                <a:cs typeface="Times New Roman"/>
              </a:rPr>
              <a:t> = 0.05)</a:t>
            </a:r>
            <a:r>
              <a:rPr lang="en-US" dirty="0" smtClean="0"/>
              <a:t>:</a:t>
            </a:r>
          </a:p>
          <a:p>
            <a:pPr marL="0" indent="0">
              <a:buNone/>
            </a:pPr>
            <a:endParaRPr lang="en-US" dirty="0"/>
          </a:p>
          <a:p>
            <a:pPr marL="0" indent="0">
              <a:buNone/>
            </a:pPr>
            <a:endParaRPr lang="en-US" dirty="0" smtClean="0"/>
          </a:p>
          <a:p>
            <a:pPr marL="0" indent="0">
              <a:buNone/>
            </a:pPr>
            <a:endParaRPr lang="en-US" dirty="0"/>
          </a:p>
          <a:p>
            <a:pPr marL="0" indent="0">
              <a:buNone/>
            </a:pPr>
            <a:endParaRPr lang="en-US" dirty="0" smtClean="0"/>
          </a:p>
          <a:p>
            <a:pPr marL="0" indent="0">
              <a:buNone/>
            </a:pPr>
            <a:r>
              <a:rPr lang="en-US" dirty="0" smtClean="0"/>
              <a:t>Step 2. Rerun regression without Budget variable: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836700040"/>
              </p:ext>
            </p:extLst>
          </p:nvPr>
        </p:nvGraphicFramePr>
        <p:xfrm>
          <a:off x="465826" y="1880560"/>
          <a:ext cx="4899803" cy="1783080"/>
        </p:xfrm>
        <a:graphic>
          <a:graphicData uri="http://schemas.openxmlformats.org/drawingml/2006/table">
            <a:tbl>
              <a:tblPr>
                <a:tableStyleId>{5C22544A-7EE6-4342-B048-85BDC9FD1C3A}</a:tableStyleId>
              </a:tblPr>
              <a:tblGrid>
                <a:gridCol w="1476865"/>
                <a:gridCol w="1915308"/>
                <a:gridCol w="1507630"/>
              </a:tblGrid>
              <a:tr h="201462">
                <a:tc>
                  <a:txBody>
                    <a:bodyPr/>
                    <a:lstStyle/>
                    <a:p>
                      <a:pPr algn="ctr" fontAlgn="b"/>
                      <a:r>
                        <a:rPr lang="en-US" sz="1400" u="none" strike="noStrike" dirty="0">
                          <a:effectLst/>
                        </a:rPr>
                        <a:t> </a:t>
                      </a:r>
                      <a:endParaRPr lang="en-US" sz="1400" b="0" i="1" u="none" strike="noStrike" dirty="0">
                        <a:solidFill>
                          <a:srgbClr val="000000"/>
                        </a:solidFill>
                        <a:effectLst/>
                        <a:latin typeface="Calibri"/>
                      </a:endParaRPr>
                    </a:p>
                  </a:txBody>
                  <a:tcPr marL="9525" marR="9525" marT="9525" marB="0" anchor="b"/>
                </a:tc>
                <a:tc>
                  <a:txBody>
                    <a:bodyPr/>
                    <a:lstStyle/>
                    <a:p>
                      <a:pPr algn="ctr" fontAlgn="b"/>
                      <a:r>
                        <a:rPr lang="en-US" sz="1400" u="none" strike="noStrike">
                          <a:effectLst/>
                        </a:rPr>
                        <a:t>Coefficients</a:t>
                      </a:r>
                      <a:endParaRPr lang="en-US" sz="1400" b="0" i="1" u="none" strike="noStrike">
                        <a:solidFill>
                          <a:srgbClr val="000000"/>
                        </a:solidFill>
                        <a:effectLst/>
                        <a:latin typeface="Calibri"/>
                      </a:endParaRPr>
                    </a:p>
                  </a:txBody>
                  <a:tcPr marL="9525" marR="9525" marT="9525" marB="0" anchor="b"/>
                </a:tc>
                <a:tc>
                  <a:txBody>
                    <a:bodyPr/>
                    <a:lstStyle/>
                    <a:p>
                      <a:pPr algn="ctr" fontAlgn="b"/>
                      <a:r>
                        <a:rPr lang="en-US" sz="1400" u="none" strike="noStrike" dirty="0">
                          <a:effectLst/>
                        </a:rPr>
                        <a:t>P-value</a:t>
                      </a:r>
                      <a:endParaRPr lang="en-US" sz="1400" b="0" i="1" u="none" strike="noStrike" dirty="0">
                        <a:solidFill>
                          <a:srgbClr val="000000"/>
                        </a:solidFill>
                        <a:effectLst/>
                        <a:latin typeface="Calibri"/>
                      </a:endParaRPr>
                    </a:p>
                  </a:txBody>
                  <a:tcPr marL="9525" marR="9525" marT="9525" marB="0" anchor="b"/>
                </a:tc>
              </a:tr>
              <a:tr h="201462">
                <a:tc>
                  <a:txBody>
                    <a:bodyPr/>
                    <a:lstStyle/>
                    <a:p>
                      <a:pPr algn="l" fontAlgn="b"/>
                      <a:r>
                        <a:rPr lang="en-US" sz="1400" u="none" strike="noStrike" dirty="0">
                          <a:effectLst/>
                        </a:rPr>
                        <a:t>Intercept</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-587.622</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a:effectLst/>
                        </a:rPr>
                        <a:t>0.003</a:t>
                      </a:r>
                      <a:endParaRPr lang="en-US" sz="1400" b="0" i="0" u="none" strike="noStrike">
                        <a:solidFill>
                          <a:srgbClr val="000000"/>
                        </a:solidFill>
                        <a:effectLst/>
                        <a:latin typeface="Calibri"/>
                      </a:endParaRPr>
                    </a:p>
                  </a:txBody>
                  <a:tcPr marL="9525" marR="9525" marT="9525" marB="0" anchor="b"/>
                </a:tc>
              </a:tr>
              <a:tr h="201462">
                <a:tc>
                  <a:txBody>
                    <a:bodyPr/>
                    <a:lstStyle/>
                    <a:p>
                      <a:pPr algn="l" fontAlgn="b"/>
                      <a:r>
                        <a:rPr lang="en-US" sz="1400" u="none" strike="noStrike" dirty="0">
                          <a:effectLst/>
                        </a:rPr>
                        <a:t>Budget</a:t>
                      </a:r>
                      <a:endParaRPr lang="en-US" sz="1400" b="0" i="0" u="none" strike="noStrike" dirty="0">
                        <a:solidFill>
                          <a:srgbClr val="000000"/>
                        </a:solidFill>
                        <a:effectLst/>
                        <a:latin typeface="Calibri"/>
                      </a:endParaRPr>
                    </a:p>
                  </a:txBody>
                  <a:tcPr marL="9525" marR="9525" marT="9525" marB="0" anchor="b">
                    <a:solidFill>
                      <a:srgbClr val="FF0000"/>
                    </a:solidFill>
                  </a:tcPr>
                </a:tc>
                <a:tc>
                  <a:txBody>
                    <a:bodyPr/>
                    <a:lstStyle/>
                    <a:p>
                      <a:pPr algn="r" fontAlgn="b"/>
                      <a:r>
                        <a:rPr lang="en-US" sz="1400" u="none" strike="noStrike">
                          <a:effectLst/>
                        </a:rPr>
                        <a:t>0.161</a:t>
                      </a:r>
                      <a:endParaRPr lang="en-US" sz="1400" b="0" i="0" u="none" strike="noStrike">
                        <a:solidFill>
                          <a:srgbClr val="000000"/>
                        </a:solidFill>
                        <a:effectLst/>
                        <a:latin typeface="Calibri"/>
                      </a:endParaRPr>
                    </a:p>
                  </a:txBody>
                  <a:tcPr marL="9525" marR="9525" marT="9525" marB="0" anchor="b">
                    <a:solidFill>
                      <a:srgbClr val="FF0000"/>
                    </a:solidFill>
                  </a:tcPr>
                </a:tc>
                <a:tc>
                  <a:txBody>
                    <a:bodyPr/>
                    <a:lstStyle/>
                    <a:p>
                      <a:pPr algn="r" fontAlgn="b"/>
                      <a:r>
                        <a:rPr lang="en-US" sz="1400" u="none" strike="noStrike" dirty="0">
                          <a:effectLst/>
                        </a:rPr>
                        <a:t>0.787</a:t>
                      </a:r>
                      <a:endParaRPr lang="en-US" sz="1400" b="0" i="0" u="none" strike="noStrike" dirty="0">
                        <a:solidFill>
                          <a:srgbClr val="000000"/>
                        </a:solidFill>
                        <a:effectLst/>
                        <a:latin typeface="Calibri"/>
                      </a:endParaRPr>
                    </a:p>
                  </a:txBody>
                  <a:tcPr marL="9525" marR="9525" marT="9525" marB="0" anchor="b">
                    <a:solidFill>
                      <a:srgbClr val="FF0000"/>
                    </a:solidFill>
                  </a:tcPr>
                </a:tc>
              </a:tr>
              <a:tr h="201462">
                <a:tc>
                  <a:txBody>
                    <a:bodyPr/>
                    <a:lstStyle/>
                    <a:p>
                      <a:pPr algn="l" fontAlgn="b"/>
                      <a:r>
                        <a:rPr lang="en-US" sz="1400" u="none" strike="noStrike" dirty="0">
                          <a:effectLst/>
                        </a:rPr>
                        <a:t>Opening</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dirty="0">
                          <a:effectLst/>
                        </a:rPr>
                        <a:t>1.584</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0.043</a:t>
                      </a:r>
                      <a:endParaRPr lang="en-US" sz="1400" b="0" i="0" u="none" strike="noStrike">
                        <a:solidFill>
                          <a:srgbClr val="000000"/>
                        </a:solidFill>
                        <a:effectLst/>
                        <a:latin typeface="Calibri"/>
                      </a:endParaRPr>
                    </a:p>
                  </a:txBody>
                  <a:tcPr marL="9525" marR="9525" marT="9525" marB="0" anchor="b"/>
                </a:tc>
              </a:tr>
              <a:tr h="201462">
                <a:tc>
                  <a:txBody>
                    <a:bodyPr/>
                    <a:lstStyle/>
                    <a:p>
                      <a:pPr algn="l" fontAlgn="b"/>
                      <a:r>
                        <a:rPr lang="en-US" sz="1400" u="none" strike="noStrike" dirty="0">
                          <a:effectLst/>
                        </a:rPr>
                        <a:t>Theaters</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dirty="0">
                          <a:effectLst/>
                        </a:rPr>
                        <a:t>0.086</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0.013</a:t>
                      </a:r>
                      <a:endParaRPr lang="en-US" sz="1400" b="0" i="0" u="none" strike="noStrike">
                        <a:solidFill>
                          <a:srgbClr val="000000"/>
                        </a:solidFill>
                        <a:effectLst/>
                        <a:latin typeface="Calibri"/>
                      </a:endParaRPr>
                    </a:p>
                  </a:txBody>
                  <a:tcPr marL="9525" marR="9525" marT="9525" marB="0" anchor="b"/>
                </a:tc>
              </a:tr>
              <a:tr h="201462">
                <a:tc>
                  <a:txBody>
                    <a:bodyPr/>
                    <a:lstStyle/>
                    <a:p>
                      <a:pPr algn="l" fontAlgn="b"/>
                      <a:r>
                        <a:rPr lang="en-US" sz="1400" u="none" strike="noStrike">
                          <a:effectLst/>
                        </a:rPr>
                        <a:t>Opinion</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dirty="0">
                          <a:effectLst/>
                        </a:rPr>
                        <a:t>61.354</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0.014</a:t>
                      </a:r>
                      <a:endParaRPr lang="en-US" sz="1400" b="0" i="0" u="none" strike="noStrike">
                        <a:solidFill>
                          <a:srgbClr val="000000"/>
                        </a:solidFill>
                        <a:effectLst/>
                        <a:latin typeface="Calibri"/>
                      </a:endParaRPr>
                    </a:p>
                  </a:txBody>
                  <a:tcPr marL="9525" marR="9525" marT="9525" marB="0" anchor="b"/>
                </a:tc>
              </a:tr>
              <a:tr h="201462">
                <a:tc>
                  <a:txBody>
                    <a:bodyPr/>
                    <a:lstStyle/>
                    <a:p>
                      <a:pPr algn="l" fontAlgn="b"/>
                      <a:r>
                        <a:rPr lang="en-US" sz="1400" u="none" strike="noStrike">
                          <a:effectLst/>
                        </a:rPr>
                        <a:t>PG</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dirty="0">
                          <a:effectLst/>
                        </a:rPr>
                        <a:t>-120.303</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0.172</a:t>
                      </a:r>
                      <a:endParaRPr lang="en-US" sz="1400" b="0" i="0" u="none" strike="noStrike">
                        <a:solidFill>
                          <a:srgbClr val="000000"/>
                        </a:solidFill>
                        <a:effectLst/>
                        <a:latin typeface="Calibri"/>
                      </a:endParaRPr>
                    </a:p>
                  </a:txBody>
                  <a:tcPr marL="9525" marR="9525" marT="9525" marB="0" anchor="b"/>
                </a:tc>
              </a:tr>
              <a:tr h="211534">
                <a:tc>
                  <a:txBody>
                    <a:bodyPr/>
                    <a:lstStyle/>
                    <a:p>
                      <a:pPr algn="l" fontAlgn="b"/>
                      <a:r>
                        <a:rPr lang="en-US" sz="1400" u="none" strike="noStrike">
                          <a:effectLst/>
                        </a:rPr>
                        <a:t>R</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dirty="0">
                          <a:effectLst/>
                        </a:rPr>
                        <a:t>49.822</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dirty="0">
                          <a:effectLst/>
                        </a:rPr>
                        <a:t>0.397</a:t>
                      </a:r>
                      <a:endParaRPr lang="en-US" sz="1400" b="0" i="0" u="none" strike="noStrike" dirty="0">
                        <a:solidFill>
                          <a:srgbClr val="000000"/>
                        </a:solidFill>
                        <a:effectLst/>
                        <a:latin typeface="Calibri"/>
                      </a:endParaRPr>
                    </a:p>
                  </a:txBody>
                  <a:tcPr marL="9525" marR="9525" marT="9525" marB="0" anchor="b"/>
                </a:tc>
              </a:tr>
            </a:tbl>
          </a:graphicData>
        </a:graphic>
      </p:graphicFrame>
      <p:sp>
        <p:nvSpPr>
          <p:cNvPr id="5" name="TextBox 4"/>
          <p:cNvSpPr txBox="1"/>
          <p:nvPr/>
        </p:nvSpPr>
        <p:spPr>
          <a:xfrm>
            <a:off x="5762444" y="2143166"/>
            <a:ext cx="4830793" cy="369332"/>
          </a:xfrm>
          <a:prstGeom prst="rect">
            <a:avLst/>
          </a:prstGeom>
          <a:noFill/>
        </p:spPr>
        <p:txBody>
          <a:bodyPr wrap="square" rtlCol="0">
            <a:spAutoFit/>
          </a:bodyPr>
          <a:lstStyle/>
          <a:p>
            <a:r>
              <a:rPr lang="en-US" dirty="0" smtClean="0"/>
              <a:t>Remove the variable with the  highest p-value </a:t>
            </a:r>
            <a:endParaRPr lang="en-US" dirty="0"/>
          </a:p>
        </p:txBody>
      </p:sp>
      <p:sp>
        <p:nvSpPr>
          <p:cNvPr id="7" name="TextBox 6"/>
          <p:cNvSpPr txBox="1"/>
          <p:nvPr/>
        </p:nvSpPr>
        <p:spPr>
          <a:xfrm>
            <a:off x="5589916" y="4647021"/>
            <a:ext cx="4830793" cy="646331"/>
          </a:xfrm>
          <a:prstGeom prst="rect">
            <a:avLst/>
          </a:prstGeom>
          <a:noFill/>
        </p:spPr>
        <p:txBody>
          <a:bodyPr wrap="square" rtlCol="0">
            <a:spAutoFit/>
          </a:bodyPr>
          <a:lstStyle/>
          <a:p>
            <a:r>
              <a:rPr lang="en-US" dirty="0" smtClean="0"/>
              <a:t>Since, none of the dummies for rating are significant, we remove both at the same time.  </a:t>
            </a:r>
            <a:endParaRPr lang="en-US" dirty="0"/>
          </a:p>
        </p:txBody>
      </p:sp>
      <p:graphicFrame>
        <p:nvGraphicFramePr>
          <p:cNvPr id="8" name="Table 7"/>
          <p:cNvGraphicFramePr>
            <a:graphicFrameLocks noGrp="1"/>
          </p:cNvGraphicFramePr>
          <p:nvPr>
            <p:extLst>
              <p:ext uri="{D42A27DB-BD31-4B8C-83A1-F6EECF244321}">
                <p14:modId xmlns:p14="http://schemas.microsoft.com/office/powerpoint/2010/main" val="377988794"/>
              </p:ext>
            </p:extLst>
          </p:nvPr>
        </p:nvGraphicFramePr>
        <p:xfrm>
          <a:off x="425688" y="4175185"/>
          <a:ext cx="4836425" cy="1863308"/>
        </p:xfrm>
        <a:graphic>
          <a:graphicData uri="http://schemas.openxmlformats.org/drawingml/2006/table">
            <a:tbl>
              <a:tblPr>
                <a:tableStyleId>{5C22544A-7EE6-4342-B048-85BDC9FD1C3A}</a:tableStyleId>
              </a:tblPr>
              <a:tblGrid>
                <a:gridCol w="1523882"/>
                <a:gridCol w="1910566"/>
                <a:gridCol w="1401977"/>
              </a:tblGrid>
              <a:tr h="327855">
                <a:tc>
                  <a:txBody>
                    <a:bodyPr/>
                    <a:lstStyle/>
                    <a:p>
                      <a:pPr algn="ctr" fontAlgn="b"/>
                      <a:r>
                        <a:rPr lang="en-US" sz="1400" u="none" strike="noStrike" dirty="0">
                          <a:effectLst/>
                        </a:rPr>
                        <a:t> </a:t>
                      </a:r>
                      <a:endParaRPr lang="en-US" sz="1400" b="0" i="1" u="none" strike="noStrike" dirty="0">
                        <a:solidFill>
                          <a:srgbClr val="000000"/>
                        </a:solidFill>
                        <a:effectLst/>
                        <a:latin typeface="Calibri"/>
                      </a:endParaRPr>
                    </a:p>
                  </a:txBody>
                  <a:tcPr marL="9525" marR="9525" marT="9525" marB="0" anchor="b"/>
                </a:tc>
                <a:tc>
                  <a:txBody>
                    <a:bodyPr/>
                    <a:lstStyle/>
                    <a:p>
                      <a:pPr algn="ctr" fontAlgn="b"/>
                      <a:r>
                        <a:rPr lang="en-US" sz="1400" u="none" strike="noStrike">
                          <a:effectLst/>
                        </a:rPr>
                        <a:t>Coefficients</a:t>
                      </a:r>
                      <a:endParaRPr lang="en-US" sz="1400" b="0" i="1" u="none" strike="noStrike">
                        <a:solidFill>
                          <a:srgbClr val="000000"/>
                        </a:solidFill>
                        <a:effectLst/>
                        <a:latin typeface="Calibri"/>
                      </a:endParaRPr>
                    </a:p>
                  </a:txBody>
                  <a:tcPr marL="9525" marR="9525" marT="9525" marB="0" anchor="b"/>
                </a:tc>
                <a:tc>
                  <a:txBody>
                    <a:bodyPr/>
                    <a:lstStyle/>
                    <a:p>
                      <a:pPr algn="ctr" fontAlgn="b"/>
                      <a:r>
                        <a:rPr lang="en-US" sz="1400" u="none" strike="noStrike">
                          <a:effectLst/>
                        </a:rPr>
                        <a:t>P-value</a:t>
                      </a:r>
                      <a:endParaRPr lang="en-US" sz="1400" b="0" i="1" u="none" strike="noStrike">
                        <a:solidFill>
                          <a:srgbClr val="000000"/>
                        </a:solidFill>
                        <a:effectLst/>
                        <a:latin typeface="Calibri"/>
                      </a:endParaRPr>
                    </a:p>
                  </a:txBody>
                  <a:tcPr marL="9525" marR="9525" marT="9525" marB="0" anchor="b"/>
                </a:tc>
              </a:tr>
              <a:tr h="253794">
                <a:tc>
                  <a:txBody>
                    <a:bodyPr/>
                    <a:lstStyle/>
                    <a:p>
                      <a:pPr algn="l" fontAlgn="b"/>
                      <a:r>
                        <a:rPr lang="en-US" sz="1400" u="none" strike="noStrike" dirty="0">
                          <a:effectLst/>
                        </a:rPr>
                        <a:t>Intercept</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-589.550</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a:effectLst/>
                        </a:rPr>
                        <a:t>0.002</a:t>
                      </a:r>
                      <a:endParaRPr lang="en-US" sz="1400" b="0" i="0" u="none" strike="noStrike">
                        <a:solidFill>
                          <a:srgbClr val="000000"/>
                        </a:solidFill>
                        <a:effectLst/>
                        <a:latin typeface="Calibri"/>
                      </a:endParaRPr>
                    </a:p>
                  </a:txBody>
                  <a:tcPr marL="9525" marR="9525" marT="9525" marB="0" anchor="b"/>
                </a:tc>
              </a:tr>
              <a:tr h="253794">
                <a:tc>
                  <a:txBody>
                    <a:bodyPr/>
                    <a:lstStyle/>
                    <a:p>
                      <a:pPr algn="l" fontAlgn="b"/>
                      <a:r>
                        <a:rPr lang="en-US" sz="1400" u="none" strike="noStrike" dirty="0">
                          <a:effectLst/>
                        </a:rPr>
                        <a:t>Opening</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dirty="0">
                          <a:effectLst/>
                        </a:rPr>
                        <a:t>1.716</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0.005</a:t>
                      </a:r>
                      <a:endParaRPr lang="en-US" sz="1400" b="0" i="0" u="none" strike="noStrike">
                        <a:solidFill>
                          <a:srgbClr val="000000"/>
                        </a:solidFill>
                        <a:effectLst/>
                        <a:latin typeface="Calibri"/>
                      </a:endParaRPr>
                    </a:p>
                  </a:txBody>
                  <a:tcPr marL="9525" marR="9525" marT="9525" marB="0" anchor="b"/>
                </a:tc>
              </a:tr>
              <a:tr h="253794">
                <a:tc>
                  <a:txBody>
                    <a:bodyPr/>
                    <a:lstStyle/>
                    <a:p>
                      <a:pPr algn="l" fontAlgn="b"/>
                      <a:r>
                        <a:rPr lang="en-US" sz="1400" u="none" strike="noStrike" dirty="0">
                          <a:effectLst/>
                        </a:rPr>
                        <a:t>Theaters</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dirty="0">
                          <a:effectLst/>
                        </a:rPr>
                        <a:t>0.086</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0.012</a:t>
                      </a:r>
                      <a:endParaRPr lang="en-US" sz="1400" b="0" i="0" u="none" strike="noStrike">
                        <a:solidFill>
                          <a:srgbClr val="000000"/>
                        </a:solidFill>
                        <a:effectLst/>
                        <a:latin typeface="Calibri"/>
                      </a:endParaRPr>
                    </a:p>
                  </a:txBody>
                  <a:tcPr marL="9525" marR="9525" marT="9525" marB="0" anchor="b"/>
                </a:tc>
              </a:tr>
              <a:tr h="253794">
                <a:tc>
                  <a:txBody>
                    <a:bodyPr/>
                    <a:lstStyle/>
                    <a:p>
                      <a:pPr algn="l" fontAlgn="b"/>
                      <a:r>
                        <a:rPr lang="en-US" sz="1400" u="none" strike="noStrike">
                          <a:effectLst/>
                        </a:rPr>
                        <a:t>Opinion</a:t>
                      </a:r>
                      <a:endParaRPr lang="en-US" sz="1400" b="0" i="0" u="none" strike="noStrike">
                        <a:solidFill>
                          <a:srgbClr val="000000"/>
                        </a:solidFill>
                        <a:effectLst/>
                        <a:latin typeface="Calibri"/>
                      </a:endParaRPr>
                    </a:p>
                  </a:txBody>
                  <a:tcPr marL="9525" marR="9525" marT="9525" marB="0" anchor="b"/>
                </a:tc>
                <a:tc>
                  <a:txBody>
                    <a:bodyPr/>
                    <a:lstStyle/>
                    <a:p>
                      <a:pPr algn="r" fontAlgn="b"/>
                      <a:r>
                        <a:rPr lang="en-US" sz="1400" u="none" strike="noStrike" dirty="0">
                          <a:effectLst/>
                        </a:rPr>
                        <a:t>63.040</a:t>
                      </a:r>
                      <a:endParaRPr lang="en-US" sz="1400" b="0" i="0" u="none" strike="noStrike" dirty="0">
                        <a:solidFill>
                          <a:srgbClr val="000000"/>
                        </a:solidFill>
                        <a:effectLst/>
                        <a:latin typeface="Calibri"/>
                      </a:endParaRPr>
                    </a:p>
                  </a:txBody>
                  <a:tcPr marL="9525" marR="9525" marT="9525" marB="0" anchor="b"/>
                </a:tc>
                <a:tc>
                  <a:txBody>
                    <a:bodyPr/>
                    <a:lstStyle/>
                    <a:p>
                      <a:pPr algn="r" fontAlgn="b"/>
                      <a:r>
                        <a:rPr lang="en-US" sz="1400" u="none" strike="noStrike">
                          <a:effectLst/>
                        </a:rPr>
                        <a:t>0.008</a:t>
                      </a:r>
                      <a:endParaRPr lang="en-US" sz="1400" b="0" i="0" u="none" strike="noStrike">
                        <a:solidFill>
                          <a:srgbClr val="000000"/>
                        </a:solidFill>
                        <a:effectLst/>
                        <a:latin typeface="Calibri"/>
                      </a:endParaRPr>
                    </a:p>
                  </a:txBody>
                  <a:tcPr marL="9525" marR="9525" marT="9525" marB="0" anchor="b"/>
                </a:tc>
              </a:tr>
              <a:tr h="253794">
                <a:tc>
                  <a:txBody>
                    <a:bodyPr/>
                    <a:lstStyle/>
                    <a:p>
                      <a:pPr algn="l" fontAlgn="b"/>
                      <a:r>
                        <a:rPr lang="en-US" sz="1400" u="none" strike="noStrike">
                          <a:effectLst/>
                        </a:rPr>
                        <a:t>PG</a:t>
                      </a:r>
                      <a:endParaRPr lang="en-US" sz="1400" b="0" i="0" u="none" strike="noStrike">
                        <a:solidFill>
                          <a:srgbClr val="000000"/>
                        </a:solidFill>
                        <a:effectLst/>
                        <a:latin typeface="Calibri"/>
                      </a:endParaRPr>
                    </a:p>
                  </a:txBody>
                  <a:tcPr marL="9525" marR="9525" marT="9525" marB="0" anchor="b">
                    <a:solidFill>
                      <a:srgbClr val="FF0000"/>
                    </a:solidFill>
                  </a:tcPr>
                </a:tc>
                <a:tc>
                  <a:txBody>
                    <a:bodyPr/>
                    <a:lstStyle/>
                    <a:p>
                      <a:pPr algn="r" fontAlgn="b"/>
                      <a:r>
                        <a:rPr lang="en-US" sz="1400" u="none" strike="noStrike" dirty="0">
                          <a:effectLst/>
                        </a:rPr>
                        <a:t>-117.216</a:t>
                      </a:r>
                      <a:endParaRPr lang="en-US" sz="1400" b="0" i="0" u="none" strike="noStrike" dirty="0">
                        <a:solidFill>
                          <a:srgbClr val="000000"/>
                        </a:solidFill>
                        <a:effectLst/>
                        <a:latin typeface="Calibri"/>
                      </a:endParaRPr>
                    </a:p>
                  </a:txBody>
                  <a:tcPr marL="9525" marR="9525" marT="9525" marB="0" anchor="b">
                    <a:solidFill>
                      <a:srgbClr val="FF0000"/>
                    </a:solidFill>
                  </a:tcPr>
                </a:tc>
                <a:tc>
                  <a:txBody>
                    <a:bodyPr/>
                    <a:lstStyle/>
                    <a:p>
                      <a:pPr algn="r" fontAlgn="b"/>
                      <a:r>
                        <a:rPr lang="en-US" sz="1400" u="none" strike="noStrike" dirty="0">
                          <a:effectLst/>
                        </a:rPr>
                        <a:t>0.173</a:t>
                      </a:r>
                      <a:endParaRPr lang="en-US" sz="1400" b="0" i="0" u="none" strike="noStrike" dirty="0">
                        <a:solidFill>
                          <a:srgbClr val="000000"/>
                        </a:solidFill>
                        <a:effectLst/>
                        <a:latin typeface="Calibri"/>
                      </a:endParaRPr>
                    </a:p>
                  </a:txBody>
                  <a:tcPr marL="9525" marR="9525" marT="9525" marB="0" anchor="b">
                    <a:solidFill>
                      <a:srgbClr val="FF0000"/>
                    </a:solidFill>
                  </a:tcPr>
                </a:tc>
              </a:tr>
              <a:tr h="266483">
                <a:tc>
                  <a:txBody>
                    <a:bodyPr/>
                    <a:lstStyle/>
                    <a:p>
                      <a:pPr algn="l" fontAlgn="b"/>
                      <a:r>
                        <a:rPr lang="en-US" sz="1400" u="none" strike="noStrike">
                          <a:effectLst/>
                        </a:rPr>
                        <a:t>R</a:t>
                      </a:r>
                      <a:endParaRPr lang="en-US" sz="1400" b="0" i="0" u="none" strike="noStrike">
                        <a:solidFill>
                          <a:srgbClr val="000000"/>
                        </a:solidFill>
                        <a:effectLst/>
                        <a:latin typeface="Calibri"/>
                      </a:endParaRPr>
                    </a:p>
                  </a:txBody>
                  <a:tcPr marL="9525" marR="9525" marT="9525" marB="0" anchor="b">
                    <a:solidFill>
                      <a:srgbClr val="FF0000"/>
                    </a:solidFill>
                  </a:tcPr>
                </a:tc>
                <a:tc>
                  <a:txBody>
                    <a:bodyPr/>
                    <a:lstStyle/>
                    <a:p>
                      <a:pPr algn="r" fontAlgn="b"/>
                      <a:r>
                        <a:rPr lang="en-US" sz="1400" u="none" strike="noStrike" dirty="0">
                          <a:effectLst/>
                        </a:rPr>
                        <a:t>44.483</a:t>
                      </a:r>
                      <a:endParaRPr lang="en-US" sz="1400" b="0" i="0" u="none" strike="noStrike" dirty="0">
                        <a:solidFill>
                          <a:srgbClr val="000000"/>
                        </a:solidFill>
                        <a:effectLst/>
                        <a:latin typeface="Calibri"/>
                      </a:endParaRPr>
                    </a:p>
                  </a:txBody>
                  <a:tcPr marL="9525" marR="9525" marT="9525" marB="0" anchor="b">
                    <a:solidFill>
                      <a:srgbClr val="FF0000"/>
                    </a:solidFill>
                  </a:tcPr>
                </a:tc>
                <a:tc>
                  <a:txBody>
                    <a:bodyPr/>
                    <a:lstStyle/>
                    <a:p>
                      <a:pPr algn="r" fontAlgn="b"/>
                      <a:r>
                        <a:rPr lang="en-US" sz="1400" u="none" strike="noStrike" dirty="0">
                          <a:effectLst/>
                        </a:rPr>
                        <a:t>0.414</a:t>
                      </a:r>
                      <a:endParaRPr lang="en-US" sz="1400" b="0" i="0" u="none" strike="noStrike" dirty="0">
                        <a:solidFill>
                          <a:srgbClr val="000000"/>
                        </a:solidFill>
                        <a:effectLst/>
                        <a:latin typeface="Calibri"/>
                      </a:endParaRPr>
                    </a:p>
                  </a:txBody>
                  <a:tcPr marL="9525" marR="9525" marT="9525" marB="0" anchor="b">
                    <a:solidFill>
                      <a:srgbClr val="FF0000"/>
                    </a:solidFill>
                  </a:tcPr>
                </a:tc>
              </a:tr>
            </a:tbl>
          </a:graphicData>
        </a:graphic>
      </p:graphicFrame>
    </p:spTree>
    <p:extLst>
      <p:ext uri="{BB962C8B-B14F-4D97-AF65-F5344CB8AC3E}">
        <p14:creationId xmlns:p14="http://schemas.microsoft.com/office/powerpoint/2010/main" val="1659977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endParaRPr lang="en-US"/>
          </a:p>
        </p:txBody>
      </p:sp>
      <mc:AlternateContent xmlns:mc="http://schemas.openxmlformats.org/markup-compatibility/2006" xmlns:a14="http://schemas.microsoft.com/office/drawing/2010/main">
        <mc:Choice Requires="a14">
          <p:sp>
            <p:nvSpPr>
              <p:cNvPr id="3" name="Content Placeholder 2"/>
              <p:cNvSpPr>
                <a:spLocks noGrp="1"/>
              </p:cNvSpPr>
              <p:nvPr>
                <p:ph sz="quarter" idx="11"/>
              </p:nvPr>
            </p:nvSpPr>
            <p:spPr/>
            <p:txBody>
              <a:bodyPr/>
              <a:lstStyle/>
              <a:p>
                <a:r>
                  <a:rPr lang="en-US" dirty="0" smtClean="0"/>
                  <a:t>Step 3. Rerun the regression with the remaining variables.</a:t>
                </a:r>
              </a:p>
              <a:p>
                <a:endParaRPr lang="en-US" dirty="0"/>
              </a:p>
              <a:p>
                <a:endParaRPr lang="en-US" dirty="0" smtClean="0"/>
              </a:p>
              <a:p>
                <a:endParaRPr lang="en-US" dirty="0"/>
              </a:p>
              <a:p>
                <a:endParaRPr lang="en-US" dirty="0" smtClean="0"/>
              </a:p>
              <a:p>
                <a:endParaRPr lang="en-US" dirty="0"/>
              </a:p>
              <a:p>
                <a:pPr marL="0" indent="0">
                  <a:buNone/>
                </a:pPr>
                <a:r>
                  <a:rPr lang="en-US" dirty="0"/>
                  <a:t>A</a:t>
                </a:r>
                <a:r>
                  <a:rPr lang="en-US" dirty="0" smtClean="0"/>
                  <a:t>ll the remaining independent variables are significant at 5%. Our final model: </a:t>
                </a:r>
              </a:p>
              <a:p>
                <a:pPr marL="0" indent="0">
                  <a:buNone/>
                </a:pPr>
                <a:r>
                  <a:rPr lang="en-US" dirty="0" smtClean="0"/>
                  <a:t>US Revenue = </a:t>
                </a:r>
                <a:r>
                  <a:rPr lang="en-US" dirty="0" smtClean="0">
                    <a:latin typeface="Times New Roman"/>
                    <a:cs typeface="Times New Roman"/>
                  </a:rPr>
                  <a:t>β</a:t>
                </a:r>
                <a:r>
                  <a:rPr lang="en-US" baseline="-25000" dirty="0" smtClean="0">
                    <a:latin typeface="Times New Roman"/>
                    <a:cs typeface="Times New Roman"/>
                  </a:rPr>
                  <a:t>0</a:t>
                </a:r>
                <a:r>
                  <a:rPr lang="en-US" dirty="0" smtClean="0">
                    <a:latin typeface="Times New Roman"/>
                    <a:cs typeface="Times New Roman"/>
                  </a:rPr>
                  <a:t> </a:t>
                </a:r>
                <a:r>
                  <a:rPr lang="en-US" dirty="0">
                    <a:latin typeface="Times New Roman"/>
                    <a:cs typeface="Times New Roman"/>
                  </a:rPr>
                  <a:t>+ β</a:t>
                </a:r>
                <a:r>
                  <a:rPr lang="en-US" baseline="-25000" dirty="0" smtClean="0">
                    <a:latin typeface="Times New Roman"/>
                    <a:cs typeface="Times New Roman"/>
                  </a:rPr>
                  <a:t>1</a:t>
                </a:r>
                <a:r>
                  <a:rPr lang="en-US" dirty="0" smtClean="0">
                    <a:latin typeface="Times New Roman"/>
                    <a:cs typeface="Times New Roman"/>
                  </a:rPr>
                  <a:t>*Opening </a:t>
                </a:r>
                <a:r>
                  <a:rPr lang="en-US" dirty="0">
                    <a:latin typeface="Times New Roman"/>
                    <a:cs typeface="Times New Roman"/>
                  </a:rPr>
                  <a:t>+ </a:t>
                </a:r>
                <a:r>
                  <a:rPr lang="en-US" dirty="0" smtClean="0">
                    <a:latin typeface="Times New Roman"/>
                    <a:cs typeface="Times New Roman"/>
                  </a:rPr>
                  <a:t>β</a:t>
                </a:r>
                <a:r>
                  <a:rPr lang="en-US" baseline="-25000" dirty="0" smtClean="0">
                    <a:latin typeface="Times New Roman"/>
                    <a:cs typeface="Times New Roman"/>
                  </a:rPr>
                  <a:t>2</a:t>
                </a:r>
                <a:r>
                  <a:rPr lang="en-US" dirty="0" smtClean="0">
                    <a:latin typeface="Times New Roman"/>
                    <a:cs typeface="Times New Roman"/>
                  </a:rPr>
                  <a:t>*Theaters</a:t>
                </a:r>
                <a:r>
                  <a:rPr lang="en-US" baseline="-25000" dirty="0" smtClean="0">
                    <a:latin typeface="Times New Roman"/>
                    <a:cs typeface="Times New Roman"/>
                  </a:rPr>
                  <a:t> </a:t>
                </a:r>
                <a:r>
                  <a:rPr lang="en-US" dirty="0">
                    <a:latin typeface="Times New Roman"/>
                    <a:cs typeface="Times New Roman"/>
                  </a:rPr>
                  <a:t>+ β</a:t>
                </a:r>
                <a:r>
                  <a:rPr lang="en-US" baseline="-25000" dirty="0" smtClean="0">
                    <a:latin typeface="Times New Roman"/>
                    <a:cs typeface="Times New Roman"/>
                  </a:rPr>
                  <a:t>3</a:t>
                </a:r>
                <a:r>
                  <a:rPr lang="en-US" dirty="0" smtClean="0">
                    <a:latin typeface="Times New Roman"/>
                    <a:cs typeface="Times New Roman"/>
                  </a:rPr>
                  <a:t>*Opinion</a:t>
                </a:r>
                <a:r>
                  <a:rPr lang="en-US" dirty="0" smtClean="0"/>
                  <a:t> + </a:t>
                </a:r>
                <a:r>
                  <a:rPr lang="el-GR" dirty="0" smtClean="0">
                    <a:latin typeface="Times New Roman"/>
                    <a:cs typeface="Times New Roman"/>
                  </a:rPr>
                  <a:t>ε</a:t>
                </a:r>
                <a:endParaRPr lang="en-US" dirty="0" smtClean="0"/>
              </a:p>
              <a:p>
                <a:pPr marL="0" indent="0">
                  <a:buNone/>
                </a:pPr>
                <a14:m>
                  <m:oMath xmlns:m="http://schemas.openxmlformats.org/officeDocument/2006/math">
                    <m:acc>
                      <m:accPr>
                        <m:chr m:val="̂"/>
                        <m:ctrlPr>
                          <a:rPr lang="en-US" i="1" dirty="0" smtClean="0">
                            <a:latin typeface="Cambria Math"/>
                          </a:rPr>
                        </m:ctrlPr>
                      </m:accPr>
                      <m:e>
                        <m:r>
                          <m:rPr>
                            <m:sty m:val="p"/>
                          </m:rPr>
                          <a:rPr lang="en-US" b="0" i="0" dirty="0" smtClean="0">
                            <a:latin typeface="Cambria Math"/>
                          </a:rPr>
                          <m:t>US</m:t>
                        </m:r>
                        <m:r>
                          <a:rPr lang="en-US" b="0" i="0" dirty="0" smtClean="0">
                            <a:latin typeface="Cambria Math"/>
                          </a:rPr>
                          <m:t> </m:t>
                        </m:r>
                        <m:r>
                          <m:rPr>
                            <m:sty m:val="p"/>
                          </m:rPr>
                          <a:rPr lang="en-US" b="0" i="0" dirty="0" smtClean="0">
                            <a:latin typeface="Cambria Math"/>
                          </a:rPr>
                          <m:t>Revenue</m:t>
                        </m:r>
                      </m:e>
                    </m:acc>
                  </m:oMath>
                </a14:m>
                <a:r>
                  <a:rPr lang="en-US" dirty="0"/>
                  <a:t> = </a:t>
                </a:r>
                <a:r>
                  <a:rPr lang="en-US" dirty="0" smtClean="0">
                    <a:latin typeface="Times New Roman"/>
                    <a:cs typeface="Times New Roman"/>
                  </a:rPr>
                  <a:t>b</a:t>
                </a:r>
                <a:r>
                  <a:rPr lang="en-US" baseline="-25000" dirty="0" smtClean="0">
                    <a:latin typeface="Times New Roman"/>
                    <a:cs typeface="Times New Roman"/>
                  </a:rPr>
                  <a:t>0</a:t>
                </a:r>
                <a:r>
                  <a:rPr lang="en-US" dirty="0" smtClean="0">
                    <a:latin typeface="Times New Roman"/>
                    <a:cs typeface="Times New Roman"/>
                  </a:rPr>
                  <a:t> + </a:t>
                </a:r>
                <a:r>
                  <a:rPr lang="en-US" dirty="0">
                    <a:latin typeface="Times New Roman"/>
                    <a:cs typeface="Times New Roman"/>
                  </a:rPr>
                  <a:t>b</a:t>
                </a:r>
                <a:r>
                  <a:rPr lang="en-US" baseline="-25000" dirty="0" smtClean="0">
                    <a:latin typeface="Times New Roman"/>
                    <a:cs typeface="Times New Roman"/>
                  </a:rPr>
                  <a:t>1</a:t>
                </a:r>
                <a:r>
                  <a:rPr lang="en-US" dirty="0" smtClean="0">
                    <a:latin typeface="Times New Roman"/>
                    <a:cs typeface="Times New Roman"/>
                  </a:rPr>
                  <a:t>*Opening </a:t>
                </a:r>
                <a:r>
                  <a:rPr lang="en-US" dirty="0">
                    <a:latin typeface="Times New Roman"/>
                    <a:cs typeface="Times New Roman"/>
                  </a:rPr>
                  <a:t>+ </a:t>
                </a:r>
                <a:r>
                  <a:rPr lang="en-US" dirty="0" smtClean="0">
                    <a:latin typeface="Times New Roman"/>
                    <a:cs typeface="Times New Roman"/>
                  </a:rPr>
                  <a:t>b</a:t>
                </a:r>
                <a:r>
                  <a:rPr lang="en-US" baseline="-25000" dirty="0">
                    <a:latin typeface="Times New Roman"/>
                    <a:cs typeface="Times New Roman"/>
                  </a:rPr>
                  <a:t>2</a:t>
                </a:r>
                <a:r>
                  <a:rPr lang="en-US" dirty="0" smtClean="0">
                    <a:latin typeface="Times New Roman"/>
                    <a:cs typeface="Times New Roman"/>
                  </a:rPr>
                  <a:t>*Theaters</a:t>
                </a:r>
                <a:r>
                  <a:rPr lang="en-US" baseline="-25000" dirty="0" smtClean="0">
                    <a:latin typeface="Times New Roman"/>
                    <a:cs typeface="Times New Roman"/>
                  </a:rPr>
                  <a:t> </a:t>
                </a:r>
                <a:r>
                  <a:rPr lang="en-US" dirty="0">
                    <a:latin typeface="Times New Roman"/>
                    <a:cs typeface="Times New Roman"/>
                  </a:rPr>
                  <a:t>+ </a:t>
                </a:r>
                <a:r>
                  <a:rPr lang="en-US" dirty="0" smtClean="0">
                    <a:latin typeface="Times New Roman"/>
                    <a:cs typeface="Times New Roman"/>
                  </a:rPr>
                  <a:t>b</a:t>
                </a:r>
                <a:r>
                  <a:rPr lang="en-US" baseline="-25000" dirty="0">
                    <a:latin typeface="Times New Roman"/>
                    <a:cs typeface="Times New Roman"/>
                  </a:rPr>
                  <a:t>3</a:t>
                </a:r>
                <a:r>
                  <a:rPr lang="en-US" dirty="0" smtClean="0">
                    <a:latin typeface="Times New Roman"/>
                    <a:cs typeface="Times New Roman"/>
                  </a:rPr>
                  <a:t>*Opinion</a:t>
                </a: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sz="quarter" idx="11"/>
              </p:nvPr>
            </p:nvSpPr>
            <p:spPr>
              <a:blipFill rotWithShape="1">
                <a:blip r:embed="rId2"/>
                <a:stretch>
                  <a:fillRect l="-817" t="-1583"/>
                </a:stretch>
              </a:blipFill>
            </p:spPr>
            <p:txBody>
              <a:bodyPr/>
              <a:lstStyle/>
              <a:p>
                <a:r>
                  <a:rPr lang="en-US">
                    <a:noFill/>
                  </a:rPr>
                  <a:t> </a:t>
                </a:r>
              </a:p>
            </p:txBody>
          </p:sp>
        </mc:Fallback>
      </mc:AlternateContent>
      <p:graphicFrame>
        <p:nvGraphicFramePr>
          <p:cNvPr id="4" name="Table 3"/>
          <p:cNvGraphicFramePr>
            <a:graphicFrameLocks noGrp="1"/>
          </p:cNvGraphicFramePr>
          <p:nvPr>
            <p:extLst>
              <p:ext uri="{D42A27DB-BD31-4B8C-83A1-F6EECF244321}">
                <p14:modId xmlns:p14="http://schemas.microsoft.com/office/powerpoint/2010/main" val="2675038493"/>
              </p:ext>
            </p:extLst>
          </p:nvPr>
        </p:nvGraphicFramePr>
        <p:xfrm>
          <a:off x="793630" y="1828803"/>
          <a:ext cx="5089584" cy="1649891"/>
        </p:xfrm>
        <a:graphic>
          <a:graphicData uri="http://schemas.openxmlformats.org/drawingml/2006/table">
            <a:tbl>
              <a:tblPr>
                <a:tableStyleId>{5C22544A-7EE6-4342-B048-85BDC9FD1C3A}</a:tableStyleId>
              </a:tblPr>
              <a:tblGrid>
                <a:gridCol w="1483744"/>
                <a:gridCol w="1984075"/>
                <a:gridCol w="1621765"/>
              </a:tblGrid>
              <a:tr h="326711">
                <a:tc>
                  <a:txBody>
                    <a:bodyPr/>
                    <a:lstStyle/>
                    <a:p>
                      <a:pPr algn="ctr" fontAlgn="b"/>
                      <a:r>
                        <a:rPr lang="en-US" sz="1600" u="none" strike="noStrike" dirty="0">
                          <a:effectLst/>
                        </a:rPr>
                        <a:t> </a:t>
                      </a:r>
                      <a:endParaRPr lang="en-US" sz="1600" b="0" i="1" u="none" strike="noStrike" dirty="0">
                        <a:solidFill>
                          <a:srgbClr val="000000"/>
                        </a:solidFill>
                        <a:effectLst/>
                        <a:latin typeface="Calibri"/>
                      </a:endParaRPr>
                    </a:p>
                  </a:txBody>
                  <a:tcPr marL="9525" marR="9525" marT="9525" marB="0" anchor="b"/>
                </a:tc>
                <a:tc>
                  <a:txBody>
                    <a:bodyPr/>
                    <a:lstStyle/>
                    <a:p>
                      <a:pPr algn="ctr" fontAlgn="b"/>
                      <a:r>
                        <a:rPr lang="en-US" sz="1600" u="none" strike="noStrike">
                          <a:effectLst/>
                        </a:rPr>
                        <a:t>Coefficients</a:t>
                      </a:r>
                      <a:endParaRPr lang="en-US" sz="1600" b="0" i="1" u="none" strike="noStrike">
                        <a:solidFill>
                          <a:srgbClr val="000000"/>
                        </a:solidFill>
                        <a:effectLst/>
                        <a:latin typeface="Calibri"/>
                      </a:endParaRPr>
                    </a:p>
                  </a:txBody>
                  <a:tcPr marL="9525" marR="9525" marT="9525" marB="0" anchor="b"/>
                </a:tc>
                <a:tc>
                  <a:txBody>
                    <a:bodyPr/>
                    <a:lstStyle/>
                    <a:p>
                      <a:pPr algn="ctr" fontAlgn="b"/>
                      <a:r>
                        <a:rPr lang="en-US" sz="1600" u="none" strike="noStrike">
                          <a:effectLst/>
                        </a:rPr>
                        <a:t>P-value</a:t>
                      </a:r>
                      <a:endParaRPr lang="en-US" sz="1600" b="0" i="1" u="none" strike="noStrike">
                        <a:solidFill>
                          <a:srgbClr val="000000"/>
                        </a:solidFill>
                        <a:effectLst/>
                        <a:latin typeface="Calibri"/>
                      </a:endParaRPr>
                    </a:p>
                  </a:txBody>
                  <a:tcPr marL="9525" marR="9525" marT="9525" marB="0" anchor="b"/>
                </a:tc>
              </a:tr>
              <a:tr h="326711">
                <a:tc>
                  <a:txBody>
                    <a:bodyPr/>
                    <a:lstStyle/>
                    <a:p>
                      <a:pPr algn="l" fontAlgn="b"/>
                      <a:r>
                        <a:rPr lang="en-US" sz="1600" u="none" strike="noStrike" dirty="0">
                          <a:effectLst/>
                        </a:rPr>
                        <a:t>Intercept</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-482.6413</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a:effectLst/>
                        </a:rPr>
                        <a:t>0.0075</a:t>
                      </a:r>
                      <a:endParaRPr lang="en-US" sz="1600" b="0" i="0" u="none" strike="noStrike">
                        <a:solidFill>
                          <a:srgbClr val="000000"/>
                        </a:solidFill>
                        <a:effectLst/>
                        <a:latin typeface="Calibri"/>
                      </a:endParaRPr>
                    </a:p>
                  </a:txBody>
                  <a:tcPr marL="9525" marR="9525" marT="9525" marB="0" anchor="b"/>
                </a:tc>
              </a:tr>
              <a:tr h="326711">
                <a:tc>
                  <a:txBody>
                    <a:bodyPr/>
                    <a:lstStyle/>
                    <a:p>
                      <a:pPr algn="l" fontAlgn="b"/>
                      <a:r>
                        <a:rPr lang="en-US" sz="1600" u="none" strike="noStrike">
                          <a:effectLst/>
                        </a:rPr>
                        <a:t>Opening</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dirty="0">
                          <a:effectLst/>
                        </a:rPr>
                        <a:t>1.9484</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a:effectLst/>
                        </a:rPr>
                        <a:t>0.0012</a:t>
                      </a:r>
                      <a:endParaRPr lang="en-US" sz="1600" b="0" i="0" u="none" strike="noStrike">
                        <a:solidFill>
                          <a:srgbClr val="000000"/>
                        </a:solidFill>
                        <a:effectLst/>
                        <a:latin typeface="Calibri"/>
                      </a:endParaRPr>
                    </a:p>
                  </a:txBody>
                  <a:tcPr marL="9525" marR="9525" marT="9525" marB="0" anchor="b"/>
                </a:tc>
              </a:tr>
              <a:tr h="326711">
                <a:tc>
                  <a:txBody>
                    <a:bodyPr/>
                    <a:lstStyle/>
                    <a:p>
                      <a:pPr algn="l" fontAlgn="b"/>
                      <a:r>
                        <a:rPr lang="en-US" sz="1600" u="none" strike="noStrike">
                          <a:effectLst/>
                        </a:rPr>
                        <a:t>Theaters</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dirty="0">
                          <a:effectLst/>
                        </a:rPr>
                        <a:t>0.0595</a:t>
                      </a:r>
                      <a:endParaRPr lang="en-US" sz="1600" b="0" i="0" u="none" strike="noStrike" dirty="0">
                        <a:solidFill>
                          <a:srgbClr val="000000"/>
                        </a:solidFill>
                        <a:effectLst/>
                        <a:latin typeface="Calibri"/>
                      </a:endParaRPr>
                    </a:p>
                  </a:txBody>
                  <a:tcPr marL="9525" marR="9525" marT="9525" marB="0" anchor="b"/>
                </a:tc>
                <a:tc>
                  <a:txBody>
                    <a:bodyPr/>
                    <a:lstStyle/>
                    <a:p>
                      <a:pPr algn="r" fontAlgn="b"/>
                      <a:r>
                        <a:rPr lang="en-US" sz="1600" u="none" strike="noStrike" dirty="0">
                          <a:effectLst/>
                        </a:rPr>
                        <a:t>0.0495</a:t>
                      </a:r>
                      <a:endParaRPr lang="en-US" sz="1600" b="0" i="0" u="none" strike="noStrike" dirty="0">
                        <a:solidFill>
                          <a:srgbClr val="000000"/>
                        </a:solidFill>
                        <a:effectLst/>
                        <a:latin typeface="Calibri"/>
                      </a:endParaRPr>
                    </a:p>
                  </a:txBody>
                  <a:tcPr marL="9525" marR="9525" marT="9525" marB="0" anchor="b"/>
                </a:tc>
              </a:tr>
              <a:tr h="343047">
                <a:tc>
                  <a:txBody>
                    <a:bodyPr/>
                    <a:lstStyle/>
                    <a:p>
                      <a:pPr algn="l" fontAlgn="b"/>
                      <a:r>
                        <a:rPr lang="en-US" sz="1600" u="none" strike="noStrike">
                          <a:effectLst/>
                        </a:rPr>
                        <a:t>Opinion</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a:effectLst/>
                        </a:rPr>
                        <a:t>58.0877</a:t>
                      </a:r>
                      <a:endParaRPr lang="en-US" sz="1600" b="0" i="0" u="none" strike="noStrike">
                        <a:solidFill>
                          <a:srgbClr val="000000"/>
                        </a:solidFill>
                        <a:effectLst/>
                        <a:latin typeface="Calibri"/>
                      </a:endParaRPr>
                    </a:p>
                  </a:txBody>
                  <a:tcPr marL="9525" marR="9525" marT="9525" marB="0" anchor="b"/>
                </a:tc>
                <a:tc>
                  <a:txBody>
                    <a:bodyPr/>
                    <a:lstStyle/>
                    <a:p>
                      <a:pPr algn="r" fontAlgn="b"/>
                      <a:r>
                        <a:rPr lang="en-US" sz="1600" u="none" strike="noStrike" dirty="0">
                          <a:effectLst/>
                        </a:rPr>
                        <a:t>0.0140</a:t>
                      </a:r>
                      <a:endParaRPr lang="en-US" sz="1600" b="0" i="0" u="none" strike="noStrike" dirty="0">
                        <a:solidFill>
                          <a:srgbClr val="000000"/>
                        </a:solidFill>
                        <a:effectLst/>
                        <a:latin typeface="Calibri"/>
                      </a:endParaRPr>
                    </a:p>
                  </a:txBody>
                  <a:tcPr marL="9525" marR="9525" marT="9525" marB="0" anchor="b"/>
                </a:tc>
              </a:tr>
            </a:tbl>
          </a:graphicData>
        </a:graphic>
      </p:graphicFrame>
    </p:spTree>
    <p:extLst>
      <p:ext uri="{BB962C8B-B14F-4D97-AF65-F5344CB8AC3E}">
        <p14:creationId xmlns:p14="http://schemas.microsoft.com/office/powerpoint/2010/main" val="19057263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THE END</a:t>
            </a:r>
            <a:endParaRPr lang="en-US" dirty="0"/>
          </a:p>
        </p:txBody>
      </p:sp>
      <p:sp>
        <p:nvSpPr>
          <p:cNvPr id="3" name="Content Placeholder 2"/>
          <p:cNvSpPr>
            <a:spLocks noGrp="1"/>
          </p:cNvSpPr>
          <p:nvPr>
            <p:ph sz="quarter" idx="11"/>
          </p:nvPr>
        </p:nvSpPr>
        <p:spPr/>
        <p:txBody>
          <a:bodyPr/>
          <a:lstStyle/>
          <a:p>
            <a:pPr algn="ctr"/>
            <a:endParaRPr lang="en-US" sz="3200" b="1" dirty="0" smtClean="0"/>
          </a:p>
          <a:p>
            <a:pPr algn="ctr"/>
            <a:endParaRPr lang="en-US" sz="3200" b="1" dirty="0"/>
          </a:p>
          <a:p>
            <a:pPr marL="0" indent="0" algn="ctr">
              <a:buNone/>
            </a:pPr>
            <a:r>
              <a:rPr lang="en-US" sz="3600" b="1" dirty="0" smtClean="0"/>
              <a:t>Thank you for your attention!</a:t>
            </a:r>
            <a:endParaRPr lang="en-US" sz="3600" b="1" dirty="0"/>
          </a:p>
        </p:txBody>
      </p:sp>
    </p:spTree>
    <p:extLst>
      <p:ext uri="{BB962C8B-B14F-4D97-AF65-F5344CB8AC3E}">
        <p14:creationId xmlns:p14="http://schemas.microsoft.com/office/powerpoint/2010/main" val="298608310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44546A"/>
      </a:dk2>
      <a:lt2>
        <a:srgbClr val="E7E6E6"/>
      </a:lt2>
      <a:accent1>
        <a:srgbClr val="083FA4"/>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1506</TotalTime>
  <Words>1108</Words>
  <Application>Microsoft Office PowerPoint</Application>
  <PresentationFormat>Custom</PresentationFormat>
  <Paragraphs>219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Mark</dc:creator>
  <cp:lastModifiedBy>Olmas Isakov</cp:lastModifiedBy>
  <cp:revision>199</cp:revision>
  <dcterms:created xsi:type="dcterms:W3CDTF">2015-06-15T09:27:21Z</dcterms:created>
  <dcterms:modified xsi:type="dcterms:W3CDTF">2020-03-06T09:47:41Z</dcterms:modified>
</cp:coreProperties>
</file>