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1"/>
  </p:notesMasterIdLst>
  <p:sldIdLst>
    <p:sldId id="256" r:id="rId2"/>
    <p:sldId id="273" r:id="rId3"/>
    <p:sldId id="257" r:id="rId4"/>
    <p:sldId id="275" r:id="rId5"/>
    <p:sldId id="258" r:id="rId6"/>
    <p:sldId id="271" r:id="rId7"/>
    <p:sldId id="272" r:id="rId8"/>
    <p:sldId id="267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8" r:id="rId18"/>
    <p:sldId id="269" r:id="rId19"/>
    <p:sldId id="27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DCE3F-BC4F-453D-996D-4FE78444966D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F01F4-C04E-477C-A079-D6C369515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51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F01F4-C04E-477C-A079-D6C3695150D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50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40CD-6D18-4F95-AC5D-71D3836C429C}" type="datetime1">
              <a:rPr lang="en-US" smtClean="0"/>
              <a:t>1/31/2020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DEF9B-DABE-4C7F-941E-C21F2CBB2001}" type="datetime1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E617A-9511-46FE-A09C-CC37ED27C126}" type="datetime1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255F5-9977-4DD6-BA4D-1652650E1D61}" type="datetime1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8A9A0-584F-4599-973B-74C80C41061E}" type="datetime1">
              <a:rPr lang="en-US" smtClean="0"/>
              <a:t>1/31/2020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5672B-F85D-436A-93B8-97778A318DFF}" type="datetime1">
              <a:rPr lang="en-US" smtClean="0"/>
              <a:t>1/31/2020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DB0A2-60EC-43E9-A7D4-46080A920701}" type="datetime1">
              <a:rPr lang="en-US" smtClean="0"/>
              <a:t>1/31/2020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67981-9BBC-4055-9DF0-E256055729EB}" type="datetime1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51DE-E1FD-423B-81E8-19FB89BF0602}" type="datetime1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FA6AB3D-052C-421C-8ABF-46BAA0573E7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5402-AF0A-4BFE-A726-AE651F06F253}" type="datetime1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8F1-6C3C-44D3-B532-A0864F72FD6B}" type="datetime1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8C951D9-875B-4DF9-B0AC-794A7577240C}" type="datetime1">
              <a:rPr lang="en-US" smtClean="0"/>
              <a:t>1/31/2020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FA6AB3D-052C-421C-8ABF-46BAA0573E77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xcel-easy.com/examples/anova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066800"/>
            <a:ext cx="7772400" cy="1600200"/>
          </a:xfrm>
        </p:spPr>
        <p:txBody>
          <a:bodyPr>
            <a:noAutofit/>
          </a:bodyPr>
          <a:lstStyle/>
          <a:p>
            <a:pPr algn="ctr"/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WEEK 16</a:t>
            </a:r>
            <a:br>
              <a:rPr lang="en-US" sz="4000" dirty="0" smtClean="0"/>
            </a:br>
            <a:r>
              <a:rPr lang="en-US" sz="4000" dirty="0" smtClean="0"/>
              <a:t>Analysis of Variance (ANOVA)</a:t>
            </a:r>
            <a:br>
              <a:rPr lang="en-US" sz="4000" dirty="0" smtClean="0"/>
            </a:br>
            <a:r>
              <a:rPr lang="en-US" sz="4000" dirty="0" smtClean="0"/>
              <a:t>One–Way ANOVA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24800" y="6324600"/>
            <a:ext cx="762000" cy="365760"/>
          </a:xfrm>
        </p:spPr>
        <p:txBody>
          <a:bodyPr/>
          <a:lstStyle/>
          <a:p>
            <a:fld id="{8FA6AB3D-052C-421C-8ABF-46BAA0573E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8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991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After learning this topic students are expected to: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state the hypotheses;</a:t>
            </a:r>
          </a:p>
          <a:p>
            <a:r>
              <a:rPr lang="en-US" dirty="0" smtClean="0"/>
              <a:t>run the test using Excel;</a:t>
            </a:r>
          </a:p>
          <a:p>
            <a:r>
              <a:rPr lang="en-US" dirty="0" smtClean="0"/>
              <a:t>be able to manually fill in the table when some parts of ANOVA are missing;</a:t>
            </a:r>
          </a:p>
          <a:p>
            <a:r>
              <a:rPr lang="en-US" dirty="0"/>
              <a:t>i</a:t>
            </a:r>
            <a:r>
              <a:rPr lang="en-US" dirty="0" smtClean="0"/>
              <a:t>dentify degrees of freedom;</a:t>
            </a:r>
          </a:p>
          <a:p>
            <a:r>
              <a:rPr lang="en-US" dirty="0"/>
              <a:t>i</a:t>
            </a:r>
            <a:r>
              <a:rPr lang="en-US" dirty="0" smtClean="0"/>
              <a:t>nterpret the test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3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dirty="0" smtClean="0"/>
              <a:t>Analysis of Variance (ANOVA)</a:t>
            </a:r>
            <a:br>
              <a:rPr lang="en-US" sz="4000" dirty="0" smtClean="0"/>
            </a:br>
            <a:r>
              <a:rPr lang="en-US" sz="4000" dirty="0" smtClean="0"/>
              <a:t>One–Way ANOVA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z="2000" smtClean="0"/>
              <a:t>3</a:t>
            </a:fld>
            <a:endParaRPr lang="en-US" sz="20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762000" y="2057400"/>
            <a:ext cx="7315200" cy="1676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smtClean="0"/>
              <a:t>ANOVA is </a:t>
            </a:r>
            <a:r>
              <a:rPr lang="en-US" dirty="0"/>
              <a:t>a statistical procedure used to test the degree to which two or more groups vary or differ in an experiment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6537" y="3581400"/>
            <a:ext cx="3590925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778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97" y="304800"/>
            <a:ext cx="8229600" cy="896112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/>
              <a:t>One-Way ANOVA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797" y="1371600"/>
            <a:ext cx="8229600" cy="4770120"/>
          </a:xfrm>
        </p:spPr>
        <p:txBody>
          <a:bodyPr/>
          <a:lstStyle/>
          <a:p>
            <a:pPr algn="just"/>
            <a:r>
              <a:rPr lang="en-US" sz="2000" dirty="0"/>
              <a:t>A One-Way ANOVA is a type of statistical test that compares the variance in the group means within a sample whilst considering only one independent variable or factor.</a:t>
            </a:r>
          </a:p>
          <a:p>
            <a:pPr algn="just"/>
            <a:r>
              <a:rPr lang="en-US" sz="2000" dirty="0"/>
              <a:t>This is an extension of the two independent samples t-test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4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15297" y="2666999"/>
            <a:ext cx="7848600" cy="227371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/>
              <a:buNone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753579"/>
            <a:ext cx="5257800" cy="381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240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One–Way </a:t>
            </a:r>
            <a:r>
              <a:rPr lang="en-US" dirty="0"/>
              <a:t>ANOVA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Arial" charset="0"/>
              </a:rPr>
              <a:t>The null hypothesis is that the means are all </a:t>
            </a:r>
            <a:r>
              <a:rPr lang="en-US" sz="2800" dirty="0" smtClean="0">
                <a:latin typeface="Arial" charset="0"/>
              </a:rPr>
              <a:t>equal:</a:t>
            </a:r>
            <a:endParaRPr lang="en-US" sz="2800" dirty="0">
              <a:latin typeface="Arial" charset="0"/>
            </a:endParaRPr>
          </a:p>
          <a:p>
            <a:pPr marL="393192" lvl="1" indent="0">
              <a:buNone/>
            </a:pPr>
            <a:r>
              <a:rPr lang="en-US" sz="2600" dirty="0" smtClean="0">
                <a:latin typeface="Arial" charset="0"/>
              </a:rPr>
              <a:t>H</a:t>
            </a:r>
            <a:r>
              <a:rPr lang="en-US" sz="2600" baseline="-25000" dirty="0" smtClean="0">
                <a:latin typeface="Arial" charset="0"/>
              </a:rPr>
              <a:t>0</a:t>
            </a:r>
            <a:r>
              <a:rPr lang="en-US" sz="2600" dirty="0" smtClean="0">
                <a:latin typeface="Arial" charset="0"/>
              </a:rPr>
              <a:t>: µ</a:t>
            </a:r>
            <a:r>
              <a:rPr lang="en-US" sz="2600" baseline="-25000" dirty="0" smtClean="0">
                <a:latin typeface="Arial" charset="0"/>
              </a:rPr>
              <a:t>1</a:t>
            </a:r>
            <a:r>
              <a:rPr lang="en-US" sz="2600" dirty="0" smtClean="0">
                <a:latin typeface="Arial" charset="0"/>
              </a:rPr>
              <a:t> = µ</a:t>
            </a:r>
            <a:r>
              <a:rPr lang="en-US" sz="2600" baseline="-25000" dirty="0" smtClean="0">
                <a:latin typeface="Arial" charset="0"/>
              </a:rPr>
              <a:t>2</a:t>
            </a:r>
            <a:r>
              <a:rPr lang="en-US" sz="2600" dirty="0" smtClean="0">
                <a:latin typeface="Arial" charset="0"/>
              </a:rPr>
              <a:t> = µ</a:t>
            </a:r>
            <a:r>
              <a:rPr lang="en-US" sz="2600" baseline="-25000" dirty="0" smtClean="0">
                <a:latin typeface="Arial" charset="0"/>
              </a:rPr>
              <a:t>3</a:t>
            </a:r>
            <a:r>
              <a:rPr lang="en-US" sz="2600" dirty="0" smtClean="0">
                <a:latin typeface="Arial" charset="0"/>
              </a:rPr>
              <a:t> = …µ</a:t>
            </a:r>
            <a:r>
              <a:rPr lang="en-US" sz="2600" baseline="-25000" dirty="0" smtClean="0">
                <a:latin typeface="Arial" charset="0"/>
              </a:rPr>
              <a:t>k</a:t>
            </a:r>
            <a:endParaRPr lang="en-US" sz="2600" baseline="-25000" dirty="0">
              <a:latin typeface="Arial" charset="0"/>
            </a:endParaRPr>
          </a:p>
          <a:p>
            <a:r>
              <a:rPr lang="en-US" sz="2800" dirty="0">
                <a:latin typeface="Arial" charset="0"/>
              </a:rPr>
              <a:t>The alternative hypothesis is that at least one of the means is </a:t>
            </a:r>
            <a:r>
              <a:rPr lang="en-US" sz="2800" dirty="0" smtClean="0">
                <a:latin typeface="Arial" charset="0"/>
              </a:rPr>
              <a:t>different.</a:t>
            </a:r>
            <a:endParaRPr lang="en-US" sz="2800" dirty="0">
              <a:latin typeface="Arial" charset="0"/>
            </a:endParaRPr>
          </a:p>
          <a:p>
            <a:pPr marL="177800" lvl="1" indent="0">
              <a:buClr>
                <a:schemeClr val="accent3"/>
              </a:buClr>
              <a:buSzPct val="95000"/>
              <a:buNone/>
            </a:pPr>
            <a:r>
              <a:rPr lang="en-US" sz="2600" dirty="0" smtClean="0">
                <a:latin typeface="Arial" charset="0"/>
              </a:rPr>
              <a:t>  H</a:t>
            </a:r>
            <a:r>
              <a:rPr lang="en-US" sz="2600" baseline="-25000" dirty="0" smtClean="0">
                <a:latin typeface="Arial" charset="0"/>
              </a:rPr>
              <a:t>a</a:t>
            </a:r>
            <a:r>
              <a:rPr lang="en-US" sz="2600" dirty="0" smtClean="0">
                <a:latin typeface="Arial" charset="0"/>
              </a:rPr>
              <a:t>: At least one mean is different.</a:t>
            </a:r>
            <a:endParaRPr lang="en-US" sz="2600" baseline="-25000" dirty="0">
              <a:latin typeface="Arial" charset="0"/>
            </a:endParaRPr>
          </a:p>
          <a:p>
            <a:endParaRPr lang="en-US" sz="2800" dirty="0"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94EDD-2E79-4090-B429-B8DCB883C1A9}" type="slidenum">
              <a:rPr lang="en-US" sz="1800" smtClean="0"/>
              <a:t>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6935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96112"/>
          </a:xfrm>
        </p:spPr>
        <p:txBody>
          <a:bodyPr/>
          <a:lstStyle/>
          <a:p>
            <a:pPr algn="ctr"/>
            <a:r>
              <a:rPr lang="en-US" dirty="0"/>
              <a:t>One–Way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 The assumptions necessary to ensure the validity of the test are as follows: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samples </a:t>
            </a:r>
            <a:r>
              <a:rPr lang="en-US" dirty="0" smtClean="0"/>
              <a:t>are </a:t>
            </a:r>
            <a:r>
              <a:rPr lang="en-US" dirty="0"/>
              <a:t>selected randomly and independently.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probability distributions </a:t>
            </a:r>
            <a:r>
              <a:rPr lang="en-US" dirty="0" smtClean="0"/>
              <a:t>for </a:t>
            </a:r>
            <a:r>
              <a:rPr lang="en-US" dirty="0"/>
              <a:t>each </a:t>
            </a:r>
            <a:r>
              <a:rPr lang="en-US" dirty="0" smtClean="0"/>
              <a:t>factor level are </a:t>
            </a:r>
            <a:r>
              <a:rPr lang="en-US" dirty="0"/>
              <a:t>normal.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variances of </a:t>
            </a:r>
            <a:r>
              <a:rPr lang="en-US" dirty="0" smtClean="0"/>
              <a:t>each population are assumed equal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6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/>
              <a:t>F-Distribution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926" y="1295400"/>
            <a:ext cx="644697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8827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972312"/>
          </a:xfrm>
        </p:spPr>
        <p:txBody>
          <a:bodyPr/>
          <a:lstStyle/>
          <a:p>
            <a:pPr algn="ctr"/>
            <a:r>
              <a:rPr lang="en-US" dirty="0"/>
              <a:t>One–Way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35480"/>
            <a:ext cx="8458200" cy="4389120"/>
          </a:xfrm>
        </p:spPr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Rejection Region:</a:t>
            </a:r>
          </a:p>
          <a:p>
            <a:pPr marL="0" indent="0">
              <a:buNone/>
            </a:pPr>
            <a:r>
              <a:rPr lang="en-US" dirty="0" smtClean="0"/>
              <a:t>Reject </a:t>
            </a:r>
            <a:r>
              <a:rPr lang="en-US" dirty="0" smtClean="0"/>
              <a:t>H</a:t>
            </a:r>
            <a:r>
              <a:rPr lang="en-US" baseline="-25000" dirty="0"/>
              <a:t>0</a:t>
            </a:r>
            <a:r>
              <a:rPr lang="en-US" dirty="0" smtClean="0"/>
              <a:t> </a:t>
            </a:r>
            <a:r>
              <a:rPr lang="en-US" dirty="0" smtClean="0"/>
              <a:t>if F</a:t>
            </a:r>
            <a:r>
              <a:rPr lang="en-US" baseline="-25000" dirty="0" smtClean="0"/>
              <a:t>stat</a:t>
            </a:r>
            <a:r>
              <a:rPr lang="en-US" dirty="0" smtClean="0"/>
              <a:t> ≥ F</a:t>
            </a:r>
            <a:r>
              <a:rPr lang="en-US" baseline="-25000" dirty="0" smtClean="0"/>
              <a:t>crit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400" dirty="0" smtClean="0"/>
              <a:t>F</a:t>
            </a:r>
            <a:r>
              <a:rPr lang="en-US" sz="2400" baseline="-25000" dirty="0" smtClean="0"/>
              <a:t>stat </a:t>
            </a:r>
            <a:r>
              <a:rPr lang="en-US" sz="2400" dirty="0" smtClean="0"/>
              <a:t>= MSF/MSE </a:t>
            </a:r>
          </a:p>
          <a:p>
            <a:pPr marL="0" indent="0">
              <a:buNone/>
            </a:pPr>
            <a:r>
              <a:rPr lang="en-US" sz="2400" dirty="0" smtClean="0"/>
              <a:t>MSF – Mean Square for </a:t>
            </a:r>
          </a:p>
          <a:p>
            <a:pPr marL="0" indent="0">
              <a:buNone/>
            </a:pPr>
            <a:r>
              <a:rPr lang="en-US" sz="2400" dirty="0" smtClean="0"/>
              <a:t>Factor </a:t>
            </a:r>
          </a:p>
          <a:p>
            <a:pPr marL="0" indent="0">
              <a:buNone/>
            </a:pPr>
            <a:r>
              <a:rPr lang="en-US" sz="2400" dirty="0" smtClean="0"/>
              <a:t>MSE – Mean Square for </a:t>
            </a:r>
          </a:p>
          <a:p>
            <a:pPr marL="0" indent="0">
              <a:buNone/>
            </a:pPr>
            <a:r>
              <a:rPr lang="en-US" sz="2400" dirty="0" smtClean="0"/>
              <a:t>Error</a:t>
            </a:r>
            <a:endParaRPr lang="en-US" sz="2400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400" dirty="0" smtClean="0"/>
              <a:t>F</a:t>
            </a:r>
            <a:r>
              <a:rPr lang="en-US" sz="2400" baseline="-25000" dirty="0" smtClean="0"/>
              <a:t>crit </a:t>
            </a:r>
            <a:r>
              <a:rPr lang="en-US" sz="2400" dirty="0" smtClean="0"/>
              <a:t>can be obtained </a:t>
            </a:r>
          </a:p>
          <a:p>
            <a:pPr marL="0" indent="0">
              <a:buNone/>
            </a:pPr>
            <a:r>
              <a:rPr lang="en-US" sz="2400" dirty="0" smtClean="0"/>
              <a:t>from F table for </a:t>
            </a:r>
            <a:r>
              <a:rPr lang="el-GR" sz="2400" dirty="0" smtClean="0"/>
              <a:t>α</a:t>
            </a:r>
            <a:r>
              <a:rPr lang="en-US" sz="2400" dirty="0" smtClean="0"/>
              <a:t> with:</a:t>
            </a:r>
          </a:p>
          <a:p>
            <a:pPr marL="0" indent="0">
              <a:buNone/>
            </a:pPr>
            <a:r>
              <a:rPr lang="en-US" sz="2400" dirty="0" smtClean="0"/>
              <a:t>df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= k-1 ( k - number of groups)</a:t>
            </a:r>
          </a:p>
          <a:p>
            <a:pPr marL="0" indent="0">
              <a:buNone/>
            </a:pPr>
            <a:r>
              <a:rPr lang="en-US" sz="2400" dirty="0"/>
              <a:t>d</a:t>
            </a:r>
            <a:r>
              <a:rPr lang="en-US" sz="2400" dirty="0" smtClean="0"/>
              <a:t>f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= n-k (n – total number</a:t>
            </a:r>
          </a:p>
          <a:p>
            <a:pPr marL="0" indent="0">
              <a:buNone/>
            </a:pPr>
            <a:r>
              <a:rPr lang="en-US" sz="2400" dirty="0" smtClean="0"/>
              <a:t> of observations for all groups)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8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One–Way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 smtClean="0">
                <a:latin typeface="Arial" charset="0"/>
              </a:rPr>
              <a:t>Example</a:t>
            </a:r>
          </a:p>
          <a:p>
            <a:r>
              <a:rPr lang="en-US" dirty="0" smtClean="0">
                <a:latin typeface="Arial" charset="0"/>
              </a:rPr>
              <a:t>The </a:t>
            </a:r>
            <a:r>
              <a:rPr lang="en-US" dirty="0">
                <a:latin typeface="Arial" charset="0"/>
              </a:rPr>
              <a:t>statistics classroom is divided into three rows: front, middle, and </a:t>
            </a:r>
            <a:r>
              <a:rPr lang="en-US" dirty="0" smtClean="0">
                <a:latin typeface="Arial" charset="0"/>
              </a:rPr>
              <a:t>back.</a:t>
            </a:r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The instructor noticed that the further the students were from him, the more likely they </a:t>
            </a:r>
            <a:r>
              <a:rPr lang="en-US" dirty="0" smtClean="0">
                <a:latin typeface="Arial" charset="0"/>
              </a:rPr>
              <a:t>were not listening to him </a:t>
            </a:r>
            <a:r>
              <a:rPr lang="en-US" dirty="0">
                <a:latin typeface="Arial" charset="0"/>
              </a:rPr>
              <a:t>or use </a:t>
            </a:r>
            <a:r>
              <a:rPr lang="en-US" dirty="0" smtClean="0">
                <a:latin typeface="Arial" charset="0"/>
              </a:rPr>
              <a:t>Telegram during class.</a:t>
            </a:r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He wanted to see if the students further away did worse on the </a:t>
            </a:r>
            <a:r>
              <a:rPr lang="en-US" dirty="0" smtClean="0">
                <a:latin typeface="Arial" charset="0"/>
              </a:rPr>
              <a:t>exams.</a:t>
            </a:r>
            <a:endParaRPr lang="en-US" dirty="0">
              <a:latin typeface="Arial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192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096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One–Way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charset="0"/>
              </a:rPr>
              <a:t>The ANOVA </a:t>
            </a:r>
            <a:r>
              <a:rPr lang="en-US" sz="2400" b="1" u="sng" dirty="0">
                <a:latin typeface="Arial" charset="0"/>
              </a:rPr>
              <a:t>doesn’t test </a:t>
            </a:r>
            <a:r>
              <a:rPr lang="en-US" sz="2400" dirty="0">
                <a:latin typeface="Arial" charset="0"/>
              </a:rPr>
              <a:t>that one mean is </a:t>
            </a:r>
            <a:r>
              <a:rPr lang="en-US" sz="2400" dirty="0" smtClean="0">
                <a:latin typeface="Arial" charset="0"/>
              </a:rPr>
              <a:t>less (more) </a:t>
            </a:r>
            <a:r>
              <a:rPr lang="en-US" sz="2400" dirty="0">
                <a:latin typeface="Arial" charset="0"/>
              </a:rPr>
              <a:t>than another, only whether they’re all equal or at least one is different</a:t>
            </a:r>
            <a:r>
              <a:rPr lang="en-US" sz="2400" dirty="0" smtClean="0">
                <a:latin typeface="Arial" charset="0"/>
              </a:rPr>
              <a:t>.</a:t>
            </a:r>
          </a:p>
          <a:p>
            <a:pPr marL="274320" lvl="1" indent="-274320">
              <a:buClr>
                <a:schemeClr val="accent3"/>
              </a:buClr>
              <a:buSzPct val="95000"/>
            </a:pPr>
            <a:r>
              <a:rPr lang="en-US" dirty="0">
                <a:latin typeface="Arial" charset="0"/>
              </a:rPr>
              <a:t>H</a:t>
            </a:r>
            <a:r>
              <a:rPr lang="en-US" baseline="-25000" dirty="0">
                <a:latin typeface="Arial" charset="0"/>
              </a:rPr>
              <a:t>0</a:t>
            </a:r>
            <a:r>
              <a:rPr lang="en-US" dirty="0">
                <a:latin typeface="Arial" charset="0"/>
              </a:rPr>
              <a:t>: </a:t>
            </a:r>
            <a:r>
              <a:rPr lang="en-US" dirty="0" smtClean="0">
                <a:latin typeface="Arial" charset="0"/>
              </a:rPr>
              <a:t>µ</a:t>
            </a:r>
            <a:r>
              <a:rPr lang="en-US" baseline="-25000" dirty="0" smtClean="0">
                <a:latin typeface="Arial" charset="0"/>
              </a:rPr>
              <a:t>F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>
                <a:latin typeface="Arial" charset="0"/>
              </a:rPr>
              <a:t>= </a:t>
            </a:r>
            <a:r>
              <a:rPr lang="en-US" dirty="0" smtClean="0">
                <a:latin typeface="Arial" charset="0"/>
              </a:rPr>
              <a:t>µ</a:t>
            </a:r>
            <a:r>
              <a:rPr lang="en-US" baseline="-25000" dirty="0" smtClean="0">
                <a:latin typeface="Arial" charset="0"/>
              </a:rPr>
              <a:t>M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>
                <a:latin typeface="Arial" charset="0"/>
              </a:rPr>
              <a:t>= </a:t>
            </a:r>
            <a:r>
              <a:rPr lang="en-US" dirty="0" smtClean="0">
                <a:latin typeface="Arial" charset="0"/>
              </a:rPr>
              <a:t>µ</a:t>
            </a:r>
            <a:r>
              <a:rPr lang="en-US" baseline="-25000" dirty="0" smtClean="0">
                <a:latin typeface="Arial" charset="0"/>
              </a:rPr>
              <a:t>B</a:t>
            </a:r>
            <a:endParaRPr lang="en-US" baseline="-25000" dirty="0">
              <a:latin typeface="Arial" charset="0"/>
            </a:endParaRPr>
          </a:p>
          <a:p>
            <a:endParaRPr lang="en-US" sz="2400" dirty="0">
              <a:latin typeface="Arial" charset="0"/>
            </a:endParaRPr>
          </a:p>
          <a:p>
            <a:r>
              <a:rPr lang="en-US" dirty="0" smtClean="0"/>
              <a:t>H</a:t>
            </a:r>
            <a:r>
              <a:rPr lang="en-US" baseline="-25000" dirty="0" smtClean="0"/>
              <a:t>a</a:t>
            </a:r>
            <a:r>
              <a:rPr lang="en-US" dirty="0" smtClean="0"/>
              <a:t>: At least one mean score is different.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972312"/>
          </a:xfrm>
        </p:spPr>
        <p:txBody>
          <a:bodyPr/>
          <a:lstStyle/>
          <a:p>
            <a:pPr algn="ctr"/>
            <a:r>
              <a:rPr lang="en-US" dirty="0"/>
              <a:t>One–Way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2057400" algn="l"/>
              </a:tabLst>
            </a:pPr>
            <a:r>
              <a:rPr lang="en-US" dirty="0">
                <a:latin typeface="Arial" charset="0"/>
              </a:rPr>
              <a:t>A random sample of the students in each row was </a:t>
            </a:r>
            <a:r>
              <a:rPr lang="en-US" dirty="0" smtClean="0">
                <a:latin typeface="Arial" charset="0"/>
              </a:rPr>
              <a:t>taken.</a:t>
            </a:r>
            <a:endParaRPr lang="en-US" dirty="0">
              <a:latin typeface="Arial" charset="0"/>
            </a:endParaRPr>
          </a:p>
          <a:p>
            <a:pPr>
              <a:tabLst>
                <a:tab pos="2057400" algn="l"/>
              </a:tabLst>
            </a:pPr>
            <a:r>
              <a:rPr lang="en-US" dirty="0">
                <a:latin typeface="Arial" charset="0"/>
              </a:rPr>
              <a:t>The </a:t>
            </a:r>
            <a:r>
              <a:rPr lang="en-US" dirty="0" smtClean="0">
                <a:latin typeface="Arial" charset="0"/>
              </a:rPr>
              <a:t>scores </a:t>
            </a:r>
            <a:r>
              <a:rPr lang="en-US" dirty="0">
                <a:latin typeface="Arial" charset="0"/>
              </a:rPr>
              <a:t>for those students on the </a:t>
            </a:r>
            <a:r>
              <a:rPr lang="en-US" dirty="0" smtClean="0">
                <a:latin typeface="Arial" charset="0"/>
              </a:rPr>
              <a:t>midterm </a:t>
            </a:r>
            <a:r>
              <a:rPr lang="en-US" dirty="0">
                <a:latin typeface="Arial" charset="0"/>
              </a:rPr>
              <a:t>exam was </a:t>
            </a:r>
            <a:r>
              <a:rPr lang="en-US" dirty="0" smtClean="0">
                <a:latin typeface="Arial" charset="0"/>
              </a:rPr>
              <a:t>recorded:</a:t>
            </a:r>
            <a:endParaRPr lang="en-US" dirty="0">
              <a:latin typeface="Arial" charset="0"/>
            </a:endParaRPr>
          </a:p>
          <a:p>
            <a:pPr lvl="1">
              <a:tabLst>
                <a:tab pos="2057400" algn="l"/>
              </a:tabLst>
            </a:pPr>
            <a:r>
              <a:rPr lang="en-US" dirty="0">
                <a:latin typeface="Arial" charset="0"/>
              </a:rPr>
              <a:t>Front:	82, 83, 97, 93, 55, 67, 53</a:t>
            </a:r>
          </a:p>
          <a:p>
            <a:pPr lvl="1">
              <a:tabLst>
                <a:tab pos="2057400" algn="l"/>
              </a:tabLst>
            </a:pPr>
            <a:r>
              <a:rPr lang="en-US" dirty="0">
                <a:latin typeface="Arial" charset="0"/>
              </a:rPr>
              <a:t>Middle:	83, 78, 68, 61, 77, 54, 69, 51, 63</a:t>
            </a:r>
          </a:p>
          <a:p>
            <a:pPr lvl="1">
              <a:tabLst>
                <a:tab pos="2057400" algn="l"/>
              </a:tabLst>
            </a:pPr>
            <a:r>
              <a:rPr lang="en-US" dirty="0">
                <a:latin typeface="Arial" charset="0"/>
              </a:rPr>
              <a:t>Back:	38, 59, 55, 66, 45, 52, 52, 61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71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One–Way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charset="0"/>
              </a:rPr>
              <a:t>The summary statistics for the grades of each row are shown in the table </a:t>
            </a:r>
            <a:r>
              <a:rPr lang="en-US" sz="2400" dirty="0" smtClean="0">
                <a:latin typeface="Arial" charset="0"/>
              </a:rPr>
              <a:t>below:</a:t>
            </a:r>
          </a:p>
          <a:p>
            <a:endParaRPr lang="en-US" sz="2400" dirty="0">
              <a:latin typeface="Arial" charset="0"/>
            </a:endParaRP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009916"/>
              </p:ext>
            </p:extLst>
          </p:nvPr>
        </p:nvGraphicFramePr>
        <p:xfrm>
          <a:off x="1676400" y="2952750"/>
          <a:ext cx="6096001" cy="2762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5320"/>
                <a:gridCol w="1380227"/>
                <a:gridCol w="1380227"/>
                <a:gridCol w="1380227"/>
              </a:tblGrid>
              <a:tr h="5524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Front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Middle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Back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</a:tr>
              <a:tr h="5524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Sample Size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  <a:latin typeface="+mj-lt"/>
                        </a:rPr>
                        <a:t>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</a:tr>
              <a:tr h="5524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Mean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  <a:latin typeface="+mj-lt"/>
                        </a:rPr>
                        <a:t>75.71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67.11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53.5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</a:tr>
              <a:tr h="5524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St. Deviation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17.63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10.95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8.96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</a:tr>
              <a:tr h="5524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  <a:latin typeface="+mj-lt"/>
                        </a:rPr>
                        <a:t>Variance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310.9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119.86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80.29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7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One–Way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rial" charset="0"/>
              </a:rPr>
              <a:t>There are two sources of </a:t>
            </a:r>
            <a:r>
              <a:rPr lang="en-US" b="1" dirty="0" smtClean="0">
                <a:latin typeface="Arial" charset="0"/>
              </a:rPr>
              <a:t>variation:</a:t>
            </a:r>
            <a:endParaRPr lang="en-US" b="1" dirty="0">
              <a:latin typeface="Arial" charset="0"/>
            </a:endParaRPr>
          </a:p>
          <a:p>
            <a:pPr lvl="1"/>
            <a:r>
              <a:rPr lang="en-US" sz="2600" dirty="0">
                <a:latin typeface="Arial" charset="0"/>
              </a:rPr>
              <a:t>the variation between the groups, </a:t>
            </a:r>
            <a:r>
              <a:rPr lang="en-US" sz="2600" b="1" dirty="0">
                <a:latin typeface="Arial" charset="0"/>
              </a:rPr>
              <a:t>SS(B)</a:t>
            </a:r>
            <a:r>
              <a:rPr lang="en-US" sz="2600" dirty="0">
                <a:latin typeface="Arial" charset="0"/>
              </a:rPr>
              <a:t>, or the variation due to the </a:t>
            </a:r>
            <a:r>
              <a:rPr lang="en-US" sz="2600" dirty="0" smtClean="0">
                <a:latin typeface="Arial" charset="0"/>
              </a:rPr>
              <a:t>factor, </a:t>
            </a:r>
            <a:r>
              <a:rPr lang="en-US" sz="2600" b="1" dirty="0" smtClean="0">
                <a:latin typeface="Arial" charset="0"/>
              </a:rPr>
              <a:t>SS(F)</a:t>
            </a:r>
            <a:r>
              <a:rPr lang="en-US" sz="2600" dirty="0" smtClean="0">
                <a:latin typeface="Arial" charset="0"/>
              </a:rPr>
              <a:t>.</a:t>
            </a:r>
            <a:endParaRPr lang="en-US" sz="2600" dirty="0">
              <a:latin typeface="Arial" charset="0"/>
            </a:endParaRPr>
          </a:p>
          <a:p>
            <a:pPr lvl="1"/>
            <a:r>
              <a:rPr lang="en-US" sz="2600" dirty="0">
                <a:latin typeface="Arial" charset="0"/>
              </a:rPr>
              <a:t>the variation within the groups, </a:t>
            </a:r>
            <a:r>
              <a:rPr lang="en-US" sz="2600" b="1" dirty="0">
                <a:latin typeface="Arial" charset="0"/>
              </a:rPr>
              <a:t>SS(W)</a:t>
            </a:r>
            <a:r>
              <a:rPr lang="en-US" sz="2600" dirty="0">
                <a:latin typeface="Arial" charset="0"/>
              </a:rPr>
              <a:t>, or the variation that can’t be explained by the factor so it’s called the error </a:t>
            </a:r>
            <a:r>
              <a:rPr lang="en-US" sz="2600" dirty="0" smtClean="0">
                <a:latin typeface="Arial" charset="0"/>
              </a:rPr>
              <a:t>variation, </a:t>
            </a:r>
            <a:r>
              <a:rPr lang="en-US" sz="2600" b="1" dirty="0" smtClean="0">
                <a:latin typeface="Arial" charset="0"/>
              </a:rPr>
              <a:t>SS(E)</a:t>
            </a:r>
            <a:r>
              <a:rPr lang="en-US" sz="2600" dirty="0" smtClean="0">
                <a:latin typeface="Arial" charset="0"/>
              </a:rPr>
              <a:t>.</a:t>
            </a:r>
            <a:endParaRPr lang="en-US" sz="2600" dirty="0">
              <a:latin typeface="Arial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z="1800" smtClean="0"/>
              <a:t>13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5599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One–Way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Here is the basic one-way ANOVA </a:t>
            </a:r>
            <a:r>
              <a:rPr lang="en-US" sz="2400" dirty="0" smtClean="0"/>
              <a:t>table:</a:t>
            </a:r>
            <a:endParaRPr lang="en-US" sz="2400" dirty="0"/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633654"/>
              </p:ext>
            </p:extLst>
          </p:nvPr>
        </p:nvGraphicFramePr>
        <p:xfrm>
          <a:off x="533400" y="2490788"/>
          <a:ext cx="8077201" cy="37987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7800"/>
                <a:gridCol w="1295400"/>
                <a:gridCol w="1600200"/>
                <a:gridCol w="2286000"/>
                <a:gridCol w="1447801"/>
              </a:tblGrid>
              <a:tr h="12207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300" b="1" u="none" strike="noStrike" dirty="0">
                          <a:effectLst/>
                        </a:rPr>
                        <a:t>Source of Variation</a:t>
                      </a:r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300" b="1" u="none" strike="noStrike" dirty="0">
                          <a:effectLst/>
                        </a:rPr>
                        <a:t>Sum of Squares</a:t>
                      </a:r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300" b="1" u="none" strike="noStrike" dirty="0">
                          <a:effectLst/>
                        </a:rPr>
                        <a:t>Degrees of Freedom</a:t>
                      </a:r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300" b="1" u="none" strike="noStrike" dirty="0">
                          <a:effectLst/>
                        </a:rPr>
                        <a:t>Mean Square</a:t>
                      </a:r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2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28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300" b="1" u="none" strike="noStrike" dirty="0">
                          <a:effectLst/>
                        </a:rPr>
                        <a:t>Factor (Between)</a:t>
                      </a:r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 smtClean="0">
                          <a:effectLst/>
                        </a:rPr>
                        <a:t>SSF</a:t>
                      </a:r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 smtClean="0">
                          <a:effectLst/>
                        </a:rPr>
                        <a:t>k-1</a:t>
                      </a:r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 smtClean="0">
                          <a:effectLst/>
                        </a:rPr>
                        <a:t>MSF= SSF/k-1</a:t>
                      </a:r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24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MSF/MSE</a:t>
                      </a:r>
                      <a:endParaRPr kumimoji="0" lang="en-US" sz="2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449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300" b="1" u="none" strike="noStrike" dirty="0">
                          <a:effectLst/>
                        </a:rPr>
                        <a:t>Error (Within)</a:t>
                      </a:r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 smtClean="0">
                          <a:effectLst/>
                        </a:rPr>
                        <a:t>SSE</a:t>
                      </a:r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r>
                        <a:rPr lang="en-US" sz="2400" u="none" strike="noStrike" dirty="0" smtClean="0">
                          <a:effectLst/>
                        </a:rPr>
                        <a:t>n-k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 smtClean="0">
                          <a:effectLst/>
                        </a:rPr>
                        <a:t>MSE= SSE/n-k</a:t>
                      </a:r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DnDiag">
                      <a:fgClr>
                        <a:schemeClr val="tx1">
                          <a:lumMod val="65000"/>
                          <a:lumOff val="35000"/>
                        </a:schemeClr>
                      </a:fgClr>
                      <a:bgClr>
                        <a:schemeClr val="bg1">
                          <a:lumMod val="75000"/>
                        </a:schemeClr>
                      </a:bgClr>
                    </a:pattFill>
                  </a:tcPr>
                </a:tc>
              </a:tr>
              <a:tr h="8201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300" b="1" u="none" strike="noStrike" dirty="0">
                          <a:effectLst/>
                        </a:rPr>
                        <a:t>Total</a:t>
                      </a:r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r>
                        <a:rPr lang="en-US" sz="2400" u="none" strike="noStrike" dirty="0" smtClean="0">
                          <a:effectLst/>
                        </a:rPr>
                        <a:t>SST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r>
                        <a:rPr lang="en-US" sz="2400" u="none" strike="noStrike" dirty="0" smtClean="0">
                          <a:effectLst/>
                        </a:rPr>
                        <a:t>n-1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/>
                      <a:r>
                        <a:rPr kumimoji="0" lang="en-US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DnDiag">
                      <a:fgClr>
                        <a:schemeClr val="tx1">
                          <a:lumMod val="65000"/>
                          <a:lumOff val="35000"/>
                        </a:schemeClr>
                      </a:fgClr>
                      <a:bgClr>
                        <a:schemeClr val="bg1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DnDiag">
                      <a:fgClr>
                        <a:schemeClr val="tx1">
                          <a:lumMod val="65000"/>
                          <a:lumOff val="35000"/>
                        </a:schemeClr>
                      </a:fgClr>
                      <a:bgClr>
                        <a:schemeClr val="bg1">
                          <a:lumMod val="75000"/>
                        </a:schemeClr>
                      </a:bgClr>
                    </a:pattFill>
                  </a:tcPr>
                </a:tc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10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One–Way ANOVA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z="1800" smtClean="0"/>
              <a:t>15</a:t>
            </a:fld>
            <a:endParaRPr lang="en-US" sz="18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8506409"/>
              </p:ext>
            </p:extLst>
          </p:nvPr>
        </p:nvGraphicFramePr>
        <p:xfrm>
          <a:off x="869372" y="2821448"/>
          <a:ext cx="7543801" cy="342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6400"/>
                <a:gridCol w="1143000"/>
                <a:gridCol w="685800"/>
                <a:gridCol w="1143000"/>
                <a:gridCol w="914400"/>
                <a:gridCol w="1066800"/>
                <a:gridCol w="914401"/>
              </a:tblGrid>
              <a:tr h="9738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Source of Variation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SS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df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MS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P-value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F crit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9312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Between Groups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1901.52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950.76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5.896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  <a:latin typeface="Arial" pitchFamily="34" charset="0"/>
                          <a:cs typeface="Arial" pitchFamily="34" charset="0"/>
                        </a:rPr>
                        <a:t>0.0093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3.467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83999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Within Groups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3386.32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21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161.25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6838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  <a:latin typeface="Arial" pitchFamily="34" charset="0"/>
                          <a:cs typeface="Arial" pitchFamily="34" charset="0"/>
                        </a:rPr>
                        <a:t>5287.83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23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86692" y="2128950"/>
            <a:ext cx="2528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Excel output: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531428" y="5105400"/>
            <a:ext cx="2715490" cy="104644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dirty="0" smtClean="0">
                <a:solidFill>
                  <a:srgbClr val="000000"/>
                </a:solidFill>
                <a:latin typeface="+mj-lt"/>
                <a:cs typeface="Arial" pitchFamily="34" charset="0"/>
              </a:rPr>
              <a:t>Excel function =F.INV(0.95,2,21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endParaRPr lang="en-US" dirty="0"/>
          </a:p>
        </p:txBody>
      </p:sp>
      <p:cxnSp>
        <p:nvCxnSpPr>
          <p:cNvPr id="9" name="Straight Arrow Connector 8"/>
          <p:cNvCxnSpPr>
            <a:stCxn id="5" idx="0"/>
          </p:cNvCxnSpPr>
          <p:nvPr/>
        </p:nvCxnSpPr>
        <p:spPr>
          <a:xfrm flipV="1">
            <a:off x="6889173" y="4419600"/>
            <a:ext cx="959427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29696" y="1890291"/>
            <a:ext cx="2933700" cy="43088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+mj-lt"/>
              </a:rPr>
              <a:t>=</a:t>
            </a:r>
            <a:r>
              <a:rPr lang="en-US" sz="2200" dirty="0" smtClean="0">
                <a:latin typeface="+mj-lt"/>
              </a:rPr>
              <a:t>F.DIST.RT(5.896, 2, 21</a:t>
            </a:r>
            <a:r>
              <a:rPr lang="en-US" sz="2200" dirty="0">
                <a:latin typeface="+mj-lt"/>
              </a:rPr>
              <a:t>)</a:t>
            </a:r>
          </a:p>
        </p:txBody>
      </p:sp>
      <p:cxnSp>
        <p:nvCxnSpPr>
          <p:cNvPr id="11" name="Straight Arrow Connector 10"/>
          <p:cNvCxnSpPr>
            <a:stCxn id="10" idx="2"/>
          </p:cNvCxnSpPr>
          <p:nvPr/>
        </p:nvCxnSpPr>
        <p:spPr>
          <a:xfrm flipH="1">
            <a:off x="6781800" y="2321178"/>
            <a:ext cx="214746" cy="17936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196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One–Way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 </a:t>
            </a:r>
            <a:r>
              <a:rPr lang="el-GR" dirty="0" smtClean="0"/>
              <a:t>α</a:t>
            </a:r>
            <a:r>
              <a:rPr lang="en-US" dirty="0" smtClean="0"/>
              <a:t> = 0.05, since F ≥ F</a:t>
            </a:r>
            <a:r>
              <a:rPr lang="en-US" baseline="-25000" dirty="0" smtClean="0"/>
              <a:t>crit</a:t>
            </a:r>
            <a:r>
              <a:rPr lang="en-US" dirty="0" smtClean="0"/>
              <a:t>, we reject null hypothesis and conclude that at least one of the mean grades among three rows (front, middle, back) is different than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54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/>
          <a:lstStyle/>
          <a:p>
            <a:pPr algn="ctr"/>
            <a:r>
              <a:rPr lang="en-US" dirty="0"/>
              <a:t>One–Way </a:t>
            </a:r>
            <a:r>
              <a:rPr lang="en-US" dirty="0" smtClean="0"/>
              <a:t>ANOVA (Optional)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0"/>
                <a:ext cx="8229600" cy="48768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b="1" i="1" dirty="0" smtClean="0"/>
                  <a:t>Calculations of SSF and SSE:</a:t>
                </a:r>
              </a:p>
              <a:p>
                <a:r>
                  <a:rPr lang="en-US" dirty="0"/>
                  <a:t>SSF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a:rPr lang="en-US" i="1">
                            <a:latin typeface="Cambria Math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</m:nary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SSE = (n</a:t>
                </a:r>
                <a:r>
                  <a:rPr lang="en-US" baseline="-25000" dirty="0"/>
                  <a:t>1</a:t>
                </a:r>
                <a:r>
                  <a:rPr lang="en-US" dirty="0"/>
                  <a:t>-1)*s</a:t>
                </a:r>
                <a:r>
                  <a:rPr lang="en-US" baseline="-25000" dirty="0"/>
                  <a:t>1</a:t>
                </a:r>
                <a:r>
                  <a:rPr lang="en-US" baseline="30000" dirty="0"/>
                  <a:t>2</a:t>
                </a:r>
                <a:r>
                  <a:rPr lang="en-US" dirty="0"/>
                  <a:t> + (n</a:t>
                </a:r>
                <a:r>
                  <a:rPr lang="en-US" baseline="-25000" dirty="0"/>
                  <a:t>2</a:t>
                </a:r>
                <a:r>
                  <a:rPr lang="en-US" dirty="0"/>
                  <a:t>-1)*s</a:t>
                </a:r>
                <a:r>
                  <a:rPr lang="en-US" baseline="-25000" dirty="0"/>
                  <a:t>2</a:t>
                </a:r>
                <a:r>
                  <a:rPr lang="en-US" baseline="30000" dirty="0"/>
                  <a:t>2 </a:t>
                </a:r>
                <a:r>
                  <a:rPr lang="en-US" dirty="0"/>
                  <a:t>+ … + (n</a:t>
                </a:r>
                <a:r>
                  <a:rPr lang="en-US" baseline="-25000" dirty="0"/>
                  <a:t>k</a:t>
                </a:r>
                <a:r>
                  <a:rPr lang="en-US" dirty="0"/>
                  <a:t>-1)*</a:t>
                </a:r>
                <a:r>
                  <a:rPr lang="en-US" dirty="0" smtClean="0"/>
                  <a:t>s</a:t>
                </a:r>
                <a:r>
                  <a:rPr lang="en-US" baseline="-25000" dirty="0" smtClean="0"/>
                  <a:t>k</a:t>
                </a:r>
                <a:r>
                  <a:rPr lang="en-US" baseline="30000" dirty="0" smtClean="0"/>
                  <a:t>2</a:t>
                </a:r>
                <a:endParaRPr lang="en-US" b="1" i="1" dirty="0" smtClean="0"/>
              </a:p>
              <a:p>
                <a:pPr marL="0" indent="0">
                  <a:buNone/>
                </a:pPr>
                <a:r>
                  <a:rPr lang="en-US" dirty="0" smtClean="0"/>
                  <a:t>Grand Mean:</a:t>
                </a:r>
              </a:p>
              <a:p>
                <a:pPr marL="393192" lvl="1" indent="0">
                  <a:buNone/>
                </a:pPr>
                <a:r>
                  <a:rPr lang="en-US" sz="2000" dirty="0">
                    <a:latin typeface="Arial" charset="0"/>
                  </a:rPr>
                  <a:t>The grand mean is the average of all the values when the factor is </a:t>
                </a:r>
                <a:r>
                  <a:rPr lang="en-US" sz="2000" dirty="0" smtClean="0">
                    <a:latin typeface="Arial" charset="0"/>
                  </a:rPr>
                  <a:t>ignored.</a:t>
                </a:r>
                <a:endParaRPr lang="en-US" sz="2000" dirty="0">
                  <a:latin typeface="Arial" charset="0"/>
                </a:endParaRPr>
              </a:p>
              <a:p>
                <a:pPr marL="393192" lvl="1" indent="0">
                  <a:buNone/>
                </a:pPr>
                <a:r>
                  <a:rPr lang="en-US" sz="2000" dirty="0">
                    <a:latin typeface="Arial" charset="0"/>
                  </a:rPr>
                  <a:t>It is a weighted average of the individual sample </a:t>
                </a:r>
                <a:r>
                  <a:rPr lang="en-US" sz="2000" dirty="0" smtClean="0">
                    <a:latin typeface="Arial" charset="0"/>
                  </a:rPr>
                  <a:t>means.</a:t>
                </a:r>
              </a:p>
              <a:p>
                <a:pPr marL="393192" lvl="1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en-US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 smtClean="0">
                    <a:latin typeface="Arial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  <m:r>
                          <a:rPr lang="en-US" b="0" i="1" baseline="-25000" smtClean="0">
                            <a:latin typeface="Cambria Math"/>
                          </a:rPr>
                          <m:t>1</m:t>
                        </m:r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US" b="0" i="1" baseline="-25000" smtClean="0">
                                <a:latin typeface="Cambria Math"/>
                              </a:rPr>
                              <m:t>1</m:t>
                            </m:r>
                          </m:e>
                        </m:acc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r>
                          <a:rPr lang="en-US" b="0" i="1">
                            <a:latin typeface="Cambria Math"/>
                          </a:rPr>
                          <m:t>𝑛</m:t>
                        </m:r>
                        <m:r>
                          <a:rPr lang="en-US" b="0" i="1" baseline="-25000">
                            <a:latin typeface="Cambria Math"/>
                          </a:rPr>
                          <m:t>2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b="0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b="0" i="1" baseline="-25000">
                                <a:latin typeface="Cambria Math"/>
                              </a:rPr>
                              <m:t>2</m:t>
                            </m:r>
                          </m:e>
                        </m:acc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  <m:r>
                          <a:rPr lang="en-US" b="0" i="1" baseline="-25000" smtClean="0">
                            <a:latin typeface="Cambria Math"/>
                          </a:rPr>
                          <m:t>3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b="0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b="0" i="1" baseline="-25000" smtClean="0">
                                <a:latin typeface="Cambria Math"/>
                              </a:rPr>
                              <m:t>3</m:t>
                            </m:r>
                          </m:e>
                        </m:acc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  <m:r>
                          <a:rPr lang="en-US" b="0" i="1" baseline="-25000" smtClean="0">
                            <a:latin typeface="Cambria Math"/>
                          </a:rPr>
                          <m:t>1</m:t>
                        </m:r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  <m:r>
                          <a:rPr lang="en-US" b="0" i="1" baseline="-25000" smtClean="0">
                            <a:latin typeface="Cambria Math"/>
                          </a:rPr>
                          <m:t>2</m:t>
                        </m:r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  <m:r>
                          <a:rPr lang="en-US" b="0" i="1" baseline="-25000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>
                    <a:latin typeface="Arial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7∗75.71+9∗67.11+8∗53.5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7+9+8</m:t>
                        </m:r>
                      </m:den>
                    </m:f>
                  </m:oMath>
                </a14:m>
                <a:r>
                  <a:rPr lang="en-US" dirty="0" smtClean="0">
                    <a:latin typeface="Arial" charset="0"/>
                  </a:rPr>
                  <a:t> </a:t>
                </a:r>
                <a:r>
                  <a:rPr lang="en-US" sz="2000" dirty="0" smtClean="0">
                    <a:latin typeface="Arial" charset="0"/>
                  </a:rPr>
                  <a:t>= 65.08</a:t>
                </a:r>
              </a:p>
              <a:p>
                <a:pPr marL="0" indent="0">
                  <a:buNone/>
                </a:pPr>
                <a:r>
                  <a:rPr lang="en-US" dirty="0"/>
                  <a:t>Between Group Variation, </a:t>
                </a:r>
                <a:r>
                  <a:rPr lang="en-US" dirty="0" smtClean="0"/>
                  <a:t>SSF or SSB</a:t>
                </a:r>
                <a:endParaRPr lang="en-US" dirty="0"/>
              </a:p>
              <a:p>
                <a:pPr marL="393192" lvl="1" indent="0">
                  <a:buNone/>
                </a:pPr>
                <a:r>
                  <a:rPr lang="en-US" sz="2000" dirty="0">
                    <a:latin typeface="Arial" charset="0"/>
                  </a:rPr>
                  <a:t>The between group variation is the variation between each sample mean and the grand </a:t>
                </a:r>
                <a:r>
                  <a:rPr lang="en-US" sz="2000" dirty="0" smtClean="0">
                    <a:latin typeface="Arial" charset="0"/>
                  </a:rPr>
                  <a:t>mean.</a:t>
                </a:r>
                <a:endParaRPr lang="en-US" sz="2000" dirty="0">
                  <a:latin typeface="Arial" charset="0"/>
                </a:endParaRPr>
              </a:p>
              <a:p>
                <a:pPr marL="393192" lvl="1" indent="0">
                  <a:buNone/>
                </a:pPr>
                <a:r>
                  <a:rPr lang="en-US" sz="2000" dirty="0">
                    <a:latin typeface="Arial" charset="0"/>
                  </a:rPr>
                  <a:t>Each individual variation is weighted by the sample </a:t>
                </a:r>
                <a:r>
                  <a:rPr lang="en-US" sz="2000" dirty="0" smtClean="0">
                    <a:latin typeface="Arial" charset="0"/>
                  </a:rPr>
                  <a:t>size.</a:t>
                </a:r>
                <a:endParaRPr lang="en-US" sz="2000" dirty="0">
                  <a:latin typeface="Arial" charset="0"/>
                </a:endParaRPr>
              </a:p>
              <a:p>
                <a:pPr marL="393192" lvl="1" indent="0">
                  <a:buNone/>
                </a:pPr>
                <a:r>
                  <a:rPr lang="en-US" dirty="0" smtClean="0">
                    <a:latin typeface="+mj-lt"/>
                  </a:rPr>
                  <a:t>SSF = 7(75.71-65.08)</a:t>
                </a:r>
                <a:r>
                  <a:rPr lang="en-US" baseline="30000" dirty="0" smtClean="0">
                    <a:latin typeface="+mj-lt"/>
                  </a:rPr>
                  <a:t>2</a:t>
                </a:r>
                <a:r>
                  <a:rPr lang="en-US" dirty="0" smtClean="0">
                    <a:latin typeface="+mj-lt"/>
                  </a:rPr>
                  <a:t>+9(67.11-65.08)</a:t>
                </a:r>
                <a:r>
                  <a:rPr lang="en-US" baseline="30000" dirty="0" smtClean="0">
                    <a:latin typeface="+mj-lt"/>
                  </a:rPr>
                  <a:t>2</a:t>
                </a:r>
                <a:r>
                  <a:rPr lang="en-US" dirty="0" smtClean="0">
                    <a:latin typeface="+mj-lt"/>
                  </a:rPr>
                  <a:t>+8(53.5-65.08)</a:t>
                </a:r>
                <a:r>
                  <a:rPr lang="en-US" baseline="30000" dirty="0" smtClean="0">
                    <a:latin typeface="+mj-lt"/>
                  </a:rPr>
                  <a:t>2 </a:t>
                </a:r>
                <a:r>
                  <a:rPr lang="en-US" dirty="0">
                    <a:latin typeface="+mj-lt"/>
                  </a:rPr>
                  <a:t>≈</a:t>
                </a:r>
                <a:r>
                  <a:rPr lang="en-US" dirty="0" smtClean="0">
                    <a:latin typeface="+mj-lt"/>
                  </a:rPr>
                  <a:t> 1902 </a:t>
                </a:r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0"/>
                <a:ext cx="8229600" cy="4876800"/>
              </a:xfrm>
              <a:blipFill rotWithShape="1">
                <a:blip r:embed="rId2"/>
                <a:stretch>
                  <a:fillRect l="-1111" t="-1750" b="-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6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838200"/>
          </a:xfrm>
        </p:spPr>
        <p:txBody>
          <a:bodyPr/>
          <a:lstStyle/>
          <a:p>
            <a:pPr algn="ctr"/>
            <a:r>
              <a:rPr lang="en-US" dirty="0"/>
              <a:t>One–Way </a:t>
            </a:r>
            <a:r>
              <a:rPr lang="en-US" dirty="0" smtClean="0"/>
              <a:t>ANOVA</a:t>
            </a:r>
            <a:r>
              <a:rPr lang="en-US" dirty="0"/>
              <a:t>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Within Group Variation, </a:t>
            </a:r>
            <a:r>
              <a:rPr lang="en-US" dirty="0" smtClean="0">
                <a:latin typeface="Arial" charset="0"/>
              </a:rPr>
              <a:t>SSE or SSW</a:t>
            </a:r>
            <a:endParaRPr lang="en-US" dirty="0">
              <a:latin typeface="Arial" charset="0"/>
            </a:endParaRPr>
          </a:p>
          <a:p>
            <a:pPr lvl="1"/>
            <a:r>
              <a:rPr lang="en-US" sz="2000" dirty="0">
                <a:latin typeface="Arial" charset="0"/>
              </a:rPr>
              <a:t>The Within Group Variation is the weighted total of the individual </a:t>
            </a:r>
            <a:r>
              <a:rPr lang="en-US" sz="2000" dirty="0" smtClean="0">
                <a:latin typeface="Arial" charset="0"/>
              </a:rPr>
              <a:t>variations.</a:t>
            </a:r>
            <a:endParaRPr lang="en-US" sz="2000" dirty="0">
              <a:latin typeface="Arial" charset="0"/>
            </a:endParaRPr>
          </a:p>
          <a:p>
            <a:pPr lvl="1"/>
            <a:r>
              <a:rPr lang="en-US" sz="2000" dirty="0">
                <a:latin typeface="Arial" charset="0"/>
              </a:rPr>
              <a:t>The weighting is done with the degrees of </a:t>
            </a:r>
            <a:r>
              <a:rPr lang="en-US" sz="2000" dirty="0" smtClean="0">
                <a:latin typeface="Arial" charset="0"/>
              </a:rPr>
              <a:t>freedom.</a:t>
            </a:r>
            <a:endParaRPr lang="en-US" sz="2000" dirty="0">
              <a:latin typeface="Arial" charset="0"/>
            </a:endParaRPr>
          </a:p>
          <a:p>
            <a:pPr lvl="1"/>
            <a:r>
              <a:rPr lang="en-US" sz="2000" dirty="0">
                <a:latin typeface="Arial" charset="0"/>
              </a:rPr>
              <a:t>The </a:t>
            </a:r>
            <a:r>
              <a:rPr lang="en-US" sz="2000" dirty="0" err="1">
                <a:latin typeface="Arial" charset="0"/>
              </a:rPr>
              <a:t>df</a:t>
            </a:r>
            <a:r>
              <a:rPr lang="en-US" sz="2000" dirty="0">
                <a:latin typeface="Arial" charset="0"/>
              </a:rPr>
              <a:t> for each sample is one less than the sample size for that sample.</a:t>
            </a:r>
          </a:p>
          <a:p>
            <a:r>
              <a:rPr lang="en-US" dirty="0" smtClean="0">
                <a:latin typeface="+mj-lt"/>
              </a:rPr>
              <a:t>SSE = 6*310.9 + 8*119.86 + 7*80.29 </a:t>
            </a:r>
            <a:r>
              <a:rPr lang="en-US" dirty="0">
                <a:latin typeface="+mj-lt"/>
              </a:rPr>
              <a:t>≈</a:t>
            </a:r>
            <a:r>
              <a:rPr lang="en-US" dirty="0" smtClean="0">
                <a:latin typeface="+mj-lt"/>
              </a:rPr>
              <a:t> 3386</a:t>
            </a:r>
          </a:p>
          <a:p>
            <a:r>
              <a:rPr lang="en-US" dirty="0" smtClean="0">
                <a:latin typeface="+mj-lt"/>
              </a:rPr>
              <a:t>SST = SSF + SSE = 1902 + 3386 = 5288</a:t>
            </a:r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85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Literature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 smtClean="0"/>
              <a:t>A. Holmes</a:t>
            </a:r>
            <a:r>
              <a:rPr lang="en-GB" dirty="0"/>
              <a:t>; </a:t>
            </a:r>
            <a:r>
              <a:rPr lang="en-GB" dirty="0" smtClean="0"/>
              <a:t>B. </a:t>
            </a:r>
            <a:r>
              <a:rPr lang="en-GB" dirty="0" err="1"/>
              <a:t>Illowsky</a:t>
            </a:r>
            <a:r>
              <a:rPr lang="en-GB" dirty="0"/>
              <a:t>; </a:t>
            </a:r>
            <a:r>
              <a:rPr lang="en-GB" dirty="0" smtClean="0"/>
              <a:t>S. Dean. </a:t>
            </a:r>
            <a:r>
              <a:rPr lang="en-GB" dirty="0"/>
              <a:t>Introductory Business </a:t>
            </a:r>
            <a:r>
              <a:rPr lang="en-GB" dirty="0" smtClean="0"/>
              <a:t>Statistics.  Chapter 12.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Anova</a:t>
            </a:r>
            <a:r>
              <a:rPr lang="en-US" dirty="0" smtClean="0"/>
              <a:t> in Excel</a:t>
            </a:r>
            <a:endParaRPr lang="en-US" dirty="0">
              <a:hlinkClick r:id="rId2"/>
            </a:endParaRPr>
          </a:p>
          <a:p>
            <a:pPr marL="0" indent="0">
              <a:buNone/>
            </a:pPr>
            <a:r>
              <a:rPr lang="en-US" dirty="0" smtClean="0"/>
              <a:t>      https</a:t>
            </a:r>
            <a:r>
              <a:rPr lang="en-US" dirty="0"/>
              <a:t>://www.excel-easy.com/examples/anova.html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AB3D-052C-421C-8ABF-46BAA0573E7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82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511</TotalTime>
  <Words>866</Words>
  <Application>Microsoft Office PowerPoint</Application>
  <PresentationFormat>On-screen Show (4:3)</PresentationFormat>
  <Paragraphs>180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Flow</vt:lpstr>
      <vt:lpstr> WEEK 16 Analysis of Variance (ANOVA) One–Way ANOVA</vt:lpstr>
      <vt:lpstr>After learning this topic students are expected to:</vt:lpstr>
      <vt:lpstr>Analysis of Variance (ANOVA) One–Way ANOVA</vt:lpstr>
      <vt:lpstr>One-Way ANOVA</vt:lpstr>
      <vt:lpstr>One–Way ANOVA</vt:lpstr>
      <vt:lpstr>One–Way ANOVA</vt:lpstr>
      <vt:lpstr>F-Distribution</vt:lpstr>
      <vt:lpstr>One–Way ANOVA</vt:lpstr>
      <vt:lpstr>One–Way ANOVA</vt:lpstr>
      <vt:lpstr>One–Way ANOVA</vt:lpstr>
      <vt:lpstr>One–Way ANOVA</vt:lpstr>
      <vt:lpstr>One–Way ANOVA</vt:lpstr>
      <vt:lpstr>One–Way ANOVA</vt:lpstr>
      <vt:lpstr>One–Way ANOVA</vt:lpstr>
      <vt:lpstr>One–Way ANOVA</vt:lpstr>
      <vt:lpstr>One–Way ANOVA</vt:lpstr>
      <vt:lpstr>One–Way ANOVA (Optional)</vt:lpstr>
      <vt:lpstr>One–Way ANOVA (Optional)</vt:lpstr>
      <vt:lpstr>Literature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Variance (ANOVA) One–way ANOVA</dc:title>
  <dc:creator>Olmas Isakov</dc:creator>
  <cp:lastModifiedBy>Olmas Isakov</cp:lastModifiedBy>
  <cp:revision>53</cp:revision>
  <dcterms:created xsi:type="dcterms:W3CDTF">2019-01-14T04:29:50Z</dcterms:created>
  <dcterms:modified xsi:type="dcterms:W3CDTF">2020-01-31T08:57:40Z</dcterms:modified>
</cp:coreProperties>
</file>